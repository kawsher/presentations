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5" r:id="rId1"/>
  </p:sldMasterIdLst>
  <p:sldIdLst>
    <p:sldId id="273" r:id="rId2"/>
    <p:sldId id="257" r:id="rId3"/>
    <p:sldId id="259" r:id="rId4"/>
    <p:sldId id="260" r:id="rId5"/>
    <p:sldId id="271" r:id="rId6"/>
    <p:sldId id="261" r:id="rId7"/>
    <p:sldId id="263" r:id="rId8"/>
    <p:sldId id="264" r:id="rId9"/>
    <p:sldId id="266" r:id="rId10"/>
    <p:sldId id="265" r:id="rId11"/>
    <p:sldId id="267" r:id="rId12"/>
    <p:sldId id="270"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EC96D2C-C3E4-4065-BF53-31BBF92666C2}" type="datetimeFigureOut">
              <a:rPr lang="en-US" smtClean="0"/>
              <a:t>12/29/2019</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042AB5CA-8536-4E12-B9B6-7384060F2EE4}" type="slidenum">
              <a:rPr lang="en-US" smtClean="0"/>
              <a:t>‹#›</a:t>
            </a:fld>
            <a:endParaRPr lang="en-US"/>
          </a:p>
        </p:txBody>
      </p:sp>
    </p:spTree>
    <p:extLst>
      <p:ext uri="{BB962C8B-B14F-4D97-AF65-F5344CB8AC3E}">
        <p14:creationId xmlns:p14="http://schemas.microsoft.com/office/powerpoint/2010/main" val="1931170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C96D2C-C3E4-4065-BF53-31BBF92666C2}" type="datetimeFigureOut">
              <a:rPr lang="en-US" smtClean="0"/>
              <a:t>12/29/2019</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42AB5CA-8536-4E12-B9B6-7384060F2EE4}" type="slidenum">
              <a:rPr lang="en-US" smtClean="0"/>
              <a:t>‹#›</a:t>
            </a:fld>
            <a:endParaRPr lang="en-US"/>
          </a:p>
        </p:txBody>
      </p:sp>
    </p:spTree>
    <p:extLst>
      <p:ext uri="{BB962C8B-B14F-4D97-AF65-F5344CB8AC3E}">
        <p14:creationId xmlns:p14="http://schemas.microsoft.com/office/powerpoint/2010/main" val="2687782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C96D2C-C3E4-4065-BF53-31BBF92666C2}" type="datetimeFigureOut">
              <a:rPr lang="en-US" smtClean="0"/>
              <a:t>12/29/2019</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42AB5CA-8536-4E12-B9B6-7384060F2EE4}" type="slidenum">
              <a:rPr lang="en-US" smtClean="0"/>
              <a:t>‹#›</a:t>
            </a:fld>
            <a:endParaRPr lang="en-US"/>
          </a:p>
        </p:txBody>
      </p:sp>
    </p:spTree>
    <p:extLst>
      <p:ext uri="{BB962C8B-B14F-4D97-AF65-F5344CB8AC3E}">
        <p14:creationId xmlns:p14="http://schemas.microsoft.com/office/powerpoint/2010/main" val="2662188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C96D2C-C3E4-4065-BF53-31BBF92666C2}" type="datetimeFigureOut">
              <a:rPr lang="en-US" smtClean="0"/>
              <a:t>12/29/2019</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042AB5CA-8536-4E12-B9B6-7384060F2EE4}" type="slidenum">
              <a:rPr lang="en-US" smtClean="0"/>
              <a:t>‹#›</a:t>
            </a:fld>
            <a:endParaRPr lang="en-US"/>
          </a:p>
        </p:txBody>
      </p:sp>
    </p:spTree>
    <p:extLst>
      <p:ext uri="{BB962C8B-B14F-4D97-AF65-F5344CB8AC3E}">
        <p14:creationId xmlns:p14="http://schemas.microsoft.com/office/powerpoint/2010/main" val="3725284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C96D2C-C3E4-4065-BF53-31BBF92666C2}" type="datetimeFigureOut">
              <a:rPr lang="en-US" smtClean="0"/>
              <a:t>12/29/2019</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042AB5CA-8536-4E12-B9B6-7384060F2EE4}" type="slidenum">
              <a:rPr lang="en-US" smtClean="0"/>
              <a:t>‹#›</a:t>
            </a:fld>
            <a:endParaRPr lang="en-US"/>
          </a:p>
        </p:txBody>
      </p:sp>
    </p:spTree>
    <p:extLst>
      <p:ext uri="{BB962C8B-B14F-4D97-AF65-F5344CB8AC3E}">
        <p14:creationId xmlns:p14="http://schemas.microsoft.com/office/powerpoint/2010/main" val="3689765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EC96D2C-C3E4-4065-BF53-31BBF92666C2}" type="datetimeFigureOut">
              <a:rPr lang="en-US" smtClean="0"/>
              <a:t>12/29/2019</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042AB5CA-8536-4E12-B9B6-7384060F2EE4}" type="slidenum">
              <a:rPr lang="en-US" smtClean="0"/>
              <a:t>‹#›</a:t>
            </a:fld>
            <a:endParaRPr lang="en-US"/>
          </a:p>
        </p:txBody>
      </p:sp>
    </p:spTree>
    <p:extLst>
      <p:ext uri="{BB962C8B-B14F-4D97-AF65-F5344CB8AC3E}">
        <p14:creationId xmlns:p14="http://schemas.microsoft.com/office/powerpoint/2010/main" val="3859055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C96D2C-C3E4-4065-BF53-31BBF92666C2}" type="datetimeFigureOut">
              <a:rPr lang="en-US" smtClean="0"/>
              <a:t>12/29/2019</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042AB5CA-8536-4E12-B9B6-7384060F2EE4}" type="slidenum">
              <a:rPr lang="en-US" smtClean="0"/>
              <a:t>‹#›</a:t>
            </a:fld>
            <a:endParaRPr lang="en-US"/>
          </a:p>
        </p:txBody>
      </p:sp>
    </p:spTree>
    <p:extLst>
      <p:ext uri="{BB962C8B-B14F-4D97-AF65-F5344CB8AC3E}">
        <p14:creationId xmlns:p14="http://schemas.microsoft.com/office/powerpoint/2010/main" val="2440726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EC96D2C-C3E4-4065-BF53-31BBF92666C2}" type="datetimeFigureOut">
              <a:rPr lang="en-US" smtClean="0"/>
              <a:t>12/29/2019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042AB5CA-8536-4E12-B9B6-7384060F2EE4}" type="slidenum">
              <a:rPr lang="en-US" smtClean="0"/>
              <a:t>‹#›</a:t>
            </a:fld>
            <a:endParaRPr lang="en-US"/>
          </a:p>
        </p:txBody>
      </p:sp>
    </p:spTree>
    <p:extLst>
      <p:ext uri="{BB962C8B-B14F-4D97-AF65-F5344CB8AC3E}">
        <p14:creationId xmlns:p14="http://schemas.microsoft.com/office/powerpoint/2010/main" val="3853631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EC96D2C-C3E4-4065-BF53-31BBF92666C2}" type="datetimeFigureOut">
              <a:rPr lang="en-US" smtClean="0"/>
              <a:t>12/29/2019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42AB5CA-8536-4E12-B9B6-7384060F2EE4}" type="slidenum">
              <a:rPr lang="en-US" smtClean="0"/>
              <a:t>‹#›</a:t>
            </a:fld>
            <a:endParaRPr lang="en-US"/>
          </a:p>
        </p:txBody>
      </p:sp>
    </p:spTree>
    <p:extLst>
      <p:ext uri="{BB962C8B-B14F-4D97-AF65-F5344CB8AC3E}">
        <p14:creationId xmlns:p14="http://schemas.microsoft.com/office/powerpoint/2010/main" val="2898962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C96D2C-C3E4-4065-BF53-31BBF92666C2}" type="datetimeFigureOut">
              <a:rPr lang="en-US" smtClean="0"/>
              <a:t>12/29/2019</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42AB5CA-8536-4E12-B9B6-7384060F2EE4}" type="slidenum">
              <a:rPr lang="en-US" smtClean="0"/>
              <a:t>‹#›</a:t>
            </a:fld>
            <a:endParaRPr lang="en-US"/>
          </a:p>
        </p:txBody>
      </p:sp>
    </p:spTree>
    <p:extLst>
      <p:ext uri="{BB962C8B-B14F-4D97-AF65-F5344CB8AC3E}">
        <p14:creationId xmlns:p14="http://schemas.microsoft.com/office/powerpoint/2010/main" val="1544380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C96D2C-C3E4-4065-BF53-31BBF92666C2}" type="datetimeFigureOut">
              <a:rPr lang="en-US" smtClean="0"/>
              <a:t>12/29/2019</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42AB5CA-8536-4E12-B9B6-7384060F2EE4}"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939106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EC96D2C-C3E4-4065-BF53-31BBF92666C2}" type="datetimeFigureOut">
              <a:rPr lang="en-US" smtClean="0"/>
              <a:t>12/29/2019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42AB5CA-8536-4E12-B9B6-7384060F2EE4}" type="slidenum">
              <a:rPr lang="en-US" smtClean="0"/>
              <a:t>‹#›</a:t>
            </a:fld>
            <a:endParaRPr lang="en-US"/>
          </a:p>
        </p:txBody>
      </p:sp>
    </p:spTree>
    <p:extLst>
      <p:ext uri="{BB962C8B-B14F-4D97-AF65-F5344CB8AC3E}">
        <p14:creationId xmlns:p14="http://schemas.microsoft.com/office/powerpoint/2010/main" val="5495709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EC96D2C-C3E4-4065-BF53-31BBF92666C2}" type="datetimeFigureOut">
              <a:rPr lang="en-US" smtClean="0"/>
              <a:t>12/29/2019</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42AB5CA-8536-4E12-B9B6-7384060F2EE4}"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64208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EC96D2C-C3E4-4065-BF53-31BBF92666C2}" type="datetimeFigureOut">
              <a:rPr lang="en-US" smtClean="0"/>
              <a:t>12/29/2019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42AB5CA-8536-4E12-B9B6-7384060F2EE4}" type="slidenum">
              <a:rPr lang="en-US" smtClean="0"/>
              <a:t>‹#›</a:t>
            </a:fld>
            <a:endParaRPr lang="en-US"/>
          </a:p>
        </p:txBody>
      </p:sp>
    </p:spTree>
    <p:extLst>
      <p:ext uri="{BB962C8B-B14F-4D97-AF65-F5344CB8AC3E}">
        <p14:creationId xmlns:p14="http://schemas.microsoft.com/office/powerpoint/2010/main" val="5894666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C96D2C-C3E4-4065-BF53-31BBF92666C2}" type="datetimeFigureOut">
              <a:rPr lang="en-US" smtClean="0"/>
              <a:t>12/29/2019</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42AB5CA-8536-4E12-B9B6-7384060F2EE4}" type="slidenum">
              <a:rPr lang="en-US" smtClean="0"/>
              <a:t>‹#›</a:t>
            </a:fld>
            <a:endParaRPr lang="en-US"/>
          </a:p>
        </p:txBody>
      </p:sp>
    </p:spTree>
    <p:extLst>
      <p:ext uri="{BB962C8B-B14F-4D97-AF65-F5344CB8AC3E}">
        <p14:creationId xmlns:p14="http://schemas.microsoft.com/office/powerpoint/2010/main" val="13770852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C96D2C-C3E4-4065-BF53-31BBF92666C2}" type="datetimeFigureOut">
              <a:rPr lang="en-US" smtClean="0"/>
              <a:t>12/29/2019</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42AB5CA-8536-4E12-B9B6-7384060F2EE4}" type="slidenum">
              <a:rPr lang="en-US" smtClean="0"/>
              <a:t>‹#›</a:t>
            </a:fld>
            <a:endParaRPr lang="en-US"/>
          </a:p>
        </p:txBody>
      </p:sp>
    </p:spTree>
    <p:extLst>
      <p:ext uri="{BB962C8B-B14F-4D97-AF65-F5344CB8AC3E}">
        <p14:creationId xmlns:p14="http://schemas.microsoft.com/office/powerpoint/2010/main" val="524459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EC96D2C-C3E4-4065-BF53-31BBF92666C2}" type="datetimeFigureOut">
              <a:rPr lang="en-US" smtClean="0"/>
              <a:t>12/29/2019</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042AB5CA-8536-4E12-B9B6-7384060F2EE4}" type="slidenum">
              <a:rPr lang="en-US" smtClean="0"/>
              <a:t>‹#›</a:t>
            </a:fld>
            <a:endParaRPr lang="en-US"/>
          </a:p>
        </p:txBody>
      </p:sp>
    </p:spTree>
    <p:extLst>
      <p:ext uri="{BB962C8B-B14F-4D97-AF65-F5344CB8AC3E}">
        <p14:creationId xmlns:p14="http://schemas.microsoft.com/office/powerpoint/2010/main" val="2383236158"/>
      </p:ext>
    </p:extLst>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3" r:id="rId8"/>
    <p:sldLayoutId id="2147483834" r:id="rId9"/>
    <p:sldLayoutId id="2147483835" r:id="rId10"/>
    <p:sldLayoutId id="2147483836" r:id="rId11"/>
    <p:sldLayoutId id="2147483837" r:id="rId12"/>
    <p:sldLayoutId id="2147483838" r:id="rId13"/>
    <p:sldLayoutId id="2147483839" r:id="rId14"/>
    <p:sldLayoutId id="2147483840" r:id="rId15"/>
    <p:sldLayoutId id="2147483841"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3">
            <a:extLst>
              <a:ext uri="{FF2B5EF4-FFF2-40B4-BE49-F238E27FC236}">
                <a16:creationId xmlns:a16="http://schemas.microsoft.com/office/drawing/2014/main" id="{43935E0F-39FD-4C90-84D5-BFE2CDEB2C3E}"/>
              </a:ext>
            </a:extLst>
          </p:cNvPr>
          <p:cNvSpPr/>
          <p:nvPr/>
        </p:nvSpPr>
        <p:spPr>
          <a:xfrm>
            <a:off x="1266092" y="3074391"/>
            <a:ext cx="3645878" cy="2691320"/>
          </a:xfrm>
          <a:prstGeom prst="roundRect">
            <a:avLst/>
          </a:prstGeom>
          <a:solidFill>
            <a:schemeClr val="accent1">
              <a:alpha val="4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lumMod val="95000"/>
                    <a:lumOff val="5000"/>
                  </a:schemeClr>
                </a:solidFill>
                <a:latin typeface="Times New Roman" panose="02020603050405020304" pitchFamily="18" charset="0"/>
                <a:cs typeface="Times New Roman" panose="02020603050405020304" pitchFamily="18" charset="0"/>
              </a:rPr>
              <a:t>Supervised by:</a:t>
            </a:r>
          </a:p>
          <a:p>
            <a:r>
              <a:rPr lang="en-US" dirty="0">
                <a:solidFill>
                  <a:schemeClr val="tx1"/>
                </a:solidFill>
              </a:rPr>
              <a:t>Md. Ashraful Islam</a:t>
            </a:r>
          </a:p>
          <a:p>
            <a:r>
              <a:rPr lang="en-US" dirty="0">
                <a:solidFill>
                  <a:schemeClr val="tx1">
                    <a:lumMod val="95000"/>
                    <a:lumOff val="5000"/>
                  </a:schemeClr>
                </a:solidFill>
                <a:latin typeface="Times New Roman" panose="02020603050405020304" pitchFamily="18" charset="0"/>
                <a:cs typeface="Times New Roman" panose="02020603050405020304" pitchFamily="18" charset="0"/>
              </a:rPr>
              <a:t>Lecturer,</a:t>
            </a:r>
          </a:p>
          <a:p>
            <a:r>
              <a:rPr lang="en-US" dirty="0">
                <a:solidFill>
                  <a:schemeClr val="tx1">
                    <a:lumMod val="95000"/>
                    <a:lumOff val="5000"/>
                  </a:schemeClr>
                </a:solidFill>
                <a:latin typeface="Times New Roman" panose="02020603050405020304" pitchFamily="18" charset="0"/>
                <a:cs typeface="Times New Roman" panose="02020603050405020304" pitchFamily="18" charset="0"/>
              </a:rPr>
              <a:t>Dept. of CSE, BUBT</a:t>
            </a:r>
          </a:p>
        </p:txBody>
      </p:sp>
      <p:sp>
        <p:nvSpPr>
          <p:cNvPr id="3" name="Rounded Rectangle 4">
            <a:extLst>
              <a:ext uri="{FF2B5EF4-FFF2-40B4-BE49-F238E27FC236}">
                <a16:creationId xmlns:a16="http://schemas.microsoft.com/office/drawing/2014/main" id="{4BE76F45-7AB5-499A-895F-34D8A5D9D6EC}"/>
              </a:ext>
            </a:extLst>
          </p:cNvPr>
          <p:cNvSpPr/>
          <p:nvPr/>
        </p:nvSpPr>
        <p:spPr>
          <a:xfrm>
            <a:off x="6492240" y="3074391"/>
            <a:ext cx="4433668" cy="2691320"/>
          </a:xfrm>
          <a:prstGeom prst="roundRect">
            <a:avLst/>
          </a:prstGeom>
          <a:solidFill>
            <a:schemeClr val="accent1">
              <a:alpha val="4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700">
              <a:lnSpc>
                <a:spcPct val="100000"/>
              </a:lnSpc>
              <a:spcBef>
                <a:spcPts val="495"/>
              </a:spcBef>
            </a:pPr>
            <a:r>
              <a:rPr lang="en-US" sz="2800" b="1" spc="-160" dirty="0">
                <a:solidFill>
                  <a:schemeClr val="tx1">
                    <a:lumMod val="95000"/>
                    <a:lumOff val="5000"/>
                  </a:schemeClr>
                </a:solidFill>
                <a:latin typeface="Times New Roman" panose="02020603050405020304" pitchFamily="18" charset="0"/>
                <a:cs typeface="Times New Roman" panose="02020603050405020304" pitchFamily="18" charset="0"/>
              </a:rPr>
              <a:t>Presented </a:t>
            </a:r>
            <a:r>
              <a:rPr lang="en-US" sz="2800" b="1" spc="-140" dirty="0">
                <a:solidFill>
                  <a:schemeClr val="tx1">
                    <a:lumMod val="95000"/>
                    <a:lumOff val="5000"/>
                  </a:schemeClr>
                </a:solidFill>
                <a:latin typeface="Times New Roman" panose="02020603050405020304" pitchFamily="18" charset="0"/>
                <a:cs typeface="Times New Roman" panose="02020603050405020304" pitchFamily="18" charset="0"/>
              </a:rPr>
              <a:t>by</a:t>
            </a:r>
            <a:r>
              <a:rPr lang="en-US" sz="2800" b="1" spc="-245"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800" b="1" spc="-229" dirty="0">
                <a:solidFill>
                  <a:schemeClr val="tx1">
                    <a:lumMod val="95000"/>
                    <a:lumOff val="5000"/>
                  </a:schemeClr>
                </a:solidFill>
                <a:latin typeface="Times New Roman" panose="02020603050405020304" pitchFamily="18" charset="0"/>
                <a:cs typeface="Times New Roman" panose="02020603050405020304" pitchFamily="18" charset="0"/>
              </a:rPr>
              <a:t>:</a:t>
            </a:r>
            <a:endParaRPr lang="en-US" sz="28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12700">
              <a:lnSpc>
                <a:spcPct val="100000"/>
              </a:lnSpc>
              <a:spcBef>
                <a:spcPts val="395"/>
              </a:spcBef>
            </a:pPr>
            <a:r>
              <a:rPr lang="en-US" spc="-125" dirty="0">
                <a:solidFill>
                  <a:schemeClr val="tx1">
                    <a:lumMod val="95000"/>
                    <a:lumOff val="5000"/>
                  </a:schemeClr>
                </a:solidFill>
                <a:latin typeface="Times New Roman" panose="02020603050405020304" pitchFamily="18" charset="0"/>
                <a:cs typeface="Times New Roman" panose="02020603050405020304" pitchFamily="18" charset="0"/>
              </a:rPr>
              <a:t>Md.  Kawsher  Mahbub                ID:16172103282</a:t>
            </a:r>
          </a:p>
          <a:p>
            <a:pPr marL="12700">
              <a:lnSpc>
                <a:spcPct val="100000"/>
              </a:lnSpc>
              <a:spcBef>
                <a:spcPts val="395"/>
              </a:spcBef>
            </a:pPr>
            <a:r>
              <a:rPr lang="en-US" spc="-125" dirty="0">
                <a:solidFill>
                  <a:schemeClr val="tx1">
                    <a:lumMod val="95000"/>
                    <a:lumOff val="5000"/>
                  </a:schemeClr>
                </a:solidFill>
                <a:latin typeface="Times New Roman" panose="02020603050405020304" pitchFamily="18" charset="0"/>
                <a:cs typeface="Times New Roman" panose="02020603050405020304" pitchFamily="18" charset="0"/>
              </a:rPr>
              <a:t>Md. Sajjad Hossain                        ID:16172103294</a:t>
            </a:r>
          </a:p>
          <a:p>
            <a:pPr marL="12700">
              <a:lnSpc>
                <a:spcPct val="100000"/>
              </a:lnSpc>
              <a:spcBef>
                <a:spcPts val="395"/>
              </a:spcBef>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Intake:35</a:t>
            </a:r>
          </a:p>
          <a:p>
            <a:pPr marL="12700">
              <a:lnSpc>
                <a:spcPct val="100000"/>
              </a:lnSpc>
              <a:spcBef>
                <a:spcPts val="395"/>
              </a:spcBef>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Section</a:t>
            </a:r>
            <a:r>
              <a:rPr lang="en-US">
                <a:solidFill>
                  <a:schemeClr val="tx1">
                    <a:lumMod val="95000"/>
                    <a:lumOff val="5000"/>
                  </a:schemeClr>
                </a:solidFill>
                <a:latin typeface="Times New Roman" panose="02020603050405020304" pitchFamily="18" charset="0"/>
                <a:cs typeface="Times New Roman" panose="02020603050405020304" pitchFamily="18" charset="0"/>
              </a:rPr>
              <a:t>:02</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a:p>
            <a:pPr marL="12700">
              <a:spcBef>
                <a:spcPts val="395"/>
              </a:spcBef>
            </a:pPr>
            <a:r>
              <a:rPr lang="en-US" dirty="0">
                <a:solidFill>
                  <a:schemeClr val="tx1">
                    <a:lumMod val="95000"/>
                    <a:lumOff val="5000"/>
                  </a:schemeClr>
                </a:solidFill>
                <a:latin typeface="Times New Roman" panose="02020603050405020304" pitchFamily="18" charset="0"/>
                <a:cs typeface="Times New Roman" panose="02020603050405020304" pitchFamily="18" charset="0"/>
              </a:rPr>
              <a:t>Dept. of CSE, BUBT</a:t>
            </a:r>
          </a:p>
          <a:p>
            <a:pPr marL="12700">
              <a:lnSpc>
                <a:spcPct val="100000"/>
              </a:lnSpc>
              <a:spcBef>
                <a:spcPts val="395"/>
              </a:spcBef>
            </a:pP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4" name="Rounded Rectangle 2">
            <a:extLst>
              <a:ext uri="{FF2B5EF4-FFF2-40B4-BE49-F238E27FC236}">
                <a16:creationId xmlns:a16="http://schemas.microsoft.com/office/drawing/2014/main" id="{58AA11CD-12C9-48ED-8434-DA3925FE9E2C}"/>
              </a:ext>
            </a:extLst>
          </p:cNvPr>
          <p:cNvSpPr/>
          <p:nvPr/>
        </p:nvSpPr>
        <p:spPr>
          <a:xfrm>
            <a:off x="1266092" y="214532"/>
            <a:ext cx="9720775" cy="2438400"/>
          </a:xfrm>
          <a:prstGeom prst="roundRect">
            <a:avLst/>
          </a:prstGeom>
          <a:solidFill>
            <a:schemeClr val="accent1">
              <a:alpha val="5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tx1"/>
                </a:solidFill>
              </a:rPr>
              <a:t>Usage of Artificial Intelligence In Everyday Life</a:t>
            </a:r>
            <a:endParaRPr lang="en-US" sz="4800" dirty="0">
              <a:solidFill>
                <a:schemeClr val="tx1"/>
              </a:solidFill>
              <a:latin typeface="Algerian" panose="04020705040A02060702" pitchFamily="82" charset="0"/>
            </a:endParaRPr>
          </a:p>
        </p:txBody>
      </p:sp>
    </p:spTree>
    <p:extLst>
      <p:ext uri="{BB962C8B-B14F-4D97-AF65-F5344CB8AC3E}">
        <p14:creationId xmlns:p14="http://schemas.microsoft.com/office/powerpoint/2010/main" val="25589115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DB991-3DC1-426F-B655-29489DEF9A0C}"/>
              </a:ext>
            </a:extLst>
          </p:cNvPr>
          <p:cNvSpPr>
            <a:spLocks noGrp="1"/>
          </p:cNvSpPr>
          <p:nvPr>
            <p:ph type="title"/>
          </p:nvPr>
        </p:nvSpPr>
        <p:spPr>
          <a:xfrm>
            <a:off x="1991750" y="549352"/>
            <a:ext cx="10515600" cy="1325563"/>
          </a:xfrm>
        </p:spPr>
        <p:txBody>
          <a:bodyPr/>
          <a:lstStyle/>
          <a:p>
            <a:r>
              <a:rPr lang="en-US" dirty="0"/>
              <a:t>What Is artificial intelligence?</a:t>
            </a:r>
            <a:br>
              <a:rPr lang="en-US" dirty="0"/>
            </a:br>
            <a:endParaRPr lang="en-US" dirty="0"/>
          </a:p>
        </p:txBody>
      </p:sp>
      <p:sp>
        <p:nvSpPr>
          <p:cNvPr id="3" name="Content Placeholder 2">
            <a:extLst>
              <a:ext uri="{FF2B5EF4-FFF2-40B4-BE49-F238E27FC236}">
                <a16:creationId xmlns:a16="http://schemas.microsoft.com/office/drawing/2014/main" id="{EC1E5DC0-04C0-4FF7-B74C-28FD49BA3B65}"/>
              </a:ext>
            </a:extLst>
          </p:cNvPr>
          <p:cNvSpPr>
            <a:spLocks noGrp="1"/>
          </p:cNvSpPr>
          <p:nvPr>
            <p:ph idx="1"/>
          </p:nvPr>
        </p:nvSpPr>
        <p:spPr>
          <a:xfrm>
            <a:off x="1272867" y="1874915"/>
            <a:ext cx="9953151" cy="3231657"/>
          </a:xfrm>
        </p:spPr>
        <p:txBody>
          <a:bodyPr>
            <a:normAutofit/>
          </a:bodyPr>
          <a:lstStyle/>
          <a:p>
            <a:pPr algn="just">
              <a:buFont typeface="Wingdings" panose="05000000000000000000" pitchFamily="2" charset="2"/>
              <a:buChar char="Ø"/>
            </a:pPr>
            <a:r>
              <a:rPr lang="en-US" sz="2400" dirty="0"/>
              <a:t>Artificial intelligence is a technology that enables a computer to think or act in a more human way. It does this by taking information from it’s surroundings and deciding its response based on what it learns or sense.</a:t>
            </a:r>
          </a:p>
        </p:txBody>
      </p:sp>
    </p:spTree>
    <p:extLst>
      <p:ext uri="{BB962C8B-B14F-4D97-AF65-F5344CB8AC3E}">
        <p14:creationId xmlns:p14="http://schemas.microsoft.com/office/powerpoint/2010/main" val="342216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BBCD0-3843-4577-9E08-B1071C4D30DD}"/>
              </a:ext>
            </a:extLst>
          </p:cNvPr>
          <p:cNvSpPr>
            <a:spLocks noGrp="1"/>
          </p:cNvSpPr>
          <p:nvPr>
            <p:ph type="ctrTitle"/>
          </p:nvPr>
        </p:nvSpPr>
        <p:spPr>
          <a:xfrm>
            <a:off x="1788420" y="633047"/>
            <a:ext cx="9071839" cy="957647"/>
          </a:xfrm>
        </p:spPr>
        <p:txBody>
          <a:bodyPr/>
          <a:lstStyle/>
          <a:p>
            <a:pPr algn="l"/>
            <a:r>
              <a:rPr lang="en-US" sz="4800" dirty="0"/>
              <a:t>History of Artificial Intelligence</a:t>
            </a:r>
          </a:p>
        </p:txBody>
      </p:sp>
      <p:sp>
        <p:nvSpPr>
          <p:cNvPr id="3" name="Subtitle 2">
            <a:extLst>
              <a:ext uri="{FF2B5EF4-FFF2-40B4-BE49-F238E27FC236}">
                <a16:creationId xmlns:a16="http://schemas.microsoft.com/office/drawing/2014/main" id="{4D5AC1E5-6C26-4736-8817-9824B1ED7F56}"/>
              </a:ext>
            </a:extLst>
          </p:cNvPr>
          <p:cNvSpPr>
            <a:spLocks noGrp="1"/>
          </p:cNvSpPr>
          <p:nvPr>
            <p:ph type="subTitle" idx="1"/>
          </p:nvPr>
        </p:nvSpPr>
        <p:spPr>
          <a:xfrm>
            <a:off x="1645919" y="2237472"/>
            <a:ext cx="10546081" cy="3825705"/>
          </a:xfrm>
        </p:spPr>
        <p:txBody>
          <a:bodyPr>
            <a:normAutofit/>
          </a:bodyPr>
          <a:lstStyle/>
          <a:p>
            <a:pPr marL="342900" indent="-342900" algn="just">
              <a:buFont typeface="Wingdings" panose="05000000000000000000" pitchFamily="2" charset="2"/>
              <a:buChar char="Ø"/>
            </a:pPr>
            <a:r>
              <a:rPr lang="en-US" dirty="0"/>
              <a:t>The idea of AI goes as far back as ancient Greece. Greek myths speak of Hephaestus, a blacksmith who created mechanical servants. This is one of many examples.</a:t>
            </a:r>
          </a:p>
          <a:p>
            <a:pPr marL="342900" indent="-342900" algn="just">
              <a:buFont typeface="Wingdings" panose="05000000000000000000" pitchFamily="2" charset="2"/>
              <a:buChar char="Ø"/>
            </a:pPr>
            <a:r>
              <a:rPr lang="en-US" dirty="0"/>
              <a:t> Fast forward to 1935, when the earliest substantial work in this field was done by Alan Turing, a logician and computer pioneer.</a:t>
            </a:r>
          </a:p>
          <a:p>
            <a:pPr marL="342900" indent="-342900" algn="just">
              <a:buFont typeface="Wingdings" panose="05000000000000000000" pitchFamily="2" charset="2"/>
              <a:buChar char="Ø"/>
            </a:pPr>
            <a:r>
              <a:rPr lang="en-US" dirty="0"/>
              <a:t>Turing Machine 1951: Christopher Strachey wrote the first successful AI program</a:t>
            </a:r>
          </a:p>
        </p:txBody>
      </p:sp>
    </p:spTree>
    <p:extLst>
      <p:ext uri="{BB962C8B-B14F-4D97-AF65-F5344CB8AC3E}">
        <p14:creationId xmlns:p14="http://schemas.microsoft.com/office/powerpoint/2010/main" val="4282725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C69FF-14B9-4041-AD6B-0269A5E5FCC2}"/>
              </a:ext>
            </a:extLst>
          </p:cNvPr>
          <p:cNvSpPr>
            <a:spLocks noGrp="1"/>
          </p:cNvSpPr>
          <p:nvPr>
            <p:ph type="ctrTitle"/>
          </p:nvPr>
        </p:nvSpPr>
        <p:spPr>
          <a:xfrm>
            <a:off x="1777219" y="1422828"/>
            <a:ext cx="9997440" cy="748640"/>
          </a:xfrm>
        </p:spPr>
        <p:txBody>
          <a:bodyPr>
            <a:normAutofit fontScale="90000"/>
          </a:bodyPr>
          <a:lstStyle/>
          <a:p>
            <a:pPr algn="l"/>
            <a:r>
              <a:rPr lang="en-US" dirty="0"/>
              <a:t> Goals of Artificial Intelligence</a:t>
            </a:r>
          </a:p>
        </p:txBody>
      </p:sp>
      <p:sp>
        <p:nvSpPr>
          <p:cNvPr id="3" name="Subtitle 2">
            <a:extLst>
              <a:ext uri="{FF2B5EF4-FFF2-40B4-BE49-F238E27FC236}">
                <a16:creationId xmlns:a16="http://schemas.microsoft.com/office/drawing/2014/main" id="{429E5B65-4495-4D45-AEE0-C8D66160C3C4}"/>
              </a:ext>
            </a:extLst>
          </p:cNvPr>
          <p:cNvSpPr>
            <a:spLocks noGrp="1"/>
          </p:cNvSpPr>
          <p:nvPr>
            <p:ph type="subTitle" idx="1"/>
          </p:nvPr>
        </p:nvSpPr>
        <p:spPr>
          <a:xfrm>
            <a:off x="1777219" y="2713661"/>
            <a:ext cx="9144000" cy="1655762"/>
          </a:xfrm>
        </p:spPr>
        <p:txBody>
          <a:bodyPr>
            <a:normAutofit/>
          </a:bodyPr>
          <a:lstStyle/>
          <a:p>
            <a:pPr marL="342900" indent="-342900" algn="l">
              <a:buFont typeface="Wingdings" panose="05000000000000000000" pitchFamily="2" charset="2"/>
              <a:buChar char="Ø"/>
            </a:pPr>
            <a:r>
              <a:rPr lang="en-US" dirty="0"/>
              <a:t>Deduction</a:t>
            </a:r>
          </a:p>
          <a:p>
            <a:pPr marL="342900" indent="-342900" algn="l">
              <a:buFont typeface="Wingdings" panose="05000000000000000000" pitchFamily="2" charset="2"/>
              <a:buChar char="Ø"/>
            </a:pPr>
            <a:r>
              <a:rPr lang="en-US" dirty="0"/>
              <a:t>Reasoning </a:t>
            </a:r>
          </a:p>
          <a:p>
            <a:pPr marL="342900" indent="-342900" algn="l">
              <a:buFont typeface="Wingdings" panose="05000000000000000000" pitchFamily="2" charset="2"/>
              <a:buChar char="Ø"/>
            </a:pPr>
            <a:r>
              <a:rPr lang="en-US" dirty="0"/>
              <a:t>Problem solving</a:t>
            </a:r>
          </a:p>
          <a:p>
            <a:pPr marL="342900" indent="-342900" algn="l">
              <a:buFont typeface="Wingdings" panose="05000000000000000000" pitchFamily="2" charset="2"/>
              <a:buChar char="Ø"/>
            </a:pPr>
            <a:endParaRPr lang="en-US" dirty="0"/>
          </a:p>
        </p:txBody>
      </p:sp>
    </p:spTree>
    <p:extLst>
      <p:ext uri="{BB962C8B-B14F-4D97-AF65-F5344CB8AC3E}">
        <p14:creationId xmlns:p14="http://schemas.microsoft.com/office/powerpoint/2010/main" val="2581377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C3228-836F-4A24-8007-0C6EB2EAB8F4}"/>
              </a:ext>
            </a:extLst>
          </p:cNvPr>
          <p:cNvSpPr>
            <a:spLocks noGrp="1"/>
          </p:cNvSpPr>
          <p:nvPr>
            <p:ph type="ctrTitle"/>
          </p:nvPr>
        </p:nvSpPr>
        <p:spPr>
          <a:xfrm>
            <a:off x="2086708" y="1080160"/>
            <a:ext cx="9144000" cy="931520"/>
          </a:xfrm>
        </p:spPr>
        <p:txBody>
          <a:bodyPr>
            <a:normAutofit/>
          </a:bodyPr>
          <a:lstStyle/>
          <a:p>
            <a:pPr algn="l"/>
            <a:r>
              <a:rPr lang="en-US" sz="5400" dirty="0"/>
              <a:t>Using AI In Daily life </a:t>
            </a:r>
          </a:p>
        </p:txBody>
      </p:sp>
      <p:sp>
        <p:nvSpPr>
          <p:cNvPr id="3" name="Subtitle 2">
            <a:extLst>
              <a:ext uri="{FF2B5EF4-FFF2-40B4-BE49-F238E27FC236}">
                <a16:creationId xmlns:a16="http://schemas.microsoft.com/office/drawing/2014/main" id="{7FADBC3B-C416-47EA-B54E-88F243EC2429}"/>
              </a:ext>
            </a:extLst>
          </p:cNvPr>
          <p:cNvSpPr>
            <a:spLocks noGrp="1"/>
          </p:cNvSpPr>
          <p:nvPr>
            <p:ph type="subTitle" idx="1"/>
          </p:nvPr>
        </p:nvSpPr>
        <p:spPr>
          <a:xfrm>
            <a:off x="2086708" y="2810413"/>
            <a:ext cx="9144000" cy="2387600"/>
          </a:xfrm>
        </p:spPr>
        <p:txBody>
          <a:bodyPr>
            <a:normAutofit/>
          </a:bodyPr>
          <a:lstStyle/>
          <a:p>
            <a:pPr marL="342900" indent="-342900" algn="l">
              <a:buFont typeface="Wingdings" panose="05000000000000000000" pitchFamily="2" charset="2"/>
              <a:buChar char="Ø"/>
            </a:pPr>
            <a:r>
              <a:rPr lang="en-US" dirty="0"/>
              <a:t>Virtual  Assistants</a:t>
            </a:r>
          </a:p>
          <a:p>
            <a:pPr marL="342900" indent="-342900" algn="l">
              <a:buFont typeface="Wingdings" panose="05000000000000000000" pitchFamily="2" charset="2"/>
              <a:buChar char="Ø"/>
            </a:pPr>
            <a:r>
              <a:rPr lang="en-US" dirty="0"/>
              <a:t>Social Media Feeds &amp; Media Streaming</a:t>
            </a:r>
          </a:p>
          <a:p>
            <a:pPr marL="342900" indent="-342900" algn="l">
              <a:buFont typeface="Wingdings" panose="05000000000000000000" pitchFamily="2" charset="2"/>
              <a:buChar char="Ø"/>
            </a:pPr>
            <a:r>
              <a:rPr lang="en-US" dirty="0"/>
              <a:t>Navigation and Travel</a:t>
            </a:r>
          </a:p>
          <a:p>
            <a:pPr marL="342900" indent="-342900" algn="l">
              <a:buFont typeface="Wingdings" panose="05000000000000000000" pitchFamily="2" charset="2"/>
              <a:buChar char="Ø"/>
            </a:pPr>
            <a:r>
              <a:rPr lang="en-US" dirty="0"/>
              <a:t>Smart cars and Drones</a:t>
            </a:r>
          </a:p>
          <a:p>
            <a:pPr marL="342900" indent="-342900" algn="l">
              <a:buFont typeface="Wingdings" panose="05000000000000000000" pitchFamily="2" charset="2"/>
              <a:buChar char="Ø"/>
            </a:pPr>
            <a:r>
              <a:rPr lang="en-US" dirty="0"/>
              <a:t>Banking and Finance</a:t>
            </a:r>
          </a:p>
          <a:p>
            <a:pPr marL="342900" indent="-342900" algn="l">
              <a:buFont typeface="Wingdings" panose="05000000000000000000" pitchFamily="2" charset="2"/>
              <a:buChar char="Ø"/>
            </a:pPr>
            <a:r>
              <a:rPr lang="en-US" dirty="0"/>
              <a:t>Natural Language processing </a:t>
            </a:r>
          </a:p>
          <a:p>
            <a:pPr marL="342900" indent="-342900" algn="l">
              <a:buFont typeface="Wingdings" panose="05000000000000000000" pitchFamily="2" charset="2"/>
              <a:buChar char="Ø"/>
            </a:pPr>
            <a:endParaRPr lang="en-US" dirty="0"/>
          </a:p>
        </p:txBody>
      </p:sp>
    </p:spTree>
    <p:extLst>
      <p:ext uri="{BB962C8B-B14F-4D97-AF65-F5344CB8AC3E}">
        <p14:creationId xmlns:p14="http://schemas.microsoft.com/office/powerpoint/2010/main" val="1918498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E3196-D345-4179-A9AC-C5553D66A3E0}"/>
              </a:ext>
            </a:extLst>
          </p:cNvPr>
          <p:cNvSpPr>
            <a:spLocks noGrp="1"/>
          </p:cNvSpPr>
          <p:nvPr>
            <p:ph type="title"/>
          </p:nvPr>
        </p:nvSpPr>
        <p:spPr>
          <a:xfrm>
            <a:off x="1746250" y="1162245"/>
            <a:ext cx="10515600" cy="1088585"/>
          </a:xfrm>
        </p:spPr>
        <p:txBody>
          <a:bodyPr>
            <a:normAutofit/>
          </a:bodyPr>
          <a:lstStyle/>
          <a:p>
            <a:r>
              <a:rPr lang="en-US" sz="5400" dirty="0"/>
              <a:t>Virtual Personal Assistants</a:t>
            </a:r>
          </a:p>
        </p:txBody>
      </p:sp>
      <p:sp>
        <p:nvSpPr>
          <p:cNvPr id="3" name="Text Placeholder 2">
            <a:extLst>
              <a:ext uri="{FF2B5EF4-FFF2-40B4-BE49-F238E27FC236}">
                <a16:creationId xmlns:a16="http://schemas.microsoft.com/office/drawing/2014/main" id="{E5979DD1-E339-4566-9540-B41204E60F7D}"/>
              </a:ext>
            </a:extLst>
          </p:cNvPr>
          <p:cNvSpPr>
            <a:spLocks noGrp="1"/>
          </p:cNvSpPr>
          <p:nvPr>
            <p:ph type="body" idx="1"/>
          </p:nvPr>
        </p:nvSpPr>
        <p:spPr>
          <a:xfrm>
            <a:off x="1746250" y="2486344"/>
            <a:ext cx="9620445" cy="2957853"/>
          </a:xfrm>
        </p:spPr>
        <p:txBody>
          <a:bodyPr>
            <a:normAutofit/>
          </a:bodyPr>
          <a:lstStyle/>
          <a:p>
            <a:pPr algn="just"/>
            <a:r>
              <a:rPr lang="en-US" dirty="0">
                <a:solidFill>
                  <a:schemeClr val="tx1"/>
                </a:solidFill>
              </a:rPr>
              <a:t> </a:t>
            </a:r>
            <a:endParaRPr lang="en-US" sz="3600" dirty="0"/>
          </a:p>
          <a:p>
            <a:pPr marL="342900" indent="-342900" algn="just">
              <a:buFont typeface="Wingdings" panose="05000000000000000000" pitchFamily="2" charset="2"/>
              <a:buChar char="Ø"/>
            </a:pPr>
            <a:r>
              <a:rPr lang="en-US" dirty="0">
                <a:solidFill>
                  <a:schemeClr val="tx1"/>
                </a:solidFill>
              </a:rPr>
              <a:t>Siri, Google Now, and Cortana are for the most part savvy advanced digital assistants on different platforms (iOS, Android, and Windows). They help us in finding helpful information or data when we ask them to do using speech or voice commands like “Nearby Restaurants”, “set an alarm for 12 PM”, and so on</a:t>
            </a:r>
          </a:p>
        </p:txBody>
      </p:sp>
    </p:spTree>
    <p:extLst>
      <p:ext uri="{BB962C8B-B14F-4D97-AF65-F5344CB8AC3E}">
        <p14:creationId xmlns:p14="http://schemas.microsoft.com/office/powerpoint/2010/main" val="597373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532755C-05F8-4B79-AC34-28F15589DC0B}"/>
              </a:ext>
            </a:extLst>
          </p:cNvPr>
          <p:cNvSpPr>
            <a:spLocks noGrp="1"/>
          </p:cNvSpPr>
          <p:nvPr>
            <p:ph type="ctrTitle"/>
          </p:nvPr>
        </p:nvSpPr>
        <p:spPr>
          <a:xfrm>
            <a:off x="2128910" y="1347446"/>
            <a:ext cx="9144000" cy="861182"/>
          </a:xfrm>
        </p:spPr>
        <p:txBody>
          <a:bodyPr>
            <a:normAutofit fontScale="90000"/>
          </a:bodyPr>
          <a:lstStyle/>
          <a:p>
            <a:pPr algn="l"/>
            <a:r>
              <a:rPr lang="en-US" dirty="0"/>
              <a:t>Healthcare</a:t>
            </a:r>
          </a:p>
        </p:txBody>
      </p:sp>
      <p:sp>
        <p:nvSpPr>
          <p:cNvPr id="3" name="Subtitle 2">
            <a:extLst>
              <a:ext uri="{FF2B5EF4-FFF2-40B4-BE49-F238E27FC236}">
                <a16:creationId xmlns:a16="http://schemas.microsoft.com/office/drawing/2014/main" id="{70B3950D-D102-45EA-AA07-95BA51C9E39A}"/>
              </a:ext>
            </a:extLst>
          </p:cNvPr>
          <p:cNvSpPr>
            <a:spLocks noGrp="1"/>
          </p:cNvSpPr>
          <p:nvPr>
            <p:ph type="subTitle" idx="1"/>
          </p:nvPr>
        </p:nvSpPr>
        <p:spPr>
          <a:xfrm>
            <a:off x="1931963" y="3023149"/>
            <a:ext cx="9144000" cy="1655762"/>
          </a:xfrm>
        </p:spPr>
        <p:txBody>
          <a:bodyPr>
            <a:normAutofit/>
          </a:bodyPr>
          <a:lstStyle/>
          <a:p>
            <a:pPr marL="342900" indent="-342900" algn="just">
              <a:buFont typeface="Wingdings" panose="05000000000000000000" pitchFamily="2" charset="2"/>
              <a:buChar char="Ø"/>
            </a:pPr>
            <a:r>
              <a:rPr lang="en-US" dirty="0"/>
              <a:t>Health experts need to audit reams of information manually before they diagnose or treat a patient. Today, high-performance computing in the blend with graphics processing units have turned out to be key devices for deep learning and AI platforms, due halfway to their parallel processing power.</a:t>
            </a:r>
          </a:p>
        </p:txBody>
      </p:sp>
    </p:spTree>
    <p:extLst>
      <p:ext uri="{BB962C8B-B14F-4D97-AF65-F5344CB8AC3E}">
        <p14:creationId xmlns:p14="http://schemas.microsoft.com/office/powerpoint/2010/main" val="2618549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29B28-6AB8-4F6E-98BD-708481A3C0E7}"/>
              </a:ext>
            </a:extLst>
          </p:cNvPr>
          <p:cNvSpPr>
            <a:spLocks noGrp="1"/>
          </p:cNvSpPr>
          <p:nvPr>
            <p:ph type="ctrTitle"/>
          </p:nvPr>
        </p:nvSpPr>
        <p:spPr>
          <a:xfrm>
            <a:off x="2011680" y="1234905"/>
            <a:ext cx="9144000" cy="692369"/>
          </a:xfrm>
        </p:spPr>
        <p:txBody>
          <a:bodyPr>
            <a:normAutofit fontScale="90000"/>
          </a:bodyPr>
          <a:lstStyle/>
          <a:p>
            <a:pPr algn="l"/>
            <a:r>
              <a:rPr lang="en-US" dirty="0"/>
              <a:t>Banking </a:t>
            </a:r>
          </a:p>
        </p:txBody>
      </p:sp>
      <p:sp>
        <p:nvSpPr>
          <p:cNvPr id="3" name="Subtitle 2">
            <a:extLst>
              <a:ext uri="{FF2B5EF4-FFF2-40B4-BE49-F238E27FC236}">
                <a16:creationId xmlns:a16="http://schemas.microsoft.com/office/drawing/2014/main" id="{8E962EDF-33FF-442C-B174-853900B364FC}"/>
              </a:ext>
            </a:extLst>
          </p:cNvPr>
          <p:cNvSpPr>
            <a:spLocks noGrp="1"/>
          </p:cNvSpPr>
          <p:nvPr>
            <p:ph type="subTitle" idx="1"/>
          </p:nvPr>
        </p:nvSpPr>
        <p:spPr>
          <a:xfrm>
            <a:off x="2011680" y="2891621"/>
            <a:ext cx="8942363" cy="2039106"/>
          </a:xfrm>
        </p:spPr>
        <p:txBody>
          <a:bodyPr>
            <a:normAutofit/>
          </a:bodyPr>
          <a:lstStyle/>
          <a:p>
            <a:pPr marL="342900" indent="-342900" algn="just">
              <a:buFont typeface="Wingdings" panose="05000000000000000000" pitchFamily="2" charset="2"/>
              <a:buChar char="Ø"/>
            </a:pPr>
            <a:r>
              <a:rPr lang="en-US" dirty="0"/>
              <a:t> Banks and other money-related services have gathered a fortune trove of information, bringing about huge informational collections. They also have broad involvement with systematic tools, so they have a head start with the utilization of AI, which can make many banking services more powerful.</a:t>
            </a:r>
          </a:p>
        </p:txBody>
      </p:sp>
    </p:spTree>
    <p:extLst>
      <p:ext uri="{BB962C8B-B14F-4D97-AF65-F5344CB8AC3E}">
        <p14:creationId xmlns:p14="http://schemas.microsoft.com/office/powerpoint/2010/main" val="2837654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AD59A-9586-4858-B20D-4CF3710D9467}"/>
              </a:ext>
            </a:extLst>
          </p:cNvPr>
          <p:cNvSpPr>
            <a:spLocks noGrp="1"/>
          </p:cNvSpPr>
          <p:nvPr>
            <p:ph type="ctrTitle"/>
          </p:nvPr>
        </p:nvSpPr>
        <p:spPr>
          <a:xfrm>
            <a:off x="2002301" y="883212"/>
            <a:ext cx="9144000" cy="959655"/>
          </a:xfrm>
        </p:spPr>
        <p:txBody>
          <a:bodyPr>
            <a:normAutofit/>
          </a:bodyPr>
          <a:lstStyle/>
          <a:p>
            <a:r>
              <a:rPr lang="en-US" dirty="0"/>
              <a:t>Driver-less Transportation</a:t>
            </a:r>
          </a:p>
        </p:txBody>
      </p:sp>
      <p:sp>
        <p:nvSpPr>
          <p:cNvPr id="3" name="Subtitle 2">
            <a:extLst>
              <a:ext uri="{FF2B5EF4-FFF2-40B4-BE49-F238E27FC236}">
                <a16:creationId xmlns:a16="http://schemas.microsoft.com/office/drawing/2014/main" id="{C71C42E6-177F-4A2B-A97E-A1BB7271F0D2}"/>
              </a:ext>
            </a:extLst>
          </p:cNvPr>
          <p:cNvSpPr>
            <a:spLocks noGrp="1"/>
          </p:cNvSpPr>
          <p:nvPr>
            <p:ph type="subTitle" idx="1"/>
          </p:nvPr>
        </p:nvSpPr>
        <p:spPr>
          <a:xfrm>
            <a:off x="2002301" y="2601119"/>
            <a:ext cx="9144000" cy="1655762"/>
          </a:xfrm>
        </p:spPr>
        <p:txBody>
          <a:bodyPr/>
          <a:lstStyle/>
          <a:p>
            <a:pPr marL="342900" indent="-342900" algn="l">
              <a:buFont typeface="Wingdings" panose="05000000000000000000" pitchFamily="2" charset="2"/>
              <a:buChar char="Ø"/>
            </a:pPr>
            <a:r>
              <a:rPr lang="en-US" dirty="0"/>
              <a:t>Artificial intelligence takes away the responsibility from the drivers, and also eliminates the danger of distracted driving and boasts a reaction time much faster than that of any human.</a:t>
            </a:r>
          </a:p>
        </p:txBody>
      </p:sp>
    </p:spTree>
    <p:extLst>
      <p:ext uri="{BB962C8B-B14F-4D97-AF65-F5344CB8AC3E}">
        <p14:creationId xmlns:p14="http://schemas.microsoft.com/office/powerpoint/2010/main" val="450456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74758-FD3B-46C0-B990-C361275BA376}"/>
              </a:ext>
            </a:extLst>
          </p:cNvPr>
          <p:cNvSpPr>
            <a:spLocks noGrp="1"/>
          </p:cNvSpPr>
          <p:nvPr>
            <p:ph type="ctrTitle"/>
          </p:nvPr>
        </p:nvSpPr>
        <p:spPr>
          <a:xfrm>
            <a:off x="1861625" y="1360731"/>
            <a:ext cx="9144000" cy="847896"/>
          </a:xfrm>
        </p:spPr>
        <p:txBody>
          <a:bodyPr>
            <a:normAutofit fontScale="90000"/>
          </a:bodyPr>
          <a:lstStyle/>
          <a:p>
            <a:pPr algn="l"/>
            <a:r>
              <a:rPr lang="en-US" dirty="0"/>
              <a:t>Smart Home Devices </a:t>
            </a:r>
          </a:p>
        </p:txBody>
      </p:sp>
      <p:sp>
        <p:nvSpPr>
          <p:cNvPr id="3" name="Subtitle 2">
            <a:extLst>
              <a:ext uri="{FF2B5EF4-FFF2-40B4-BE49-F238E27FC236}">
                <a16:creationId xmlns:a16="http://schemas.microsoft.com/office/drawing/2014/main" id="{0A8420CB-53AA-4061-B972-E4404532E951}"/>
              </a:ext>
            </a:extLst>
          </p:cNvPr>
          <p:cNvSpPr>
            <a:spLocks noGrp="1"/>
          </p:cNvSpPr>
          <p:nvPr>
            <p:ph type="subTitle" idx="1"/>
          </p:nvPr>
        </p:nvSpPr>
        <p:spPr>
          <a:xfrm>
            <a:off x="1861625" y="3100523"/>
            <a:ext cx="9144000" cy="1970881"/>
          </a:xfrm>
        </p:spPr>
        <p:txBody>
          <a:bodyPr>
            <a:normAutofit/>
          </a:bodyPr>
          <a:lstStyle/>
          <a:p>
            <a:pPr marL="342900" indent="-342900" algn="just">
              <a:buFont typeface="Wingdings" panose="05000000000000000000" pitchFamily="2" charset="2"/>
              <a:buChar char="Ø"/>
            </a:pPr>
            <a:r>
              <a:rPr lang="en-US" dirty="0"/>
              <a:t> Lighting is somewhere else where you may see essential artificial intelligence; by setting defaults and inclinations, the lights around your home (both inside and outside) might alter in view of where you are and what you’re doing; dimmer for staring at the TV, more splendid for cooking, and someplace in the center for eating, for instance. Binary Informatics</a:t>
            </a:r>
          </a:p>
        </p:txBody>
      </p:sp>
    </p:spTree>
    <p:extLst>
      <p:ext uri="{BB962C8B-B14F-4D97-AF65-F5344CB8AC3E}">
        <p14:creationId xmlns:p14="http://schemas.microsoft.com/office/powerpoint/2010/main" val="1121344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D099B-2FA9-4CE2-969B-600294EA13FA}"/>
              </a:ext>
            </a:extLst>
          </p:cNvPr>
          <p:cNvSpPr>
            <a:spLocks noGrp="1"/>
          </p:cNvSpPr>
          <p:nvPr>
            <p:ph type="ctrTitle"/>
          </p:nvPr>
        </p:nvSpPr>
        <p:spPr>
          <a:xfrm>
            <a:off x="1931963" y="1025416"/>
            <a:ext cx="9144000" cy="1198806"/>
          </a:xfrm>
        </p:spPr>
        <p:txBody>
          <a:bodyPr/>
          <a:lstStyle/>
          <a:p>
            <a:pPr algn="l"/>
            <a:r>
              <a:rPr lang="en-US" dirty="0"/>
              <a:t>Advantage of AI</a:t>
            </a:r>
          </a:p>
        </p:txBody>
      </p:sp>
      <p:sp>
        <p:nvSpPr>
          <p:cNvPr id="3" name="Subtitle 2">
            <a:extLst>
              <a:ext uri="{FF2B5EF4-FFF2-40B4-BE49-F238E27FC236}">
                <a16:creationId xmlns:a16="http://schemas.microsoft.com/office/drawing/2014/main" id="{44AD485E-2403-49C7-B011-8BCD3512973D}"/>
              </a:ext>
            </a:extLst>
          </p:cNvPr>
          <p:cNvSpPr>
            <a:spLocks noGrp="1"/>
          </p:cNvSpPr>
          <p:nvPr>
            <p:ph type="subTitle" idx="1"/>
          </p:nvPr>
        </p:nvSpPr>
        <p:spPr>
          <a:xfrm>
            <a:off x="1931963" y="2852934"/>
            <a:ext cx="9716087" cy="2520924"/>
          </a:xfrm>
        </p:spPr>
        <p:txBody>
          <a:bodyPr>
            <a:normAutofit/>
          </a:bodyPr>
          <a:lstStyle/>
          <a:p>
            <a:pPr marL="342900" indent="-342900" algn="just">
              <a:buFont typeface="Wingdings" panose="05000000000000000000" pitchFamily="2" charset="2"/>
              <a:buChar char="Ø"/>
            </a:pPr>
            <a:r>
              <a:rPr lang="en-US" dirty="0"/>
              <a:t>Artificial intelligence has made daily life a lot easier like by use of applications on phones or computers that predict user actions and also make recommendations that suit user’s choice. </a:t>
            </a:r>
          </a:p>
          <a:p>
            <a:pPr marL="342900" indent="-342900" algn="just">
              <a:buFont typeface="Wingdings" panose="05000000000000000000" pitchFamily="2" charset="2"/>
              <a:buChar char="Ø"/>
            </a:pPr>
            <a:r>
              <a:rPr lang="en-US" dirty="0"/>
              <a:t>The greatest advantage of artificial intelligence is that machines do not require sleep or breaks, and are able to function without stopping</a:t>
            </a:r>
          </a:p>
        </p:txBody>
      </p:sp>
    </p:spTree>
    <p:extLst>
      <p:ext uri="{BB962C8B-B14F-4D97-AF65-F5344CB8AC3E}">
        <p14:creationId xmlns:p14="http://schemas.microsoft.com/office/powerpoint/2010/main" val="1135513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705E9-B6E6-4AEC-A19F-8F6D3B8816FC}"/>
              </a:ext>
            </a:extLst>
          </p:cNvPr>
          <p:cNvSpPr>
            <a:spLocks noGrp="1"/>
          </p:cNvSpPr>
          <p:nvPr>
            <p:ph type="ctrTitle"/>
          </p:nvPr>
        </p:nvSpPr>
        <p:spPr>
          <a:xfrm>
            <a:off x="1833490" y="1080160"/>
            <a:ext cx="9144000" cy="1198806"/>
          </a:xfrm>
        </p:spPr>
        <p:txBody>
          <a:bodyPr/>
          <a:lstStyle/>
          <a:p>
            <a:pPr algn="l"/>
            <a:r>
              <a:rPr lang="en-US" dirty="0"/>
              <a:t>Disadvantage of AI</a:t>
            </a:r>
          </a:p>
        </p:txBody>
      </p:sp>
      <p:sp>
        <p:nvSpPr>
          <p:cNvPr id="3" name="Subtitle 2">
            <a:extLst>
              <a:ext uri="{FF2B5EF4-FFF2-40B4-BE49-F238E27FC236}">
                <a16:creationId xmlns:a16="http://schemas.microsoft.com/office/drawing/2014/main" id="{3C370210-7BC4-4599-B4F7-7F595663A751}"/>
              </a:ext>
            </a:extLst>
          </p:cNvPr>
          <p:cNvSpPr>
            <a:spLocks noGrp="1"/>
          </p:cNvSpPr>
          <p:nvPr>
            <p:ph type="subTitle" idx="1"/>
          </p:nvPr>
        </p:nvSpPr>
        <p:spPr>
          <a:xfrm>
            <a:off x="1833490" y="2814246"/>
            <a:ext cx="8928295" cy="1926565"/>
          </a:xfrm>
        </p:spPr>
        <p:txBody>
          <a:bodyPr>
            <a:normAutofit/>
          </a:bodyPr>
          <a:lstStyle/>
          <a:p>
            <a:pPr marL="342900" indent="-342900" algn="l">
              <a:buFont typeface="Wingdings" panose="05000000000000000000" pitchFamily="2" charset="2"/>
              <a:buChar char="Ø"/>
            </a:pPr>
            <a:r>
              <a:rPr lang="en-US" dirty="0"/>
              <a:t>Cannot fully replace humans.</a:t>
            </a:r>
          </a:p>
          <a:p>
            <a:pPr marL="342900" indent="-342900" algn="l">
              <a:buFont typeface="Wingdings" panose="05000000000000000000" pitchFamily="2" charset="2"/>
              <a:buChar char="Ø"/>
            </a:pPr>
            <a:r>
              <a:rPr lang="en-US" dirty="0"/>
              <a:t>Creates unemployment in certain sectors.</a:t>
            </a:r>
          </a:p>
          <a:p>
            <a:pPr marL="342900" indent="-342900" algn="l">
              <a:buFont typeface="Wingdings" panose="05000000000000000000" pitchFamily="2" charset="2"/>
              <a:buChar char="Ø"/>
            </a:pPr>
            <a:r>
              <a:rPr lang="en-US" dirty="0"/>
              <a:t>Cost involved is too much.</a:t>
            </a:r>
          </a:p>
          <a:p>
            <a:pPr marL="342900" indent="-342900" algn="l">
              <a:buFont typeface="Wingdings" panose="05000000000000000000" pitchFamily="2" charset="2"/>
              <a:buChar char="Ø"/>
            </a:pPr>
            <a:r>
              <a:rPr lang="en-US" dirty="0"/>
              <a:t>Can do more bad than good.</a:t>
            </a:r>
          </a:p>
          <a:p>
            <a:pPr marL="342900" indent="-342900" algn="l">
              <a:buFont typeface="Wingdings" panose="05000000000000000000" pitchFamily="2" charset="2"/>
              <a:buChar char="Ø"/>
            </a:pPr>
            <a:endParaRPr lang="en-US" dirty="0"/>
          </a:p>
        </p:txBody>
      </p:sp>
    </p:spTree>
    <p:extLst>
      <p:ext uri="{BB962C8B-B14F-4D97-AF65-F5344CB8AC3E}">
        <p14:creationId xmlns:p14="http://schemas.microsoft.com/office/powerpoint/2010/main" val="2455713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4F252-76E2-454C-8B85-E89661820776}"/>
              </a:ext>
            </a:extLst>
          </p:cNvPr>
          <p:cNvSpPr>
            <a:spLocks noGrp="1"/>
          </p:cNvSpPr>
          <p:nvPr>
            <p:ph type="ctrTitle"/>
          </p:nvPr>
        </p:nvSpPr>
        <p:spPr>
          <a:xfrm>
            <a:off x="2058571" y="1310285"/>
            <a:ext cx="9144000" cy="1001859"/>
          </a:xfrm>
        </p:spPr>
        <p:txBody>
          <a:bodyPr>
            <a:normAutofit/>
          </a:bodyPr>
          <a:lstStyle/>
          <a:p>
            <a:pPr algn="l"/>
            <a:r>
              <a:rPr lang="en-US" dirty="0"/>
              <a:t>Future of AI</a:t>
            </a:r>
          </a:p>
        </p:txBody>
      </p:sp>
      <p:sp>
        <p:nvSpPr>
          <p:cNvPr id="3" name="Subtitle 2">
            <a:extLst>
              <a:ext uri="{FF2B5EF4-FFF2-40B4-BE49-F238E27FC236}">
                <a16:creationId xmlns:a16="http://schemas.microsoft.com/office/drawing/2014/main" id="{DD03CA5B-3955-4CEB-AA02-D3551B2464DD}"/>
              </a:ext>
            </a:extLst>
          </p:cNvPr>
          <p:cNvSpPr>
            <a:spLocks noGrp="1"/>
          </p:cNvSpPr>
          <p:nvPr>
            <p:ph type="subTitle" idx="1"/>
          </p:nvPr>
        </p:nvSpPr>
        <p:spPr>
          <a:xfrm>
            <a:off x="2058571" y="3007566"/>
            <a:ext cx="9270609" cy="2320461"/>
          </a:xfrm>
        </p:spPr>
        <p:txBody>
          <a:bodyPr>
            <a:normAutofit/>
          </a:bodyPr>
          <a:lstStyle/>
          <a:p>
            <a:pPr marL="342900" indent="-342900" algn="l">
              <a:buFont typeface="Wingdings" panose="05000000000000000000" pitchFamily="2" charset="2"/>
              <a:buChar char="Ø"/>
            </a:pPr>
            <a:r>
              <a:rPr lang="en-US" dirty="0"/>
              <a:t>The future is really unknown</a:t>
            </a:r>
          </a:p>
          <a:p>
            <a:pPr marL="342900" indent="-342900" algn="l">
              <a:buFont typeface="Wingdings" panose="05000000000000000000" pitchFamily="2" charset="2"/>
              <a:buChar char="Ø"/>
            </a:pPr>
            <a:r>
              <a:rPr lang="en-US" dirty="0"/>
              <a:t>Researchers seem to disagree on a lot of the same issues</a:t>
            </a:r>
          </a:p>
          <a:p>
            <a:pPr marL="342900" indent="-342900" algn="l">
              <a:buFont typeface="Wingdings" panose="05000000000000000000" pitchFamily="2" charset="2"/>
              <a:buChar char="Ø"/>
            </a:pPr>
            <a:r>
              <a:rPr lang="en-US" dirty="0"/>
              <a:t> With the rate at which technology is improving it is logical to believe AI will continue to get more and more sophisticated.</a:t>
            </a:r>
          </a:p>
          <a:p>
            <a:pPr marL="342900" indent="-342900" algn="l">
              <a:buFont typeface="Wingdings" panose="05000000000000000000" pitchFamily="2" charset="2"/>
              <a:buChar char="Ø"/>
            </a:pPr>
            <a:r>
              <a:rPr lang="en-US" dirty="0"/>
              <a:t>Scientist trying to make Strong AI which is more intelligent than human.</a:t>
            </a:r>
          </a:p>
        </p:txBody>
      </p:sp>
    </p:spTree>
    <p:extLst>
      <p:ext uri="{BB962C8B-B14F-4D97-AF65-F5344CB8AC3E}">
        <p14:creationId xmlns:p14="http://schemas.microsoft.com/office/powerpoint/2010/main" val="3788718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139D0-FDEA-4124-9FE1-23A21738DEC8}"/>
              </a:ext>
            </a:extLst>
          </p:cNvPr>
          <p:cNvSpPr>
            <a:spLocks noGrp="1"/>
          </p:cNvSpPr>
          <p:nvPr>
            <p:ph type="ctrTitle"/>
          </p:nvPr>
        </p:nvSpPr>
        <p:spPr>
          <a:xfrm>
            <a:off x="2011678" y="1108295"/>
            <a:ext cx="9144000" cy="1128468"/>
          </a:xfrm>
        </p:spPr>
        <p:txBody>
          <a:bodyPr/>
          <a:lstStyle/>
          <a:p>
            <a:pPr algn="l"/>
            <a:r>
              <a:rPr lang="en-US" dirty="0"/>
              <a:t>Conclusion</a:t>
            </a:r>
          </a:p>
        </p:txBody>
      </p:sp>
      <p:sp>
        <p:nvSpPr>
          <p:cNvPr id="3" name="Subtitle 2">
            <a:extLst>
              <a:ext uri="{FF2B5EF4-FFF2-40B4-BE49-F238E27FC236}">
                <a16:creationId xmlns:a16="http://schemas.microsoft.com/office/drawing/2014/main" id="{BF1D2C32-2115-4F4D-AA7E-F2C1BF8FA68B}"/>
              </a:ext>
            </a:extLst>
          </p:cNvPr>
          <p:cNvSpPr>
            <a:spLocks noGrp="1"/>
          </p:cNvSpPr>
          <p:nvPr>
            <p:ph type="subTitle" idx="1"/>
          </p:nvPr>
        </p:nvSpPr>
        <p:spPr>
          <a:xfrm>
            <a:off x="1847556" y="2864887"/>
            <a:ext cx="8496888" cy="2382362"/>
          </a:xfrm>
        </p:spPr>
        <p:txBody>
          <a:bodyPr/>
          <a:lstStyle/>
          <a:p>
            <a:pPr algn="just"/>
            <a:r>
              <a:rPr lang="en-US" dirty="0"/>
              <a:t>Technology is blessing for human if we use it right way ,otherwise it can be harmful for everyone.</a:t>
            </a:r>
          </a:p>
        </p:txBody>
      </p:sp>
    </p:spTree>
    <p:extLst>
      <p:ext uri="{BB962C8B-B14F-4D97-AF65-F5344CB8AC3E}">
        <p14:creationId xmlns:p14="http://schemas.microsoft.com/office/powerpoint/2010/main" val="215562352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TM02892315[[fn=Wisp]]</Template>
  <TotalTime>88</TotalTime>
  <Words>640</Words>
  <Application>Microsoft Office PowerPoint</Application>
  <PresentationFormat>Widescreen</PresentationFormat>
  <Paragraphs>54</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Algerian</vt:lpstr>
      <vt:lpstr>Arial</vt:lpstr>
      <vt:lpstr>Century Gothic</vt:lpstr>
      <vt:lpstr>Times New Roman</vt:lpstr>
      <vt:lpstr>Wingdings</vt:lpstr>
      <vt:lpstr>Wingdings 3</vt:lpstr>
      <vt:lpstr>Wisp</vt:lpstr>
      <vt:lpstr>PowerPoint Presentation</vt:lpstr>
      <vt:lpstr>What Is artificial intelligence? </vt:lpstr>
      <vt:lpstr>History of Artificial Intelligence</vt:lpstr>
      <vt:lpstr> Goals of Artificial Intelligence</vt:lpstr>
      <vt:lpstr>Using AI In Daily life </vt:lpstr>
      <vt:lpstr>Virtual Personal Assistants</vt:lpstr>
      <vt:lpstr>Healthcare</vt:lpstr>
      <vt:lpstr>Banking </vt:lpstr>
      <vt:lpstr>Driver-less Transportation</vt:lpstr>
      <vt:lpstr>Smart Home Devices </vt:lpstr>
      <vt:lpstr>Advantage of AI</vt:lpstr>
      <vt:lpstr>Disadvantage of AI</vt:lpstr>
      <vt:lpstr>Future of AI</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Impact of artificial intelligence in everyday life</dc:title>
  <dc:creator>Kawsher Mahbub</dc:creator>
  <cp:lastModifiedBy>Kawsher Mahbub</cp:lastModifiedBy>
  <cp:revision>13</cp:revision>
  <dcterms:created xsi:type="dcterms:W3CDTF">2019-12-27T15:05:14Z</dcterms:created>
  <dcterms:modified xsi:type="dcterms:W3CDTF">2019-12-29T17:29:44Z</dcterms:modified>
</cp:coreProperties>
</file>