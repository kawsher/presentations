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6" r:id="rId1"/>
  </p:sldMasterIdLst>
  <p:notesMasterIdLst>
    <p:notesMasterId r:id="rId14"/>
  </p:notesMasterIdLst>
  <p:sldIdLst>
    <p:sldId id="264" r:id="rId2"/>
    <p:sldId id="265" r:id="rId3"/>
    <p:sldId id="266" r:id="rId4"/>
    <p:sldId id="258" r:id="rId5"/>
    <p:sldId id="259" r:id="rId6"/>
    <p:sldId id="260" r:id="rId7"/>
    <p:sldId id="261" r:id="rId8"/>
    <p:sldId id="262" r:id="rId9"/>
    <p:sldId id="263" r:id="rId10"/>
    <p:sldId id="267" r:id="rId11"/>
    <p:sldId id="268" r:id="rId12"/>
    <p:sldId id="26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7158" autoAdjust="0"/>
  </p:normalViewPr>
  <p:slideViewPr>
    <p:cSldViewPr>
      <p:cViewPr varScale="1">
        <p:scale>
          <a:sx n="72" d="100"/>
          <a:sy n="72" d="100"/>
        </p:scale>
        <p:origin x="-1326" y="-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693423-6458-439D-A7D6-0F1E102C8425}" type="datetimeFigureOut">
              <a:rPr lang="en-US" smtClean="0"/>
              <a:t>18-Apr-17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F8DEAA-0A26-4E54-ACAC-A27261B959E5}" type="slidenum">
              <a:rPr lang="en-US" smtClean="0"/>
              <a:t>‹#›</a:t>
            </a:fld>
            <a:endParaRPr lang="en-US"/>
          </a:p>
        </p:txBody>
      </p:sp>
    </p:spTree>
    <p:extLst>
      <p:ext uri="{BB962C8B-B14F-4D97-AF65-F5344CB8AC3E}">
        <p14:creationId xmlns:p14="http://schemas.microsoft.com/office/powerpoint/2010/main" val="3184889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F8DEAA-0A26-4E54-ACAC-A27261B959E5}" type="slidenum">
              <a:rPr lang="en-US" smtClean="0"/>
              <a:t>11</a:t>
            </a:fld>
            <a:endParaRPr lang="en-US"/>
          </a:p>
        </p:txBody>
      </p:sp>
    </p:spTree>
    <p:extLst>
      <p:ext uri="{BB962C8B-B14F-4D97-AF65-F5344CB8AC3E}">
        <p14:creationId xmlns:p14="http://schemas.microsoft.com/office/powerpoint/2010/main" val="3796644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AB6639E7-9D63-45AA-871B-8B2DA467DAB8}" type="datetime1">
              <a:rPr lang="en-US" smtClean="0"/>
              <a:t>18-Apr-17</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39B1E3E2-56D6-4A45-9372-0002E404ECC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40310577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9332752A-4D98-42D0-B9C6-B7639B4DEA1E}" type="datetime1">
              <a:rPr lang="en-US" smtClean="0"/>
              <a:t>18-Apr-17</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21061288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07948F4-5504-4EE4-9666-A2E04DCDA7C3}" type="datetime1">
              <a:rPr lang="en-US" smtClean="0"/>
              <a:t>18-Apr-17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39249029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D7BAC94-5011-421B-9C22-46682BD3A25B}" type="datetime1">
              <a:rPr lang="en-US" smtClean="0"/>
              <a:t>18-Apr-17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37999122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C5C11EA-6BF5-46DE-B4F2-FAC9D11613B0}" type="datetime1">
              <a:rPr lang="en-US" smtClean="0"/>
              <a:t>18-Apr-17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25949901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5C9568C-0FCC-41BF-9A04-BEF40BB62EDE}" type="datetime1">
              <a:rPr lang="en-US" smtClean="0"/>
              <a:t>18-Apr-17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2893593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0EE719-D63A-465E-B6D9-33E45D7E29D3}" type="datetime1">
              <a:rPr lang="en-US" smtClean="0"/>
              <a:t>18-Apr-17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13201258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020628-CCE8-42EF-8363-890846134943}" type="datetime1">
              <a:rPr lang="en-US" smtClean="0"/>
              <a:t>18-Apr-17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42425409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496392-F75E-4EE2-BD6A-EDE50508D14A}" type="datetime1">
              <a:rPr lang="en-US" smtClean="0"/>
              <a:t>18-Apr-17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38593975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CF67B4-567F-4FB7-9F80-679FEBCCEADB}" type="datetime1">
              <a:rPr lang="en-US" smtClean="0"/>
              <a:t>18-Apr-17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25719064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65552C0-CAFB-47DE-84F1-A675D0F35491}" type="datetime1">
              <a:rPr lang="en-US" smtClean="0"/>
              <a:t>18-Apr-17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4939657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E6E6B9-4196-4A49-9FF6-CF8F8DE81922}" type="datetime1">
              <a:rPr lang="en-US" smtClean="0"/>
              <a:t>18-Apr-17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9036747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9CACF0F-FE87-4884-B3FB-20D86BFC1FC7}" type="datetime1">
              <a:rPr lang="en-US" smtClean="0"/>
              <a:t>18-Apr-17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36631002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79FA4E-728A-4C56-AFB5-31A6BA36118A}" type="datetime1">
              <a:rPr lang="en-US" smtClean="0"/>
              <a:t>18-Apr-17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12862000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4BAC679-D9C1-414C-A637-A0C38F76BB1F}" type="datetime1">
              <a:rPr lang="en-US" smtClean="0"/>
              <a:t>18-Apr-17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1690100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DD3256-8F66-4BBE-BE57-43ABD37AD85B}" type="datetime1">
              <a:rPr lang="en-US" smtClean="0"/>
              <a:t>18-Apr-17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28015757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E27BDE-6381-425F-8327-CAF9C93ECB94}" type="datetime1">
              <a:rPr lang="en-US" smtClean="0"/>
              <a:t>18-Apr-17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1E3E2-56D6-4A45-9372-0002E404ECCF}" type="slidenum">
              <a:rPr lang="en-US" smtClean="0"/>
              <a:t>‹#›</a:t>
            </a:fld>
            <a:endParaRPr lang="en-US"/>
          </a:p>
        </p:txBody>
      </p:sp>
    </p:spTree>
    <p:extLst>
      <p:ext uri="{BB962C8B-B14F-4D97-AF65-F5344CB8AC3E}">
        <p14:creationId xmlns:p14="http://schemas.microsoft.com/office/powerpoint/2010/main" val="6707984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E323C95-9C57-4DDE-8ECE-F40EBDBBD7CF}" type="datetime1">
              <a:rPr lang="en-US" smtClean="0"/>
              <a:t>18-Apr-17</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9B1E3E2-56D6-4A45-9372-0002E404ECCF}" type="slidenum">
              <a:rPr lang="en-US" smtClean="0"/>
              <a:t>‹#›</a:t>
            </a:fld>
            <a:endParaRPr lang="en-US"/>
          </a:p>
        </p:txBody>
      </p:sp>
    </p:spTree>
    <p:extLst>
      <p:ext uri="{BB962C8B-B14F-4D97-AF65-F5344CB8AC3E}">
        <p14:creationId xmlns:p14="http://schemas.microsoft.com/office/powerpoint/2010/main" val="4267438804"/>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1" y="2063033"/>
            <a:ext cx="8229600" cy="1828800"/>
          </a:xfrm>
        </p:spPr>
        <p:txBody>
          <a:bodyPr>
            <a:normAutofit fontScale="90000"/>
          </a:bodyPr>
          <a:lstStyle/>
          <a:p>
            <a:pPr algn="ctr"/>
            <a:r>
              <a:rPr lang="en-MY" sz="4000" b="1" dirty="0" smtClean="0">
                <a:latin typeface="Garamond" panose="02020404030301010803" pitchFamily="18" charset="0"/>
              </a:rPr>
              <a:t>Bangladesh University OF Business And Technology</a:t>
            </a:r>
            <a:br>
              <a:rPr lang="en-MY" sz="4000" b="1" dirty="0" smtClean="0">
                <a:latin typeface="Garamond" panose="02020404030301010803" pitchFamily="18" charset="0"/>
              </a:rPr>
            </a:br>
            <a:endParaRPr lang="en-MY" sz="4000" b="1" dirty="0">
              <a:latin typeface="Garamond" panose="02020404030301010803" pitchFamily="18" charset="0"/>
            </a:endParaRPr>
          </a:p>
        </p:txBody>
      </p:sp>
      <p:sp>
        <p:nvSpPr>
          <p:cNvPr id="3" name="Subtitle 2"/>
          <p:cNvSpPr>
            <a:spLocks noGrp="1"/>
          </p:cNvSpPr>
          <p:nvPr>
            <p:ph type="subTitle" idx="1"/>
          </p:nvPr>
        </p:nvSpPr>
        <p:spPr>
          <a:xfrm>
            <a:off x="2924238" y="4402666"/>
            <a:ext cx="6143562" cy="2226734"/>
          </a:xfrm>
        </p:spPr>
        <p:txBody>
          <a:bodyPr>
            <a:normAutofit/>
          </a:bodyPr>
          <a:lstStyle/>
          <a:p>
            <a:r>
              <a:rPr lang="en-MY" sz="2800" b="1" u="sng" dirty="0" smtClean="0"/>
              <a:t>Presented by</a:t>
            </a:r>
          </a:p>
          <a:p>
            <a:r>
              <a:rPr lang="en-MY" sz="2400" b="1" dirty="0" smtClean="0"/>
              <a:t>Group:  </a:t>
            </a:r>
            <a:r>
              <a:rPr lang="en-MY" sz="2400" b="1" dirty="0"/>
              <a:t>Youth </a:t>
            </a:r>
            <a:r>
              <a:rPr lang="en-MY" sz="2400" b="1" dirty="0" smtClean="0"/>
              <a:t>Challenger </a:t>
            </a:r>
            <a:endParaRPr lang="en-MY" sz="2400" dirty="0" smtClean="0"/>
          </a:p>
          <a:p>
            <a:r>
              <a:rPr lang="en-MY" sz="2400" b="1" dirty="0" smtClean="0"/>
              <a:t>Department of CSE</a:t>
            </a:r>
          </a:p>
          <a:p>
            <a:pPr marL="342900" indent="-342900">
              <a:buFont typeface="Wingdings" panose="05000000000000000000" pitchFamily="2" charset="2"/>
              <a:buChar char="§"/>
            </a:pPr>
            <a:endParaRPr lang="en-MY" sz="2400" b="1" u="sng" dirty="0" smtClean="0"/>
          </a:p>
        </p:txBody>
      </p:sp>
      <p:pic>
        <p:nvPicPr>
          <p:cNvPr id="4" name="Picture 3"/>
          <p:cNvPicPr>
            <a:picLocks noChangeAspect="1"/>
          </p:cNvPicPr>
          <p:nvPr/>
        </p:nvPicPr>
        <p:blipFill>
          <a:blip r:embed="rId2"/>
          <a:stretch>
            <a:fillRect/>
          </a:stretch>
        </p:blipFill>
        <p:spPr>
          <a:xfrm>
            <a:off x="3617893" y="29570"/>
            <a:ext cx="1908213" cy="2011854"/>
          </a:xfrm>
          <a:prstGeom prst="rect">
            <a:avLst/>
          </a:prstGeom>
        </p:spPr>
      </p:pic>
      <p:sp>
        <p:nvSpPr>
          <p:cNvPr id="6" name="TextBox 5"/>
          <p:cNvSpPr txBox="1"/>
          <p:nvPr/>
        </p:nvSpPr>
        <p:spPr>
          <a:xfrm>
            <a:off x="1524000" y="3827583"/>
            <a:ext cx="5791907" cy="523220"/>
          </a:xfrm>
          <a:prstGeom prst="rect">
            <a:avLst/>
          </a:prstGeom>
          <a:noFill/>
        </p:spPr>
        <p:txBody>
          <a:bodyPr wrap="none" rtlCol="0">
            <a:spAutoFit/>
          </a:bodyPr>
          <a:lstStyle/>
          <a:p>
            <a:r>
              <a:rPr lang="en-MY" sz="2800" b="1" dirty="0" smtClean="0"/>
              <a:t>Subject: </a:t>
            </a:r>
            <a:r>
              <a:rPr lang="en-MY" sz="2800" dirty="0" smtClean="0"/>
              <a:t>Technological Advancement </a:t>
            </a:r>
            <a:endParaRPr lang="en-MY" sz="2800" b="1" dirty="0"/>
          </a:p>
        </p:txBody>
      </p:sp>
    </p:spTree>
    <p:extLst>
      <p:ext uri="{BB962C8B-B14F-4D97-AF65-F5344CB8AC3E}">
        <p14:creationId xmlns:p14="http://schemas.microsoft.com/office/powerpoint/2010/main" val="9989039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MY" sz="4000" b="1" u="sng" dirty="0" smtClean="0">
                <a:latin typeface="Garamond" panose="02020404030301010803" pitchFamily="18" charset="0"/>
                <a:cs typeface="Calibri" panose="020F0502020204030204" pitchFamily="34" charset="0"/>
              </a:rPr>
              <a:t>OUTLINE</a:t>
            </a:r>
            <a:endParaRPr lang="en-MY" sz="4000" b="1" u="sng" dirty="0">
              <a:latin typeface="Garamond" panose="02020404030301010803" pitchFamily="18" charset="0"/>
              <a:cs typeface="Calibri" panose="020F0502020204030204" pitchFamily="34" charset="0"/>
            </a:endParaRP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MY" dirty="0"/>
              <a:t> </a:t>
            </a:r>
            <a:r>
              <a:rPr lang="en-MY" sz="2800" dirty="0" smtClean="0"/>
              <a:t>INTRODUCTION</a:t>
            </a:r>
          </a:p>
          <a:p>
            <a:pPr>
              <a:buFont typeface="Wingdings" panose="05000000000000000000" pitchFamily="2" charset="2"/>
              <a:buChar char="Ø"/>
            </a:pPr>
            <a:r>
              <a:rPr lang="en-MY" sz="2800" dirty="0"/>
              <a:t> </a:t>
            </a:r>
            <a:r>
              <a:rPr lang="en-MY" sz="2800" dirty="0" smtClean="0"/>
              <a:t>TECHNOLOGICAL ADVANCEMENT IN</a:t>
            </a:r>
          </a:p>
          <a:p>
            <a:pPr marL="0" indent="0">
              <a:buNone/>
            </a:pPr>
            <a:r>
              <a:rPr lang="en-MY" sz="2800" dirty="0" smtClean="0"/>
              <a:t>      DIFFERENT SECTORS</a:t>
            </a:r>
          </a:p>
          <a:p>
            <a:pPr>
              <a:buFont typeface="Wingdings" panose="05000000000000000000" pitchFamily="2" charset="2"/>
              <a:buChar char="Ø"/>
            </a:pPr>
            <a:r>
              <a:rPr lang="en-MY" sz="2800" dirty="0"/>
              <a:t> </a:t>
            </a:r>
            <a:r>
              <a:rPr lang="en-MY" sz="2800" dirty="0" smtClean="0"/>
              <a:t>IMPORTANCE OF TECHNOLOGICAL   </a:t>
            </a:r>
            <a:r>
              <a:rPr lang="en-MY" sz="2800" dirty="0" smtClean="0">
                <a:latin typeface="Garamond" panose="02020404030301010803" pitchFamily="18" charset="0"/>
              </a:rPr>
              <a:t>    </a:t>
            </a:r>
            <a:r>
              <a:rPr lang="en-MY" sz="2800" dirty="0" smtClean="0"/>
              <a:t>         ADVANCEMENT </a:t>
            </a:r>
          </a:p>
          <a:p>
            <a:pPr>
              <a:buFont typeface="Wingdings" panose="05000000000000000000" pitchFamily="2" charset="2"/>
              <a:buChar char="Ø"/>
            </a:pPr>
            <a:r>
              <a:rPr lang="en-MY" sz="2800" dirty="0"/>
              <a:t> </a:t>
            </a:r>
            <a:r>
              <a:rPr lang="en-MY" sz="2800" dirty="0" smtClean="0"/>
              <a:t>CONCLUSION</a:t>
            </a:r>
          </a:p>
          <a:p>
            <a:pPr marL="0" indent="0">
              <a:buNone/>
            </a:pPr>
            <a:endParaRPr lang="en-MY" dirty="0"/>
          </a:p>
        </p:txBody>
      </p:sp>
      <p:sp>
        <p:nvSpPr>
          <p:cNvPr id="4" name="Slide Number Placeholder 3"/>
          <p:cNvSpPr>
            <a:spLocks noGrp="1"/>
          </p:cNvSpPr>
          <p:nvPr>
            <p:ph type="sldNum" sz="quarter" idx="12"/>
          </p:nvPr>
        </p:nvSpPr>
        <p:spPr/>
        <p:txBody>
          <a:bodyPr/>
          <a:lstStyle/>
          <a:p>
            <a:fld id="{39B1E3E2-56D6-4A45-9372-0002E404ECCF}" type="slidenum">
              <a:rPr lang="en-US" smtClean="0"/>
              <a:t>2</a:t>
            </a:fld>
            <a:endParaRPr lang="en-US"/>
          </a:p>
        </p:txBody>
      </p:sp>
    </p:spTree>
    <p:extLst>
      <p:ext uri="{BB962C8B-B14F-4D97-AF65-F5344CB8AC3E}">
        <p14:creationId xmlns:p14="http://schemas.microsoft.com/office/powerpoint/2010/main" val="3080122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6" dur="500"/>
                                        <p:tgtEl>
                                          <p:spTgt spid="3">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u="sng" dirty="0" smtClean="0"/>
              <a:t>INTRODUCTION</a:t>
            </a:r>
            <a:endParaRPr lang="en-MY" b="1" u="sng" dirty="0"/>
          </a:p>
        </p:txBody>
      </p:sp>
      <p:sp>
        <p:nvSpPr>
          <p:cNvPr id="3" name="Content Placeholder 2"/>
          <p:cNvSpPr>
            <a:spLocks noGrp="1"/>
          </p:cNvSpPr>
          <p:nvPr>
            <p:ph idx="1"/>
          </p:nvPr>
        </p:nvSpPr>
        <p:spPr>
          <a:xfrm>
            <a:off x="970760" y="2209801"/>
            <a:ext cx="7716040" cy="4648199"/>
          </a:xfrm>
        </p:spPr>
        <p:txBody>
          <a:bodyPr>
            <a:normAutofit/>
          </a:bodyPr>
          <a:lstStyle/>
          <a:p>
            <a:pPr>
              <a:buFont typeface="Wingdings" panose="05000000000000000000" pitchFamily="2" charset="2"/>
              <a:buChar char="Ø"/>
            </a:pPr>
            <a:endParaRPr lang="en-MY" sz="3200" b="1" dirty="0" smtClean="0"/>
          </a:p>
          <a:p>
            <a:pPr>
              <a:buFont typeface="Wingdings" panose="05000000000000000000" pitchFamily="2" charset="2"/>
              <a:buChar char="Ø"/>
            </a:pPr>
            <a:r>
              <a:rPr lang="en-MY" sz="3200" b="1" dirty="0" smtClean="0"/>
              <a:t> What is Technology?</a:t>
            </a:r>
          </a:p>
          <a:p>
            <a:pPr marL="0" indent="0">
              <a:buNone/>
            </a:pPr>
            <a:r>
              <a:rPr lang="en-MY" dirty="0"/>
              <a:t>      The word "technology" can </a:t>
            </a:r>
            <a:r>
              <a:rPr lang="en-MY" dirty="0" smtClean="0"/>
              <a:t>be </a:t>
            </a:r>
            <a:r>
              <a:rPr lang="en-MY" dirty="0"/>
              <a:t>used to refer to a collection of techniques. In this context, it is the current state of humanity's knowledge of how to combine resources to produce desired products, to solve problems, </a:t>
            </a:r>
            <a:r>
              <a:rPr lang="en-MY" dirty="0" smtClean="0"/>
              <a:t>fulfil </a:t>
            </a:r>
            <a:r>
              <a:rPr lang="en-MY" dirty="0"/>
              <a:t>needs, or satisfy </a:t>
            </a:r>
            <a:r>
              <a:rPr lang="en-MY" dirty="0" smtClean="0"/>
              <a:t>wants.</a:t>
            </a:r>
          </a:p>
          <a:p>
            <a:pPr marL="0" indent="0">
              <a:buNone/>
            </a:pPr>
            <a:endParaRPr lang="en-MY" sz="2600" b="1" dirty="0" smtClean="0"/>
          </a:p>
          <a:p>
            <a:pPr marL="0" indent="0">
              <a:buNone/>
            </a:pPr>
            <a:r>
              <a:rPr lang="en-MY" sz="2600" b="1" dirty="0"/>
              <a:t> </a:t>
            </a:r>
            <a:r>
              <a:rPr lang="en-MY" sz="2600" b="1" dirty="0" smtClean="0"/>
              <a:t>                       </a:t>
            </a:r>
          </a:p>
          <a:p>
            <a:pPr marL="0" indent="0">
              <a:buNone/>
            </a:pPr>
            <a:endParaRPr lang="en-MY" sz="3200" b="1" dirty="0"/>
          </a:p>
        </p:txBody>
      </p:sp>
      <p:sp>
        <p:nvSpPr>
          <p:cNvPr id="4" name="Slide Number Placeholder 3"/>
          <p:cNvSpPr>
            <a:spLocks noGrp="1"/>
          </p:cNvSpPr>
          <p:nvPr>
            <p:ph type="sldNum" sz="quarter" idx="12"/>
          </p:nvPr>
        </p:nvSpPr>
        <p:spPr/>
        <p:txBody>
          <a:bodyPr/>
          <a:lstStyle/>
          <a:p>
            <a:fld id="{39B1E3E2-56D6-4A45-9372-0002E404ECCF}" type="slidenum">
              <a:rPr lang="en-US" smtClean="0"/>
              <a:t>3</a:t>
            </a:fld>
            <a:endParaRPr lang="en-US"/>
          </a:p>
        </p:txBody>
      </p:sp>
    </p:spTree>
    <p:extLst>
      <p:ext uri="{BB962C8B-B14F-4D97-AF65-F5344CB8AC3E}">
        <p14:creationId xmlns:p14="http://schemas.microsoft.com/office/powerpoint/2010/main" val="17089772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par>
                          <p:cTn id="8" fill="hold">
                            <p:stCondLst>
                              <p:cond delay="2000"/>
                            </p:stCondLst>
                            <p:childTnLst>
                              <p:par>
                                <p:cTn id="9" presetID="6" presetClass="entr" presetSubtype="16"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circle(in)">
                                      <p:cBhvr>
                                        <p:cTn id="11"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t>Technological advancement </a:t>
            </a:r>
            <a:r>
              <a:rPr lang="en-US" sz="3200" b="1" u="sng" dirty="0" smtClean="0"/>
              <a:t>in different sectors</a:t>
            </a:r>
            <a:endParaRPr lang="en-US" sz="3200" b="1" u="sng" dirty="0"/>
          </a:p>
        </p:txBody>
      </p:sp>
      <p:sp>
        <p:nvSpPr>
          <p:cNvPr id="3" name="Content Placeholder 2"/>
          <p:cNvSpPr>
            <a:spLocks noGrp="1"/>
          </p:cNvSpPr>
          <p:nvPr>
            <p:ph idx="1"/>
          </p:nvPr>
        </p:nvSpPr>
        <p:spPr>
          <a:xfrm>
            <a:off x="913894" y="2148840"/>
            <a:ext cx="8229600" cy="4709160"/>
          </a:xfrm>
        </p:spPr>
        <p:txBody>
          <a:bodyPr/>
          <a:lstStyle/>
          <a:p>
            <a:pPr marL="137160" indent="0" algn="ctr">
              <a:buNone/>
            </a:pPr>
            <a:endParaRPr lang="en-US" sz="4400" dirty="0">
              <a:solidFill>
                <a:schemeClr val="accent4">
                  <a:lumMod val="60000"/>
                  <a:lumOff val="40000"/>
                </a:schemeClr>
              </a:solidFill>
            </a:endParaRPr>
          </a:p>
          <a:p>
            <a:pPr marL="137160" indent="0" algn="ctr">
              <a:buNone/>
            </a:pPr>
            <a:endParaRPr lang="en-US" dirty="0" smtClean="0"/>
          </a:p>
          <a:p>
            <a:r>
              <a:rPr lang="en-US" dirty="0" smtClean="0"/>
              <a:t>Space </a:t>
            </a:r>
            <a:r>
              <a:rPr lang="en-US" dirty="0"/>
              <a:t>technology.</a:t>
            </a:r>
          </a:p>
          <a:p>
            <a:r>
              <a:rPr lang="en-US" dirty="0">
                <a:latin typeface="Garamond" panose="02020404030301010803" pitchFamily="18" charset="0"/>
              </a:rPr>
              <a:t>I</a:t>
            </a:r>
            <a:r>
              <a:rPr lang="en-US" dirty="0" smtClean="0"/>
              <a:t>nformation </a:t>
            </a:r>
            <a:r>
              <a:rPr lang="en-US" dirty="0"/>
              <a:t>technology.</a:t>
            </a:r>
          </a:p>
          <a:p>
            <a:r>
              <a:rPr lang="en-US" dirty="0"/>
              <a:t>Leaser </a:t>
            </a:r>
            <a:r>
              <a:rPr lang="en-US" dirty="0" smtClean="0"/>
              <a:t>technology</a:t>
            </a:r>
            <a:endParaRPr lang="en-US" dirty="0"/>
          </a:p>
          <a:p>
            <a:r>
              <a:rPr lang="en-US" dirty="0"/>
              <a:t>Bio-technology.</a:t>
            </a:r>
          </a:p>
          <a:p>
            <a:r>
              <a:rPr lang="en-US" dirty="0"/>
              <a:t>Nano technology.</a:t>
            </a:r>
          </a:p>
          <a:p>
            <a:endParaRPr lang="en-US" dirty="0"/>
          </a:p>
          <a:p>
            <a:pPr marL="137160" indent="0">
              <a:buNone/>
            </a:pPr>
            <a:endParaRPr lang="en-US" dirty="0"/>
          </a:p>
        </p:txBody>
      </p:sp>
      <p:sp>
        <p:nvSpPr>
          <p:cNvPr id="4" name="Slide Number Placeholder 3"/>
          <p:cNvSpPr>
            <a:spLocks noGrp="1"/>
          </p:cNvSpPr>
          <p:nvPr>
            <p:ph type="sldNum" sz="quarter" idx="12"/>
          </p:nvPr>
        </p:nvSpPr>
        <p:spPr/>
        <p:txBody>
          <a:bodyPr/>
          <a:lstStyle/>
          <a:p>
            <a:fld id="{39B1E3E2-56D6-4A45-9372-0002E404ECCF}" type="slidenum">
              <a:rPr lang="en-US" smtClean="0"/>
              <a:t>4</a:t>
            </a:fld>
            <a:endParaRPr lang="en-US"/>
          </a:p>
        </p:txBody>
      </p:sp>
    </p:spTree>
    <p:extLst>
      <p:ext uri="{BB962C8B-B14F-4D97-AF65-F5344CB8AC3E}">
        <p14:creationId xmlns:p14="http://schemas.microsoft.com/office/powerpoint/2010/main" val="1288126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anim calcmode="lin" valueType="num">
                                      <p:cBhvr>
                                        <p:cTn id="1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1000"/>
                                        <p:tgtEl>
                                          <p:spTgt spid="3">
                                            <p:txEl>
                                              <p:pRg st="5" end="5"/>
                                            </p:txEl>
                                          </p:spTgt>
                                        </p:tgtEl>
                                      </p:cBhvr>
                                    </p:animEffect>
                                    <p:anim calcmode="lin" valueType="num">
                                      <p:cBhvr>
                                        <p:cTn id="2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1000"/>
                                        <p:tgtEl>
                                          <p:spTgt spid="3">
                                            <p:txEl>
                                              <p:pRg st="6" end="6"/>
                                            </p:txEl>
                                          </p:spTgt>
                                        </p:tgtEl>
                                      </p:cBhvr>
                                    </p:animEffect>
                                    <p:anim calcmode="lin" valueType="num">
                                      <p:cBhvr>
                                        <p:cTn id="3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099" y="152400"/>
            <a:ext cx="7467600" cy="1162050"/>
          </a:xfrm>
        </p:spPr>
        <p:txBody>
          <a:bodyPr>
            <a:normAutofit/>
          </a:bodyPr>
          <a:lstStyle/>
          <a:p>
            <a:r>
              <a:rPr lang="en-US" sz="3200" b="1" dirty="0" smtClean="0"/>
              <a:t>What is Space technology?</a:t>
            </a:r>
            <a:endParaRPr lang="en-US" sz="3200" b="1" dirty="0"/>
          </a:p>
        </p:txBody>
      </p:sp>
      <p:sp>
        <p:nvSpPr>
          <p:cNvPr id="3" name="Text Placeholder 2"/>
          <p:cNvSpPr>
            <a:spLocks noGrp="1"/>
          </p:cNvSpPr>
          <p:nvPr>
            <p:ph type="body" sz="half" idx="2"/>
          </p:nvPr>
        </p:nvSpPr>
        <p:spPr>
          <a:xfrm>
            <a:off x="762000" y="1524000"/>
            <a:ext cx="3962400" cy="4602163"/>
          </a:xfrm>
        </p:spPr>
        <p:txBody>
          <a:bodyPr>
            <a:normAutofit/>
          </a:bodyPr>
          <a:lstStyle/>
          <a:p>
            <a:pPr algn="just"/>
            <a:r>
              <a:rPr lang="en-US" sz="2400" dirty="0" smtClean="0"/>
              <a:t>Space technology  is that technology  which is  related  to entering space, maintaining  and using system in space and retuning people  and things from space.</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00" y="2602657"/>
            <a:ext cx="3276600" cy="2444848"/>
          </a:xfrm>
          <a:prstGeom prst="rect">
            <a:avLst/>
          </a:prstGeom>
        </p:spPr>
      </p:pic>
      <p:sp>
        <p:nvSpPr>
          <p:cNvPr id="5" name="Slide Number Placeholder 4"/>
          <p:cNvSpPr>
            <a:spLocks noGrp="1"/>
          </p:cNvSpPr>
          <p:nvPr>
            <p:ph type="sldNum" sz="quarter" idx="12"/>
          </p:nvPr>
        </p:nvSpPr>
        <p:spPr/>
        <p:txBody>
          <a:bodyPr/>
          <a:lstStyle/>
          <a:p>
            <a:fld id="{39B1E3E2-56D6-4A45-9372-0002E404ECCF}" type="slidenum">
              <a:rPr lang="en-US" smtClean="0"/>
              <a:t>5</a:t>
            </a:fld>
            <a:endParaRPr lang="en-US"/>
          </a:p>
        </p:txBody>
      </p:sp>
    </p:spTree>
    <p:extLst>
      <p:ext uri="{BB962C8B-B14F-4D97-AF65-F5344CB8AC3E}">
        <p14:creationId xmlns:p14="http://schemas.microsoft.com/office/powerpoint/2010/main" val="2371903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7315200" cy="484909"/>
          </a:xfrm>
        </p:spPr>
        <p:txBody>
          <a:bodyPr>
            <a:normAutofit fontScale="90000"/>
          </a:bodyPr>
          <a:lstStyle/>
          <a:p>
            <a:r>
              <a:rPr lang="en-US" sz="3200" b="1" dirty="0" smtClean="0"/>
              <a:t>What is Information technology?</a:t>
            </a:r>
            <a:endParaRPr lang="en-US" sz="3200" b="1" dirty="0"/>
          </a:p>
        </p:txBody>
      </p:sp>
      <p:sp>
        <p:nvSpPr>
          <p:cNvPr id="3" name="Text Placeholder 2"/>
          <p:cNvSpPr>
            <a:spLocks noGrp="1"/>
          </p:cNvSpPr>
          <p:nvPr>
            <p:ph type="body" sz="half" idx="2"/>
          </p:nvPr>
        </p:nvSpPr>
        <p:spPr>
          <a:xfrm>
            <a:off x="533400" y="1447800"/>
            <a:ext cx="8610600" cy="5257800"/>
          </a:xfrm>
        </p:spPr>
        <p:txBody>
          <a:bodyPr>
            <a:normAutofit fontScale="62500" lnSpcReduction="20000"/>
          </a:bodyPr>
          <a:lstStyle/>
          <a:p>
            <a:r>
              <a:rPr lang="en-US" sz="3400" b="1" dirty="0" smtClean="0"/>
              <a:t>Information technology (IT) as defined by the information technology association of America (ITAA) is any study design , development , implementation , support or management of computer hardware . It deals with the use of electronic computers and computer software to convert store project process transmit and securely retrieve information .</a:t>
            </a:r>
          </a:p>
          <a:p>
            <a:endParaRPr lang="en-US" sz="1800" dirty="0"/>
          </a:p>
          <a:p>
            <a:r>
              <a:rPr lang="en-US" sz="3800" b="1" dirty="0" smtClean="0">
                <a:solidFill>
                  <a:schemeClr val="accent6">
                    <a:lumMod val="50000"/>
                  </a:schemeClr>
                </a:solidFill>
              </a:rPr>
              <a:t>Use an application of information technology.</a:t>
            </a:r>
          </a:p>
          <a:p>
            <a:pPr marL="457200" indent="-457200" algn="l">
              <a:buFont typeface="Arial" pitchFamily="34" charset="0"/>
              <a:buChar char="•"/>
            </a:pPr>
            <a:r>
              <a:rPr lang="en-US" sz="3800" b="1" dirty="0" smtClean="0"/>
              <a:t>Business</a:t>
            </a:r>
          </a:p>
          <a:p>
            <a:pPr marL="457200" indent="-457200" algn="l">
              <a:buFont typeface="Arial" pitchFamily="34" charset="0"/>
              <a:buChar char="•"/>
            </a:pPr>
            <a:r>
              <a:rPr lang="en-US" sz="3800" b="1" dirty="0" smtClean="0"/>
              <a:t>Mobile phone</a:t>
            </a:r>
          </a:p>
          <a:p>
            <a:pPr marL="457200" indent="-457200" algn="l">
              <a:buFont typeface="Arial" pitchFamily="34" charset="0"/>
              <a:buChar char="•"/>
            </a:pPr>
            <a:r>
              <a:rPr lang="en-US" sz="3800" b="1" dirty="0" smtClean="0"/>
              <a:t>Education </a:t>
            </a:r>
          </a:p>
          <a:p>
            <a:pPr marL="457200" indent="-457200" algn="l">
              <a:buFont typeface="Arial" pitchFamily="34" charset="0"/>
              <a:buChar char="•"/>
            </a:pPr>
            <a:r>
              <a:rPr lang="en-US" sz="3800" b="1" dirty="0" smtClean="0"/>
              <a:t>Publication </a:t>
            </a:r>
          </a:p>
          <a:p>
            <a:pPr marL="457200" indent="-457200" algn="l">
              <a:buFont typeface="Arial" pitchFamily="34" charset="0"/>
              <a:buChar char="•"/>
            </a:pPr>
            <a:r>
              <a:rPr lang="en-US" sz="3800" b="1" dirty="0" smtClean="0"/>
              <a:t>Media </a:t>
            </a:r>
          </a:p>
          <a:p>
            <a:pPr marL="457200" indent="-457200" algn="l">
              <a:buFont typeface="Arial" pitchFamily="34" charset="0"/>
              <a:buChar char="•"/>
            </a:pPr>
            <a:r>
              <a:rPr lang="en-US" sz="3800" b="1" dirty="0" smtClean="0"/>
              <a:t>Defense service </a:t>
            </a:r>
          </a:p>
          <a:p>
            <a:pPr marL="457200" indent="-457200" algn="l">
              <a:buFont typeface="Arial" pitchFamily="34" charset="0"/>
              <a:buChar char="•"/>
            </a:pPr>
            <a:r>
              <a:rPr lang="en-US" sz="3800" b="1" dirty="0" smtClean="0"/>
              <a:t>Manufacturing</a:t>
            </a:r>
          </a:p>
          <a:p>
            <a:pPr marL="457200" indent="-457200">
              <a:buFont typeface="Arial" pitchFamily="34" charset="0"/>
              <a:buChar char="•"/>
            </a:pPr>
            <a:endParaRPr lang="en-US" sz="2600" b="1" dirty="0" smtClean="0"/>
          </a:p>
          <a:p>
            <a:pPr marL="457200" indent="-457200">
              <a:buFont typeface="Arial" pitchFamily="34" charset="0"/>
              <a:buChar char="•"/>
            </a:pPr>
            <a:endParaRPr lang="en-US" sz="1800" dirty="0" smtClean="0"/>
          </a:p>
          <a:p>
            <a:pPr marL="457200" indent="-457200">
              <a:buFont typeface="Arial" pitchFamily="34" charset="0"/>
              <a:buChar char="•"/>
            </a:pPr>
            <a:endParaRPr lang="en-US" sz="2800" dirty="0" smtClean="0"/>
          </a:p>
          <a:p>
            <a:endParaRPr lang="en-US" sz="1800"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0364" y="3801581"/>
            <a:ext cx="3579694" cy="2501600"/>
          </a:xfrm>
          <a:prstGeom prst="rect">
            <a:avLst/>
          </a:prstGeom>
        </p:spPr>
      </p:pic>
      <p:sp>
        <p:nvSpPr>
          <p:cNvPr id="5" name="Slide Number Placeholder 4"/>
          <p:cNvSpPr>
            <a:spLocks noGrp="1"/>
          </p:cNvSpPr>
          <p:nvPr>
            <p:ph type="sldNum" sz="quarter" idx="12"/>
          </p:nvPr>
        </p:nvSpPr>
        <p:spPr/>
        <p:txBody>
          <a:bodyPr/>
          <a:lstStyle/>
          <a:p>
            <a:fld id="{39B1E3E2-56D6-4A45-9372-0002E404ECCF}" type="slidenum">
              <a:rPr lang="en-US" smtClean="0"/>
              <a:t>6</a:t>
            </a:fld>
            <a:endParaRPr lang="en-US"/>
          </a:p>
        </p:txBody>
      </p:sp>
    </p:spTree>
    <p:extLst>
      <p:ext uri="{BB962C8B-B14F-4D97-AF65-F5344CB8AC3E}">
        <p14:creationId xmlns:p14="http://schemas.microsoft.com/office/powerpoint/2010/main" val="13616508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par>
                          <p:cTn id="11" fill="hold">
                            <p:stCondLst>
                              <p:cond delay="2000"/>
                            </p:stCondLst>
                            <p:childTnLst>
                              <p:par>
                                <p:cTn id="12" presetID="6" presetClass="entr" presetSubtype="16" fill="hold" nodeType="after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circle(in)">
                                      <p:cBhvr>
                                        <p:cTn id="14" dur="2000"/>
                                        <p:tgtEl>
                                          <p:spTgt spid="3">
                                            <p:txEl>
                                              <p:pRg st="2" end="2"/>
                                            </p:txEl>
                                          </p:spTgt>
                                        </p:tgtEl>
                                      </p:cBhvr>
                                    </p:animEffect>
                                  </p:childTnLst>
                                </p:cTn>
                              </p:par>
                            </p:childTnLst>
                          </p:cTn>
                        </p:par>
                        <p:par>
                          <p:cTn id="15" fill="hold">
                            <p:stCondLst>
                              <p:cond delay="4000"/>
                            </p:stCondLst>
                            <p:childTnLst>
                              <p:par>
                                <p:cTn id="16" presetID="22" presetClass="entr" presetSubtype="4" fill="hold" nodeType="after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par>
                          <p:cTn id="19" fill="hold">
                            <p:stCondLst>
                              <p:cond delay="4500"/>
                            </p:stCondLst>
                            <p:childTnLst>
                              <p:par>
                                <p:cTn id="20" presetID="22" presetClass="entr" presetSubtype="4" fill="hold" nodeType="after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par>
                          <p:cTn id="23" fill="hold">
                            <p:stCondLst>
                              <p:cond delay="5000"/>
                            </p:stCondLst>
                            <p:childTnLst>
                              <p:par>
                                <p:cTn id="24" presetID="22" presetClass="entr" presetSubtype="4" fill="hold" nodeType="after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down)">
                                      <p:cBhvr>
                                        <p:cTn id="26" dur="500"/>
                                        <p:tgtEl>
                                          <p:spTgt spid="3">
                                            <p:txEl>
                                              <p:pRg st="5" end="5"/>
                                            </p:txEl>
                                          </p:spTgt>
                                        </p:tgtEl>
                                      </p:cBhvr>
                                    </p:animEffect>
                                  </p:childTnLst>
                                </p:cTn>
                              </p:par>
                            </p:childTnLst>
                          </p:cTn>
                        </p:par>
                        <p:par>
                          <p:cTn id="27" fill="hold">
                            <p:stCondLst>
                              <p:cond delay="5500"/>
                            </p:stCondLst>
                            <p:childTnLst>
                              <p:par>
                                <p:cTn id="28" presetID="22" presetClass="entr" presetSubtype="4" fill="hold"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wipe(down)">
                                      <p:cBhvr>
                                        <p:cTn id="30" dur="500"/>
                                        <p:tgtEl>
                                          <p:spTgt spid="3">
                                            <p:txEl>
                                              <p:pRg st="6" end="6"/>
                                            </p:txEl>
                                          </p:spTgt>
                                        </p:tgtEl>
                                      </p:cBhvr>
                                    </p:animEffect>
                                  </p:childTnLst>
                                </p:cTn>
                              </p:par>
                            </p:childTnLst>
                          </p:cTn>
                        </p:par>
                        <p:par>
                          <p:cTn id="31" fill="hold">
                            <p:stCondLst>
                              <p:cond delay="6000"/>
                            </p:stCondLst>
                            <p:childTnLst>
                              <p:par>
                                <p:cTn id="32" presetID="22" presetClass="entr" presetSubtype="4" fill="hold" nodeType="after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down)">
                                      <p:cBhvr>
                                        <p:cTn id="34" dur="500"/>
                                        <p:tgtEl>
                                          <p:spTgt spid="3">
                                            <p:txEl>
                                              <p:pRg st="7" end="7"/>
                                            </p:txEl>
                                          </p:spTgt>
                                        </p:tgtEl>
                                      </p:cBhvr>
                                    </p:animEffect>
                                  </p:childTnLst>
                                </p:cTn>
                              </p:par>
                            </p:childTnLst>
                          </p:cTn>
                        </p:par>
                        <p:par>
                          <p:cTn id="35" fill="hold">
                            <p:stCondLst>
                              <p:cond delay="6500"/>
                            </p:stCondLst>
                            <p:childTnLst>
                              <p:par>
                                <p:cTn id="36" presetID="22" presetClass="entr" presetSubtype="4" fill="hold" nodeType="after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wipe(down)">
                                      <p:cBhvr>
                                        <p:cTn id="38" dur="500"/>
                                        <p:tgtEl>
                                          <p:spTgt spid="3">
                                            <p:txEl>
                                              <p:pRg st="8" end="8"/>
                                            </p:txEl>
                                          </p:spTgt>
                                        </p:tgtEl>
                                      </p:cBhvr>
                                    </p:animEffect>
                                  </p:childTnLst>
                                </p:cTn>
                              </p:par>
                            </p:childTnLst>
                          </p:cTn>
                        </p:par>
                        <p:par>
                          <p:cTn id="39" fill="hold">
                            <p:stCondLst>
                              <p:cond delay="7000"/>
                            </p:stCondLst>
                            <p:childTnLst>
                              <p:par>
                                <p:cTn id="40" presetID="22" presetClass="entr" presetSubtype="4" fill="hold" nodeType="after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wipe(down)">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5860473" cy="1162050"/>
          </a:xfrm>
        </p:spPr>
        <p:txBody>
          <a:bodyPr>
            <a:normAutofit/>
          </a:bodyPr>
          <a:lstStyle/>
          <a:p>
            <a:r>
              <a:rPr lang="en-US" sz="3200" b="1" dirty="0" smtClean="0"/>
              <a:t>What is laser technology?</a:t>
            </a:r>
            <a:endParaRPr lang="en-US" sz="3200" b="1" dirty="0"/>
          </a:p>
        </p:txBody>
      </p:sp>
      <p:sp>
        <p:nvSpPr>
          <p:cNvPr id="3" name="Text Placeholder 2"/>
          <p:cNvSpPr>
            <a:spLocks noGrp="1"/>
          </p:cNvSpPr>
          <p:nvPr>
            <p:ph type="body" sz="half" idx="2"/>
          </p:nvPr>
        </p:nvSpPr>
        <p:spPr>
          <a:xfrm>
            <a:off x="935181" y="1879032"/>
            <a:ext cx="6525491" cy="4602163"/>
          </a:xfrm>
        </p:spPr>
        <p:txBody>
          <a:bodyPr>
            <a:normAutofit fontScale="62500" lnSpcReduction="20000"/>
          </a:bodyPr>
          <a:lstStyle/>
          <a:p>
            <a:r>
              <a:rPr lang="en-US" sz="3400" b="1" dirty="0" smtClean="0"/>
              <a:t>A laser is an electronic optical device that’s emits coherent light radiation the term laser is an acronym for light amplification by stimulated emission of radiation .  </a:t>
            </a:r>
          </a:p>
          <a:p>
            <a:pPr algn="l"/>
            <a:endParaRPr lang="en-US" sz="3800" b="1" dirty="0">
              <a:solidFill>
                <a:schemeClr val="accent6">
                  <a:lumMod val="50000"/>
                </a:schemeClr>
              </a:solidFill>
            </a:endParaRPr>
          </a:p>
          <a:p>
            <a:pPr algn="l"/>
            <a:r>
              <a:rPr lang="en-US" sz="3800" b="1" dirty="0" smtClean="0">
                <a:solidFill>
                  <a:schemeClr val="accent6">
                    <a:lumMod val="50000"/>
                  </a:schemeClr>
                </a:solidFill>
              </a:rPr>
              <a:t>Use an application of laser technology.</a:t>
            </a:r>
          </a:p>
          <a:p>
            <a:pPr marL="285750" indent="-285750" algn="l">
              <a:buFont typeface="Arial" pitchFamily="34" charset="0"/>
              <a:buChar char="•"/>
            </a:pPr>
            <a:r>
              <a:rPr lang="en-US" sz="3100" b="1" dirty="0" smtClean="0"/>
              <a:t>Medicines  </a:t>
            </a:r>
          </a:p>
          <a:p>
            <a:pPr marL="285750" indent="-285750" algn="l">
              <a:buFont typeface="Arial" pitchFamily="34" charset="0"/>
              <a:buChar char="•"/>
            </a:pPr>
            <a:r>
              <a:rPr lang="en-US" sz="3100" b="1" dirty="0" smtClean="0"/>
              <a:t>Commercial use.</a:t>
            </a:r>
          </a:p>
          <a:p>
            <a:pPr marL="285750" indent="-285750" algn="l">
              <a:buFont typeface="Arial" pitchFamily="34" charset="0"/>
              <a:buChar char="•"/>
            </a:pPr>
            <a:r>
              <a:rPr lang="en-US" sz="3100" b="1" dirty="0" smtClean="0"/>
              <a:t>Industrial use.</a:t>
            </a:r>
          </a:p>
          <a:p>
            <a:pPr marL="285750" indent="-285750" algn="l">
              <a:buFont typeface="Arial" pitchFamily="34" charset="0"/>
              <a:buChar char="•"/>
            </a:pPr>
            <a:r>
              <a:rPr lang="en-US" sz="3100" b="1" dirty="0" smtClean="0"/>
              <a:t>Military use.</a:t>
            </a:r>
          </a:p>
          <a:p>
            <a:pPr marL="285750" indent="-285750" algn="l">
              <a:buFont typeface="Arial" pitchFamily="34" charset="0"/>
              <a:buChar char="•"/>
            </a:pPr>
            <a:r>
              <a:rPr lang="en-US" sz="3100" b="1" dirty="0" smtClean="0"/>
              <a:t>Optical communication </a:t>
            </a:r>
          </a:p>
          <a:p>
            <a:pPr marL="285750" indent="-285750" algn="l">
              <a:buFont typeface="Arial" pitchFamily="34" charset="0"/>
              <a:buChar char="•"/>
            </a:pPr>
            <a:r>
              <a:rPr lang="en-US" sz="3100" b="1" dirty="0" smtClean="0"/>
              <a:t>Distance and velocity measurement.</a:t>
            </a:r>
          </a:p>
          <a:p>
            <a:pPr marL="285750" indent="-285750">
              <a:buFont typeface="Arial" pitchFamily="34" charset="0"/>
              <a:buChar char="•"/>
            </a:pPr>
            <a:endParaRPr lang="en-US" sz="3100" b="1" dirty="0" smtClean="0"/>
          </a:p>
          <a:p>
            <a:endParaRPr lang="en-US" sz="26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4772" y="3996929"/>
            <a:ext cx="2971801" cy="2301703"/>
          </a:xfrm>
          <a:prstGeom prst="rect">
            <a:avLst/>
          </a:prstGeom>
        </p:spPr>
      </p:pic>
      <p:sp>
        <p:nvSpPr>
          <p:cNvPr id="5" name="Slide Number Placeholder 4"/>
          <p:cNvSpPr>
            <a:spLocks noGrp="1"/>
          </p:cNvSpPr>
          <p:nvPr>
            <p:ph type="sldNum" sz="quarter" idx="12"/>
          </p:nvPr>
        </p:nvSpPr>
        <p:spPr/>
        <p:txBody>
          <a:bodyPr/>
          <a:lstStyle/>
          <a:p>
            <a:fld id="{39B1E3E2-56D6-4A45-9372-0002E404ECCF}" type="slidenum">
              <a:rPr lang="en-US" smtClean="0"/>
              <a:t>7</a:t>
            </a:fld>
            <a:endParaRPr lang="en-US"/>
          </a:p>
        </p:txBody>
      </p:sp>
    </p:spTree>
    <p:extLst>
      <p:ext uri="{BB962C8B-B14F-4D97-AF65-F5344CB8AC3E}">
        <p14:creationId xmlns:p14="http://schemas.microsoft.com/office/powerpoint/2010/main" val="12088843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childTnLst>
                          </p:cTn>
                        </p:par>
                        <p:par>
                          <p:cTn id="11" fill="hold">
                            <p:stCondLst>
                              <p:cond delay="2000"/>
                            </p:stCondLst>
                            <p:childTnLst>
                              <p:par>
                                <p:cTn id="12" presetID="6" presetClass="entr" presetSubtype="16" fill="hold" nodeType="after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circle(in)">
                                      <p:cBhvr>
                                        <p:cTn id="14" dur="2000"/>
                                        <p:tgtEl>
                                          <p:spTgt spid="3">
                                            <p:txEl>
                                              <p:pRg st="2" end="2"/>
                                            </p:txEl>
                                          </p:spTgt>
                                        </p:tgtEl>
                                      </p:cBhvr>
                                    </p:animEffect>
                                  </p:childTnLst>
                                </p:cTn>
                              </p:par>
                            </p:childTnLst>
                          </p:cTn>
                        </p:par>
                        <p:par>
                          <p:cTn id="15" fill="hold">
                            <p:stCondLst>
                              <p:cond delay="4000"/>
                            </p:stCondLst>
                            <p:childTnLst>
                              <p:par>
                                <p:cTn id="16" presetID="22" presetClass="entr" presetSubtype="4" fill="hold" nodeType="after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par>
                          <p:cTn id="19" fill="hold">
                            <p:stCondLst>
                              <p:cond delay="4500"/>
                            </p:stCondLst>
                            <p:childTnLst>
                              <p:par>
                                <p:cTn id="20" presetID="22" presetClass="entr" presetSubtype="4" fill="hold" nodeType="after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par>
                          <p:cTn id="23" fill="hold">
                            <p:stCondLst>
                              <p:cond delay="5000"/>
                            </p:stCondLst>
                            <p:childTnLst>
                              <p:par>
                                <p:cTn id="24" presetID="22" presetClass="entr" presetSubtype="4" fill="hold" nodeType="after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down)">
                                      <p:cBhvr>
                                        <p:cTn id="26" dur="500"/>
                                        <p:tgtEl>
                                          <p:spTgt spid="3">
                                            <p:txEl>
                                              <p:pRg st="5" end="5"/>
                                            </p:txEl>
                                          </p:spTgt>
                                        </p:tgtEl>
                                      </p:cBhvr>
                                    </p:animEffect>
                                  </p:childTnLst>
                                </p:cTn>
                              </p:par>
                            </p:childTnLst>
                          </p:cTn>
                        </p:par>
                        <p:par>
                          <p:cTn id="27" fill="hold">
                            <p:stCondLst>
                              <p:cond delay="5500"/>
                            </p:stCondLst>
                            <p:childTnLst>
                              <p:par>
                                <p:cTn id="28" presetID="22" presetClass="entr" presetSubtype="4" fill="hold"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wipe(down)">
                                      <p:cBhvr>
                                        <p:cTn id="30" dur="500"/>
                                        <p:tgtEl>
                                          <p:spTgt spid="3">
                                            <p:txEl>
                                              <p:pRg st="6" end="6"/>
                                            </p:txEl>
                                          </p:spTgt>
                                        </p:tgtEl>
                                      </p:cBhvr>
                                    </p:animEffect>
                                  </p:childTnLst>
                                </p:cTn>
                              </p:par>
                            </p:childTnLst>
                          </p:cTn>
                        </p:par>
                        <p:par>
                          <p:cTn id="31" fill="hold">
                            <p:stCondLst>
                              <p:cond delay="6000"/>
                            </p:stCondLst>
                            <p:childTnLst>
                              <p:par>
                                <p:cTn id="32" presetID="22" presetClass="entr" presetSubtype="4" fill="hold" nodeType="after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down)">
                                      <p:cBhvr>
                                        <p:cTn id="34" dur="500"/>
                                        <p:tgtEl>
                                          <p:spTgt spid="3">
                                            <p:txEl>
                                              <p:pRg st="7" end="7"/>
                                            </p:txEl>
                                          </p:spTgt>
                                        </p:tgtEl>
                                      </p:cBhvr>
                                    </p:animEffect>
                                  </p:childTnLst>
                                </p:cTn>
                              </p:par>
                            </p:childTnLst>
                          </p:cTn>
                        </p:par>
                        <p:par>
                          <p:cTn id="35" fill="hold">
                            <p:stCondLst>
                              <p:cond delay="6500"/>
                            </p:stCondLst>
                            <p:childTnLst>
                              <p:par>
                                <p:cTn id="36" presetID="22" presetClass="entr" presetSubtype="4" fill="hold" nodeType="after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wipe(down)">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227" y="0"/>
            <a:ext cx="8215745" cy="1162050"/>
          </a:xfrm>
        </p:spPr>
        <p:txBody>
          <a:bodyPr>
            <a:normAutofit/>
          </a:bodyPr>
          <a:lstStyle/>
          <a:p>
            <a:r>
              <a:rPr lang="en-US" sz="3200" b="1" dirty="0" smtClean="0"/>
              <a:t>What is Bio-technology?</a:t>
            </a:r>
            <a:endParaRPr lang="en-US" sz="3200" b="1" dirty="0"/>
          </a:p>
        </p:txBody>
      </p:sp>
      <p:sp>
        <p:nvSpPr>
          <p:cNvPr id="3" name="Text Placeholder 2"/>
          <p:cNvSpPr>
            <a:spLocks noGrp="1"/>
          </p:cNvSpPr>
          <p:nvPr>
            <p:ph type="body" sz="half" idx="2"/>
          </p:nvPr>
        </p:nvSpPr>
        <p:spPr>
          <a:xfrm>
            <a:off x="381000" y="1126498"/>
            <a:ext cx="8763000" cy="1295400"/>
          </a:xfrm>
        </p:spPr>
        <p:txBody>
          <a:bodyPr>
            <a:noAutofit/>
          </a:bodyPr>
          <a:lstStyle/>
          <a:p>
            <a:r>
              <a:rPr lang="en-US" sz="2400" b="1" dirty="0" smtClean="0"/>
              <a:t>Bio technology is technology based on biology . Especially  when use in agriculture  , food science  and medicine . Bio technology is the field in which living organisms or their product are used to</a:t>
            </a:r>
          </a:p>
          <a:p>
            <a:endParaRPr lang="en-US" sz="900" b="1" dirty="0"/>
          </a:p>
        </p:txBody>
      </p:sp>
      <p:sp>
        <p:nvSpPr>
          <p:cNvPr id="4" name="Rectangle 3"/>
          <p:cNvSpPr/>
          <p:nvPr/>
        </p:nvSpPr>
        <p:spPr>
          <a:xfrm>
            <a:off x="384806" y="2419839"/>
            <a:ext cx="8225794" cy="4062651"/>
          </a:xfrm>
          <a:prstGeom prst="rect">
            <a:avLst/>
          </a:prstGeom>
        </p:spPr>
        <p:txBody>
          <a:bodyPr wrap="square">
            <a:spAutoFit/>
          </a:bodyPr>
          <a:lstStyle/>
          <a:p>
            <a:r>
              <a:rPr lang="en-US" sz="2400" b="1" dirty="0" smtClean="0">
                <a:solidFill>
                  <a:schemeClr val="accent6">
                    <a:lumMod val="50000"/>
                  </a:schemeClr>
                </a:solidFill>
              </a:rPr>
              <a:t>              Use </a:t>
            </a:r>
            <a:r>
              <a:rPr lang="en-US" sz="2400" b="1" dirty="0">
                <a:solidFill>
                  <a:schemeClr val="accent6">
                    <a:lumMod val="50000"/>
                  </a:schemeClr>
                </a:solidFill>
              </a:rPr>
              <a:t>an application of </a:t>
            </a:r>
            <a:r>
              <a:rPr lang="en-US" sz="2400" b="1" dirty="0" smtClean="0">
                <a:solidFill>
                  <a:schemeClr val="accent6">
                    <a:lumMod val="50000"/>
                  </a:schemeClr>
                </a:solidFill>
              </a:rPr>
              <a:t>Bio-technology.</a:t>
            </a:r>
            <a:endParaRPr lang="en-US" sz="2400" b="1" dirty="0" smtClean="0"/>
          </a:p>
          <a:p>
            <a:pPr marL="285750" indent="-285750">
              <a:buFont typeface="Arial" pitchFamily="34" charset="0"/>
              <a:buChar char="•"/>
            </a:pPr>
            <a:r>
              <a:rPr lang="en-US" sz="2400" b="1" dirty="0" smtClean="0"/>
              <a:t> </a:t>
            </a:r>
            <a:r>
              <a:rPr lang="en-US" sz="2400" b="1" dirty="0"/>
              <a:t>Medicine </a:t>
            </a:r>
          </a:p>
          <a:p>
            <a:endParaRPr lang="en-US" dirty="0"/>
          </a:p>
          <a:p>
            <a:pPr marL="400050" indent="-400050">
              <a:buFont typeface="+mj-lt"/>
              <a:buAutoNum type="romanUcPeriod"/>
            </a:pPr>
            <a:r>
              <a:rPr lang="en-US" sz="2400" dirty="0"/>
              <a:t>Pharmacogenomics</a:t>
            </a:r>
          </a:p>
          <a:p>
            <a:pPr marL="400050" indent="-400050">
              <a:buFont typeface="+mj-lt"/>
              <a:buAutoNum type="romanUcPeriod"/>
            </a:pPr>
            <a:r>
              <a:rPr lang="en-US" sz="2400" dirty="0"/>
              <a:t>Pharmaceutics product   </a:t>
            </a:r>
          </a:p>
          <a:p>
            <a:pPr marL="400050" indent="-400050">
              <a:buFont typeface="+mj-lt"/>
              <a:buAutoNum type="romanUcPeriod"/>
            </a:pPr>
            <a:r>
              <a:rPr lang="en-US" sz="2400" dirty="0"/>
              <a:t>Gene testing</a:t>
            </a:r>
          </a:p>
          <a:p>
            <a:pPr marL="400050" indent="-400050">
              <a:buFont typeface="+mj-lt"/>
              <a:buAutoNum type="romanUcPeriod"/>
            </a:pPr>
            <a:r>
              <a:rPr lang="en-US" sz="2400" dirty="0"/>
              <a:t>Gene therapy </a:t>
            </a:r>
          </a:p>
          <a:p>
            <a:pPr marL="400050" indent="-400050">
              <a:buFont typeface="+mj-lt"/>
              <a:buAutoNum type="romanUcPeriod"/>
            </a:pPr>
            <a:r>
              <a:rPr lang="en-US" sz="2400" dirty="0"/>
              <a:t>Cloning</a:t>
            </a:r>
          </a:p>
          <a:p>
            <a:pPr marL="342900" indent="-342900">
              <a:buFont typeface="Arial" panose="020B0604020202020204" pitchFamily="34" charset="0"/>
              <a:buChar char="•"/>
            </a:pPr>
            <a:r>
              <a:rPr lang="en-US" sz="2400" b="1" dirty="0" smtClean="0"/>
              <a:t>Agriculture</a:t>
            </a:r>
            <a:endParaRPr lang="en-US" sz="2400" b="1" dirty="0"/>
          </a:p>
          <a:p>
            <a:pPr marL="285750" indent="-285750">
              <a:buFont typeface="Arial" pitchFamily="34" charset="0"/>
              <a:buChar char="•"/>
            </a:pPr>
            <a:r>
              <a:rPr lang="en-US" sz="2400" b="1" dirty="0"/>
              <a:t>Environment</a:t>
            </a:r>
          </a:p>
          <a:p>
            <a:pPr marL="285750" indent="-285750">
              <a:buFont typeface="Arial" pitchFamily="34" charset="0"/>
              <a:buChar char="•"/>
            </a:pPr>
            <a:r>
              <a:rPr lang="en-US" sz="2400" b="1" dirty="0"/>
              <a:t>Industry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3505200"/>
            <a:ext cx="3805480" cy="2614741"/>
          </a:xfrm>
          <a:prstGeom prst="rect">
            <a:avLst/>
          </a:prstGeom>
        </p:spPr>
      </p:pic>
      <p:sp>
        <p:nvSpPr>
          <p:cNvPr id="6" name="Slide Number Placeholder 5"/>
          <p:cNvSpPr>
            <a:spLocks noGrp="1"/>
          </p:cNvSpPr>
          <p:nvPr>
            <p:ph type="sldNum" sz="quarter" idx="12"/>
          </p:nvPr>
        </p:nvSpPr>
        <p:spPr/>
        <p:txBody>
          <a:bodyPr/>
          <a:lstStyle/>
          <a:p>
            <a:fld id="{39B1E3E2-56D6-4A45-9372-0002E404ECCF}" type="slidenum">
              <a:rPr lang="en-US" smtClean="0"/>
              <a:t>8</a:t>
            </a:fld>
            <a:endParaRPr lang="en-US"/>
          </a:p>
        </p:txBody>
      </p:sp>
    </p:spTree>
    <p:extLst>
      <p:ext uri="{BB962C8B-B14F-4D97-AF65-F5344CB8AC3E}">
        <p14:creationId xmlns:p14="http://schemas.microsoft.com/office/powerpoint/2010/main" val="25371585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42"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anim calcmode="lin" valueType="num">
                                      <p:cBhvr>
                                        <p:cTn id="11" dur="1000" fill="hold"/>
                                        <p:tgtEl>
                                          <p:spTgt spid="5"/>
                                        </p:tgtEl>
                                        <p:attrNameLst>
                                          <p:attrName>ppt_x</p:attrName>
                                        </p:attrNameLst>
                                      </p:cBhvr>
                                      <p:tavLst>
                                        <p:tav tm="0">
                                          <p:val>
                                            <p:strVal val="#ppt_x"/>
                                          </p:val>
                                        </p:tav>
                                        <p:tav tm="100000">
                                          <p:val>
                                            <p:strVal val="#ppt_x"/>
                                          </p:val>
                                        </p:tav>
                                      </p:tavLst>
                                    </p:anim>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par>
                          <p:cTn id="13" fill="hold">
                            <p:stCondLst>
                              <p:cond delay="2000"/>
                            </p:stCondLst>
                            <p:childTnLst>
                              <p:par>
                                <p:cTn id="14" presetID="16" presetClass="entr" presetSubtype="21" fill="hold" nodeType="after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barn(inVertical)">
                                      <p:cBhvr>
                                        <p:cTn id="16" dur="500"/>
                                        <p:tgtEl>
                                          <p:spTgt spid="4">
                                            <p:txEl>
                                              <p:pRg st="0" end="0"/>
                                            </p:txEl>
                                          </p:spTgt>
                                        </p:tgtEl>
                                      </p:cBhvr>
                                    </p:animEffect>
                                  </p:childTnLst>
                                </p:cTn>
                              </p:par>
                            </p:childTnLst>
                          </p:cTn>
                        </p:par>
                        <p:par>
                          <p:cTn id="17" fill="hold">
                            <p:stCondLst>
                              <p:cond delay="2500"/>
                            </p:stCondLst>
                            <p:childTnLst>
                              <p:par>
                                <p:cTn id="18" presetID="22" presetClass="entr" presetSubtype="4" fill="hold" nodeType="after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wipe(down)">
                                      <p:cBhvr>
                                        <p:cTn id="20" dur="500"/>
                                        <p:tgtEl>
                                          <p:spTgt spid="4">
                                            <p:txEl>
                                              <p:pRg st="1" end="1"/>
                                            </p:txEl>
                                          </p:spTgt>
                                        </p:tgtEl>
                                      </p:cBhvr>
                                    </p:animEffect>
                                  </p:childTnLst>
                                </p:cTn>
                              </p:par>
                            </p:childTnLst>
                          </p:cTn>
                        </p:par>
                        <p:par>
                          <p:cTn id="21" fill="hold">
                            <p:stCondLst>
                              <p:cond delay="3000"/>
                            </p:stCondLst>
                            <p:childTnLst>
                              <p:par>
                                <p:cTn id="22" presetID="42" presetClass="entr" presetSubtype="0" fill="hold" nodeType="after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27" fill="hold">
                            <p:stCondLst>
                              <p:cond delay="4000"/>
                            </p:stCondLst>
                            <p:childTnLst>
                              <p:par>
                                <p:cTn id="28" presetID="42" presetClass="entr" presetSubtype="0" fill="hold" nodeType="after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Effect transition="in" filter="fade">
                                      <p:cBhvr>
                                        <p:cTn id="30" dur="1000"/>
                                        <p:tgtEl>
                                          <p:spTgt spid="4">
                                            <p:txEl>
                                              <p:pRg st="4" end="4"/>
                                            </p:txEl>
                                          </p:spTgt>
                                        </p:tgtEl>
                                      </p:cBhvr>
                                    </p:animEffect>
                                    <p:anim calcmode="lin" valueType="num">
                                      <p:cBhvr>
                                        <p:cTn id="3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2"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par>
                          <p:cTn id="33" fill="hold">
                            <p:stCondLst>
                              <p:cond delay="5000"/>
                            </p:stCondLst>
                            <p:childTnLst>
                              <p:par>
                                <p:cTn id="34" presetID="42" presetClass="entr" presetSubtype="0" fill="hold" nodeType="after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par>
                          <p:cTn id="39" fill="hold">
                            <p:stCondLst>
                              <p:cond delay="6000"/>
                            </p:stCondLst>
                            <p:childTnLst>
                              <p:par>
                                <p:cTn id="40" presetID="42" presetClass="entr" presetSubtype="0" fill="hold" nodeType="after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1000"/>
                                        <p:tgtEl>
                                          <p:spTgt spid="4">
                                            <p:txEl>
                                              <p:pRg st="6" end="6"/>
                                            </p:txEl>
                                          </p:spTgt>
                                        </p:tgtEl>
                                      </p:cBhvr>
                                    </p:animEffect>
                                    <p:anim calcmode="lin" valueType="num">
                                      <p:cBhvr>
                                        <p:cTn id="4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par>
                          <p:cTn id="45" fill="hold">
                            <p:stCondLst>
                              <p:cond delay="7000"/>
                            </p:stCondLst>
                            <p:childTnLst>
                              <p:par>
                                <p:cTn id="46" presetID="42" presetClass="entr" presetSubtype="0" fill="hold" nodeType="after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animEffect transition="in" filter="fade">
                                      <p:cBhvr>
                                        <p:cTn id="48" dur="1000"/>
                                        <p:tgtEl>
                                          <p:spTgt spid="4">
                                            <p:txEl>
                                              <p:pRg st="7" end="7"/>
                                            </p:txEl>
                                          </p:spTgt>
                                        </p:tgtEl>
                                      </p:cBhvr>
                                    </p:animEffect>
                                    <p:anim calcmode="lin" valueType="num">
                                      <p:cBhvr>
                                        <p:cTn id="49"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par>
                          <p:cTn id="51" fill="hold">
                            <p:stCondLst>
                              <p:cond delay="8000"/>
                            </p:stCondLst>
                            <p:childTnLst>
                              <p:par>
                                <p:cTn id="52" presetID="22" presetClass="entr" presetSubtype="4" fill="hold" nodeType="afterEffect">
                                  <p:stCondLst>
                                    <p:cond delay="0"/>
                                  </p:stCondLst>
                                  <p:childTnLst>
                                    <p:set>
                                      <p:cBhvr>
                                        <p:cTn id="53" dur="1" fill="hold">
                                          <p:stCondLst>
                                            <p:cond delay="0"/>
                                          </p:stCondLst>
                                        </p:cTn>
                                        <p:tgtEl>
                                          <p:spTgt spid="4">
                                            <p:txEl>
                                              <p:pRg st="8" end="8"/>
                                            </p:txEl>
                                          </p:spTgt>
                                        </p:tgtEl>
                                        <p:attrNameLst>
                                          <p:attrName>style.visibility</p:attrName>
                                        </p:attrNameLst>
                                      </p:cBhvr>
                                      <p:to>
                                        <p:strVal val="visible"/>
                                      </p:to>
                                    </p:set>
                                    <p:animEffect transition="in" filter="wipe(down)">
                                      <p:cBhvr>
                                        <p:cTn id="54" dur="500"/>
                                        <p:tgtEl>
                                          <p:spTgt spid="4">
                                            <p:txEl>
                                              <p:pRg st="8" end="8"/>
                                            </p:txEl>
                                          </p:spTgt>
                                        </p:tgtEl>
                                      </p:cBhvr>
                                    </p:animEffect>
                                  </p:childTnLst>
                                </p:cTn>
                              </p:par>
                            </p:childTnLst>
                          </p:cTn>
                        </p:par>
                        <p:par>
                          <p:cTn id="55" fill="hold">
                            <p:stCondLst>
                              <p:cond delay="8500"/>
                            </p:stCondLst>
                            <p:childTnLst>
                              <p:par>
                                <p:cTn id="56" presetID="22" presetClass="entr" presetSubtype="4" fill="hold" nodeType="afterEffect">
                                  <p:stCondLst>
                                    <p:cond delay="0"/>
                                  </p:stCondLst>
                                  <p:childTnLst>
                                    <p:set>
                                      <p:cBhvr>
                                        <p:cTn id="57" dur="1" fill="hold">
                                          <p:stCondLst>
                                            <p:cond delay="0"/>
                                          </p:stCondLst>
                                        </p:cTn>
                                        <p:tgtEl>
                                          <p:spTgt spid="4">
                                            <p:txEl>
                                              <p:pRg st="9" end="9"/>
                                            </p:txEl>
                                          </p:spTgt>
                                        </p:tgtEl>
                                        <p:attrNameLst>
                                          <p:attrName>style.visibility</p:attrName>
                                        </p:attrNameLst>
                                      </p:cBhvr>
                                      <p:to>
                                        <p:strVal val="visible"/>
                                      </p:to>
                                    </p:set>
                                    <p:animEffect transition="in" filter="wipe(down)">
                                      <p:cBhvr>
                                        <p:cTn id="58" dur="500"/>
                                        <p:tgtEl>
                                          <p:spTgt spid="4">
                                            <p:txEl>
                                              <p:pRg st="9" end="9"/>
                                            </p:txEl>
                                          </p:spTgt>
                                        </p:tgtEl>
                                      </p:cBhvr>
                                    </p:animEffect>
                                  </p:childTnLst>
                                </p:cTn>
                              </p:par>
                            </p:childTnLst>
                          </p:cTn>
                        </p:par>
                        <p:par>
                          <p:cTn id="59" fill="hold">
                            <p:stCondLst>
                              <p:cond delay="9000"/>
                            </p:stCondLst>
                            <p:childTnLst>
                              <p:par>
                                <p:cTn id="60" presetID="22" presetClass="entr" presetSubtype="4" fill="hold" nodeType="afterEffect">
                                  <p:stCondLst>
                                    <p:cond delay="0"/>
                                  </p:stCondLst>
                                  <p:childTnLst>
                                    <p:set>
                                      <p:cBhvr>
                                        <p:cTn id="61" dur="1" fill="hold">
                                          <p:stCondLst>
                                            <p:cond delay="0"/>
                                          </p:stCondLst>
                                        </p:cTn>
                                        <p:tgtEl>
                                          <p:spTgt spid="4">
                                            <p:txEl>
                                              <p:pRg st="10" end="10"/>
                                            </p:txEl>
                                          </p:spTgt>
                                        </p:tgtEl>
                                        <p:attrNameLst>
                                          <p:attrName>style.visibility</p:attrName>
                                        </p:attrNameLst>
                                      </p:cBhvr>
                                      <p:to>
                                        <p:strVal val="visible"/>
                                      </p:to>
                                    </p:set>
                                    <p:animEffect transition="in" filter="wipe(down)">
                                      <p:cBhvr>
                                        <p:cTn id="6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877" y="640080"/>
            <a:ext cx="8160327" cy="1162050"/>
          </a:xfrm>
        </p:spPr>
        <p:txBody>
          <a:bodyPr>
            <a:normAutofit/>
          </a:bodyPr>
          <a:lstStyle/>
          <a:p>
            <a:pPr marL="457200" indent="-457200" algn="l">
              <a:buFont typeface="Wingdings" panose="05000000000000000000" pitchFamily="2" charset="2"/>
              <a:buChar char="Ø"/>
            </a:pPr>
            <a:r>
              <a:rPr lang="en-US" sz="3200" b="1" dirty="0" smtClean="0"/>
              <a:t>What is Nano technology? </a:t>
            </a:r>
            <a:endParaRPr lang="en-US" sz="3200" b="1" dirty="0"/>
          </a:p>
        </p:txBody>
      </p:sp>
      <p:sp>
        <p:nvSpPr>
          <p:cNvPr id="3" name="Text Placeholder 2"/>
          <p:cNvSpPr>
            <a:spLocks noGrp="1"/>
          </p:cNvSpPr>
          <p:nvPr>
            <p:ph type="body" sz="half" idx="2"/>
          </p:nvPr>
        </p:nvSpPr>
        <p:spPr>
          <a:xfrm>
            <a:off x="473877" y="1447800"/>
            <a:ext cx="8160326" cy="6629400"/>
          </a:xfrm>
        </p:spPr>
        <p:txBody>
          <a:bodyPr>
            <a:noAutofit/>
          </a:bodyPr>
          <a:lstStyle/>
          <a:p>
            <a:r>
              <a:rPr lang="en-US" sz="2400" b="1" dirty="0" smtClean="0"/>
              <a:t>Nano technology refers to field of applied science and technology whose theme is the control of matter on atomic and molecular scale  generally  100  Nano meters or smaller and the fabrication of devise of  material that lie within that the size range.</a:t>
            </a:r>
          </a:p>
          <a:p>
            <a:r>
              <a:rPr lang="en-US" sz="2400" b="1" dirty="0" smtClean="0"/>
              <a:t>One  Nano meter is on billionth or 10^-9 of a meter  to put that scale in context , the comparative size 0 Nano meter to  a meter is same as that a marble to the size of Earth.</a:t>
            </a:r>
          </a:p>
          <a:p>
            <a:endParaRPr lang="en-US" sz="2400" b="1" dirty="0" smtClean="0"/>
          </a:p>
          <a:p>
            <a:pPr marL="457200" indent="-457200">
              <a:buFont typeface="Arial" pitchFamily="34" charset="0"/>
              <a:buChar char="•"/>
            </a:pPr>
            <a:endParaRPr lang="en-US" sz="2400" dirty="0" smtClean="0"/>
          </a:p>
          <a:p>
            <a:r>
              <a:rPr lang="en-US" sz="2400" dirty="0" smtClean="0"/>
              <a:t> </a:t>
            </a:r>
            <a:endParaRPr lang="en-US" sz="2400" dirty="0"/>
          </a:p>
        </p:txBody>
      </p:sp>
      <p:sp>
        <p:nvSpPr>
          <p:cNvPr id="4" name="Content Placeholder 3"/>
          <p:cNvSpPr>
            <a:spLocks noGrp="1"/>
          </p:cNvSpPr>
          <p:nvPr>
            <p:ph idx="1"/>
          </p:nvPr>
        </p:nvSpPr>
        <p:spPr>
          <a:xfrm>
            <a:off x="1752600" y="640080"/>
            <a:ext cx="4681962" cy="5105401"/>
          </a:xfrm>
        </p:spPr>
        <p:txBody>
          <a:bodyPr>
            <a:normAutofit/>
          </a:bodyPr>
          <a:lstStyle/>
          <a:p>
            <a:pPr marL="0" indent="0">
              <a:buNone/>
            </a:pPr>
            <a:r>
              <a:rPr lang="en-MY" sz="2400" b="1" dirty="0" smtClean="0"/>
              <a:t>                        </a:t>
            </a:r>
            <a:endParaRPr lang="en-MY" sz="2400" b="1" dirty="0"/>
          </a:p>
        </p:txBody>
      </p:sp>
      <p:sp>
        <p:nvSpPr>
          <p:cNvPr id="5" name="Slide Number Placeholder 4"/>
          <p:cNvSpPr>
            <a:spLocks noGrp="1"/>
          </p:cNvSpPr>
          <p:nvPr>
            <p:ph type="sldNum" sz="quarter" idx="12"/>
          </p:nvPr>
        </p:nvSpPr>
        <p:spPr/>
        <p:txBody>
          <a:bodyPr/>
          <a:lstStyle/>
          <a:p>
            <a:fld id="{39B1E3E2-56D6-4A45-9372-0002E404ECCF}" type="slidenum">
              <a:rPr lang="en-US" smtClean="0"/>
              <a:t>9</a:t>
            </a:fld>
            <a:endParaRPr lang="en-US"/>
          </a:p>
        </p:txBody>
      </p:sp>
    </p:spTree>
    <p:extLst>
      <p:ext uri="{BB962C8B-B14F-4D97-AF65-F5344CB8AC3E}">
        <p14:creationId xmlns:p14="http://schemas.microsoft.com/office/powerpoint/2010/main" val="25367347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par>
                          <p:cTn id="8" fill="hold">
                            <p:stCondLst>
                              <p:cond delay="2000"/>
                            </p:stCondLst>
                            <p:childTnLst>
                              <p:par>
                                <p:cTn id="9" presetID="6" presetClass="entr" presetSubtype="16"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circle(in)">
                                      <p:cBhvr>
                                        <p:cTn id="11"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066800" y="762000"/>
            <a:ext cx="7039876" cy="4876800"/>
          </a:xfrm>
        </p:spPr>
        <p:txBody>
          <a:bodyPr>
            <a:normAutofit fontScale="92500"/>
          </a:bodyPr>
          <a:lstStyle/>
          <a:p>
            <a:r>
              <a:rPr lang="en-MY" sz="3200" b="1" dirty="0"/>
              <a:t>Use  an application of Nano </a:t>
            </a:r>
            <a:r>
              <a:rPr lang="en-MY" sz="3200" b="1" dirty="0" smtClean="0"/>
              <a:t>technology</a:t>
            </a:r>
            <a:r>
              <a:rPr lang="en-MY" sz="3200" b="1" dirty="0"/>
              <a:t>.</a:t>
            </a:r>
            <a:endParaRPr lang="en-MY" sz="3200" b="1" dirty="0" smtClean="0"/>
          </a:p>
          <a:p>
            <a:endParaRPr lang="en-MY" sz="3200" b="1" dirty="0"/>
          </a:p>
          <a:p>
            <a:pPr marL="342900" indent="-342900" algn="l">
              <a:buFont typeface="Wingdings" panose="05000000000000000000" pitchFamily="2" charset="2"/>
              <a:buChar char="§"/>
            </a:pPr>
            <a:r>
              <a:rPr lang="en-MY" sz="2400" b="1" dirty="0" smtClean="0"/>
              <a:t>Electronics</a:t>
            </a:r>
            <a:endParaRPr lang="en-MY" sz="2400" b="1" dirty="0"/>
          </a:p>
          <a:p>
            <a:pPr marL="342900" indent="-342900" algn="l">
              <a:buFont typeface="Wingdings" panose="05000000000000000000" pitchFamily="2" charset="2"/>
              <a:buChar char="§"/>
            </a:pPr>
            <a:r>
              <a:rPr lang="en-MY" sz="2400" b="1" dirty="0"/>
              <a:t>Energy</a:t>
            </a:r>
          </a:p>
          <a:p>
            <a:pPr marL="342900" indent="-342900" algn="l">
              <a:buFont typeface="Wingdings" panose="05000000000000000000" pitchFamily="2" charset="2"/>
              <a:buChar char="§"/>
            </a:pPr>
            <a:r>
              <a:rPr lang="en-MY" sz="2400" b="1" dirty="0"/>
              <a:t>Automobiles</a:t>
            </a:r>
          </a:p>
          <a:p>
            <a:pPr marL="342900" indent="-342900" algn="l">
              <a:buFont typeface="Wingdings" panose="05000000000000000000" pitchFamily="2" charset="2"/>
              <a:buChar char="§"/>
            </a:pPr>
            <a:r>
              <a:rPr lang="en-MY" sz="2400" b="1" dirty="0"/>
              <a:t>The Space and </a:t>
            </a:r>
            <a:r>
              <a:rPr lang="en-MY" sz="2400" b="1" dirty="0" smtClean="0"/>
              <a:t>defence </a:t>
            </a:r>
            <a:endParaRPr lang="en-MY" sz="2400" b="1" dirty="0"/>
          </a:p>
          <a:p>
            <a:pPr marL="342900" indent="-342900" algn="l">
              <a:buFont typeface="Wingdings" panose="05000000000000000000" pitchFamily="2" charset="2"/>
              <a:buChar char="§"/>
            </a:pPr>
            <a:r>
              <a:rPr lang="en-MY" sz="2400" b="1" dirty="0"/>
              <a:t>Medical fields</a:t>
            </a:r>
          </a:p>
          <a:p>
            <a:pPr marL="342900" indent="-342900" algn="l">
              <a:buFont typeface="Wingdings" panose="05000000000000000000" pitchFamily="2" charset="2"/>
              <a:buChar char="§"/>
            </a:pPr>
            <a:r>
              <a:rPr lang="en-MY" sz="2400" b="1" dirty="0"/>
              <a:t>Environment </a:t>
            </a:r>
          </a:p>
          <a:p>
            <a:pPr marL="342900" indent="-342900" algn="l">
              <a:buFont typeface="Wingdings" panose="05000000000000000000" pitchFamily="2" charset="2"/>
              <a:buChar char="§"/>
            </a:pPr>
            <a:r>
              <a:rPr lang="en-MY" sz="2400" b="1" dirty="0"/>
              <a:t>Sports and toys </a:t>
            </a:r>
          </a:p>
          <a:p>
            <a:endParaRPr lang="en-MY"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5314" y="2514600"/>
            <a:ext cx="3993473" cy="2657475"/>
          </a:xfrm>
          <a:prstGeom prst="rect">
            <a:avLst/>
          </a:prstGeom>
        </p:spPr>
      </p:pic>
      <p:sp>
        <p:nvSpPr>
          <p:cNvPr id="3" name="Slide Number Placeholder 2"/>
          <p:cNvSpPr>
            <a:spLocks noGrp="1"/>
          </p:cNvSpPr>
          <p:nvPr>
            <p:ph type="sldNum" sz="quarter" idx="12"/>
          </p:nvPr>
        </p:nvSpPr>
        <p:spPr/>
        <p:txBody>
          <a:bodyPr/>
          <a:lstStyle/>
          <a:p>
            <a:fld id="{39B1E3E2-56D6-4A45-9372-0002E404ECCF}" type="slidenum">
              <a:rPr lang="en-US" smtClean="0"/>
              <a:t>10</a:t>
            </a:fld>
            <a:endParaRPr lang="en-US"/>
          </a:p>
        </p:txBody>
      </p:sp>
    </p:spTree>
    <p:extLst>
      <p:ext uri="{BB962C8B-B14F-4D97-AF65-F5344CB8AC3E}">
        <p14:creationId xmlns:p14="http://schemas.microsoft.com/office/powerpoint/2010/main" val="23500008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arn(inVertical)">
                                      <p:cBhvr>
                                        <p:cTn id="12" dur="500"/>
                                        <p:tgtEl>
                                          <p:spTgt spid="4">
                                            <p:txEl>
                                              <p:pRg st="0" end="0"/>
                                            </p:txEl>
                                          </p:spTgt>
                                        </p:tgtEl>
                                      </p:cBhvr>
                                    </p:animEffect>
                                  </p:childTnLst>
                                </p:cTn>
                              </p:par>
                            </p:childTnLst>
                          </p:cTn>
                        </p:par>
                        <p:par>
                          <p:cTn id="13" fill="hold">
                            <p:stCondLst>
                              <p:cond delay="1000"/>
                            </p:stCondLst>
                            <p:childTnLst>
                              <p:par>
                                <p:cTn id="14" presetID="42" presetClass="entr" presetSubtype="0" fill="hold" nodeType="after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1000"/>
                                        <p:tgtEl>
                                          <p:spTgt spid="4">
                                            <p:txEl>
                                              <p:pRg st="2" end="2"/>
                                            </p:txEl>
                                          </p:spTgt>
                                        </p:tgtEl>
                                      </p:cBhvr>
                                    </p:animEffect>
                                    <p:anim calcmode="lin" valueType="num">
                                      <p:cBhvr>
                                        <p:cTn id="1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42" presetClass="entr" presetSubtype="0" fill="hold" nodeType="after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25" fill="hold">
                            <p:stCondLst>
                              <p:cond delay="3000"/>
                            </p:stCondLst>
                            <p:childTnLst>
                              <p:par>
                                <p:cTn id="26" presetID="42" presetClass="entr" presetSubtype="0" fill="hold" nodeType="after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42" presetClass="entr" presetSubtype="0" fill="hold" nodeType="after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1000"/>
                                        <p:tgtEl>
                                          <p:spTgt spid="4">
                                            <p:txEl>
                                              <p:pRg st="5" end="5"/>
                                            </p:txEl>
                                          </p:spTgt>
                                        </p:tgtEl>
                                      </p:cBhvr>
                                    </p:animEffect>
                                    <p:anim calcmode="lin" valueType="num">
                                      <p:cBhvr>
                                        <p:cTn id="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par>
                          <p:cTn id="37" fill="hold">
                            <p:stCondLst>
                              <p:cond delay="5000"/>
                            </p:stCondLst>
                            <p:childTnLst>
                              <p:par>
                                <p:cTn id="38" presetID="42" presetClass="entr" presetSubtype="0" fill="hold" nodeType="after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Effect transition="in" filter="fade">
                                      <p:cBhvr>
                                        <p:cTn id="40" dur="1000"/>
                                        <p:tgtEl>
                                          <p:spTgt spid="4">
                                            <p:txEl>
                                              <p:pRg st="6" end="6"/>
                                            </p:txEl>
                                          </p:spTgt>
                                        </p:tgtEl>
                                      </p:cBhvr>
                                    </p:animEffect>
                                    <p:anim calcmode="lin" valueType="num">
                                      <p:cBhvr>
                                        <p:cTn id="41"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par>
                          <p:cTn id="43" fill="hold">
                            <p:stCondLst>
                              <p:cond delay="6000"/>
                            </p:stCondLst>
                            <p:childTnLst>
                              <p:par>
                                <p:cTn id="44" presetID="42" presetClass="entr" presetSubtype="0" fill="hold" nodeType="after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animEffect transition="in" filter="fade">
                                      <p:cBhvr>
                                        <p:cTn id="46" dur="1000"/>
                                        <p:tgtEl>
                                          <p:spTgt spid="4">
                                            <p:txEl>
                                              <p:pRg st="7" end="7"/>
                                            </p:txEl>
                                          </p:spTgt>
                                        </p:tgtEl>
                                      </p:cBhvr>
                                    </p:animEffect>
                                    <p:anim calcmode="lin" valueType="num">
                                      <p:cBhvr>
                                        <p:cTn id="4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par>
                          <p:cTn id="49" fill="hold">
                            <p:stCondLst>
                              <p:cond delay="7000"/>
                            </p:stCondLst>
                            <p:childTnLst>
                              <p:par>
                                <p:cTn id="50" presetID="42" presetClass="entr" presetSubtype="0" fill="hold" nodeType="after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animEffect transition="in" filter="fade">
                                      <p:cBhvr>
                                        <p:cTn id="52" dur="1000"/>
                                        <p:tgtEl>
                                          <p:spTgt spid="4">
                                            <p:txEl>
                                              <p:pRg st="8" end="8"/>
                                            </p:txEl>
                                          </p:spTgt>
                                        </p:tgtEl>
                                      </p:cBhvr>
                                    </p:animEffect>
                                    <p:anim calcmode="lin" valueType="num">
                                      <p:cBhvr>
                                        <p:cTn id="5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524" y="228600"/>
            <a:ext cx="6963676" cy="1295400"/>
          </a:xfrm>
        </p:spPr>
        <p:txBody>
          <a:bodyPr>
            <a:normAutofit/>
          </a:bodyPr>
          <a:lstStyle/>
          <a:p>
            <a:r>
              <a:rPr lang="en-MY" sz="3200" b="1" u="sng" dirty="0" smtClean="0"/>
              <a:t>CONCLUSION</a:t>
            </a:r>
            <a:endParaRPr lang="en-MY" sz="3200" b="1" u="sng" dirty="0"/>
          </a:p>
        </p:txBody>
      </p:sp>
      <p:sp>
        <p:nvSpPr>
          <p:cNvPr id="4" name="Text Placeholder 3"/>
          <p:cNvSpPr>
            <a:spLocks noGrp="1"/>
          </p:cNvSpPr>
          <p:nvPr>
            <p:ph type="body" sz="half" idx="2"/>
          </p:nvPr>
        </p:nvSpPr>
        <p:spPr>
          <a:xfrm>
            <a:off x="1143000" y="1600200"/>
            <a:ext cx="6963676" cy="5105400"/>
          </a:xfrm>
        </p:spPr>
        <p:txBody>
          <a:bodyPr/>
          <a:lstStyle/>
          <a:p>
            <a:pPr algn="just"/>
            <a:r>
              <a:rPr lang="en-MY" sz="2400" dirty="0"/>
              <a:t>Our personal life is highly dependent on the technology that people have developed. Technology has advanced with years and it has changed the way we purchase products , the way we live , the way we communicate , the way we travel , the way we learn and so many changes have been brought about by these continuous technological advancements. As people’s demands and life style change, the demand for advancing the type of technology we use is high.</a:t>
            </a:r>
          </a:p>
        </p:txBody>
      </p:sp>
      <p:sp>
        <p:nvSpPr>
          <p:cNvPr id="3" name="Slide Number Placeholder 2"/>
          <p:cNvSpPr>
            <a:spLocks noGrp="1"/>
          </p:cNvSpPr>
          <p:nvPr>
            <p:ph type="sldNum" sz="quarter" idx="12"/>
          </p:nvPr>
        </p:nvSpPr>
        <p:spPr/>
        <p:txBody>
          <a:bodyPr/>
          <a:lstStyle/>
          <a:p>
            <a:fld id="{39B1E3E2-56D6-4A45-9372-0002E404ECCF}" type="slidenum">
              <a:rPr lang="en-US" smtClean="0"/>
              <a:t>11</a:t>
            </a:fld>
            <a:endParaRPr lang="en-US"/>
          </a:p>
        </p:txBody>
      </p:sp>
    </p:spTree>
    <p:extLst>
      <p:ext uri="{BB962C8B-B14F-4D97-AF65-F5344CB8AC3E}">
        <p14:creationId xmlns:p14="http://schemas.microsoft.com/office/powerpoint/2010/main" val="708251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0"/>
            <a:ext cx="7704667" cy="6400799"/>
          </a:xfrm>
          <a:solidFill>
            <a:schemeClr val="accent6"/>
          </a:solidFill>
          <a:ln>
            <a:solidFill>
              <a:schemeClr val="bg1"/>
            </a:solidFill>
          </a:ln>
          <a:scene3d>
            <a:camera prst="isometricRightUp"/>
            <a:lightRig rig="threePt" dir="t"/>
          </a:scene3d>
        </p:spPr>
        <p:style>
          <a:lnRef idx="1">
            <a:schemeClr val="accent6"/>
          </a:lnRef>
          <a:fillRef idx="3">
            <a:schemeClr val="accent6"/>
          </a:fillRef>
          <a:effectRef idx="2">
            <a:schemeClr val="accent6"/>
          </a:effectRef>
          <a:fontRef idx="minor">
            <a:schemeClr val="lt1"/>
          </a:fontRef>
        </p:style>
        <p:txBody>
          <a:bodyPr>
            <a:normAutofit/>
          </a:bodyPr>
          <a:lstStyle/>
          <a:p>
            <a:r>
              <a:rPr lang="en-US" sz="8800" dirty="0" smtClean="0">
                <a:latin typeface="Algerian" pitchFamily="82" charset="0"/>
              </a:rPr>
              <a:t>Thank You</a:t>
            </a:r>
            <a:endParaRPr lang="en-US" sz="8800" dirty="0">
              <a:latin typeface="Algerian" pitchFamily="82" charset="0"/>
            </a:endParaRPr>
          </a:p>
        </p:txBody>
      </p:sp>
      <p:sp>
        <p:nvSpPr>
          <p:cNvPr id="3" name="Slide Number Placeholder 2"/>
          <p:cNvSpPr>
            <a:spLocks noGrp="1"/>
          </p:cNvSpPr>
          <p:nvPr>
            <p:ph type="sldNum" sz="quarter" idx="12"/>
          </p:nvPr>
        </p:nvSpPr>
        <p:spPr/>
        <p:txBody>
          <a:bodyPr/>
          <a:lstStyle/>
          <a:p>
            <a:fld id="{39B1E3E2-56D6-4A45-9372-0002E404ECCF}" type="slidenum">
              <a:rPr lang="en-US" smtClean="0"/>
              <a:t>12</a:t>
            </a:fld>
            <a:endParaRPr lang="en-US"/>
          </a:p>
        </p:txBody>
      </p:sp>
    </p:spTree>
    <p:extLst>
      <p:ext uri="{BB962C8B-B14F-4D97-AF65-F5344CB8AC3E}">
        <p14:creationId xmlns:p14="http://schemas.microsoft.com/office/powerpoint/2010/main" val="7696595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xmlns=""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447</TotalTime>
  <Words>541</Words>
  <Application>Microsoft Office PowerPoint</Application>
  <PresentationFormat>On-screen Show (4:3)</PresentationFormat>
  <Paragraphs>94</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Parallax</vt:lpstr>
      <vt:lpstr>Bangladesh University OF Business And Technology </vt:lpstr>
      <vt:lpstr>OUTLINE</vt:lpstr>
      <vt:lpstr>INTRODUCTION</vt:lpstr>
      <vt:lpstr>Technological advancement in different sectors</vt:lpstr>
      <vt:lpstr>What is Space technology?</vt:lpstr>
      <vt:lpstr>What is Information technology?</vt:lpstr>
      <vt:lpstr>What is laser technology?</vt:lpstr>
      <vt:lpstr>What is Bio-technology?</vt:lpstr>
      <vt:lpstr>What is Nano technology? </vt:lpstr>
      <vt:lpstr>PowerPoint Presentation</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Technological Advancement</dc:title>
  <dc:creator>Saidujjaman</dc:creator>
  <cp:lastModifiedBy>Saidujjaman</cp:lastModifiedBy>
  <cp:revision>55</cp:revision>
  <dcterms:created xsi:type="dcterms:W3CDTF">2017-04-12T15:28:05Z</dcterms:created>
  <dcterms:modified xsi:type="dcterms:W3CDTF">2017-04-18T15:01:24Z</dcterms:modified>
</cp:coreProperties>
</file>