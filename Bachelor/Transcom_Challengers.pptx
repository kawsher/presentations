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21"/>
  </p:notesMasterIdLst>
  <p:sldIdLst>
    <p:sldId id="275" r:id="rId2"/>
    <p:sldId id="280" r:id="rId3"/>
    <p:sldId id="276" r:id="rId4"/>
    <p:sldId id="281" r:id="rId5"/>
    <p:sldId id="279" r:id="rId6"/>
    <p:sldId id="277" r:id="rId7"/>
    <p:sldId id="278" r:id="rId8"/>
    <p:sldId id="282" r:id="rId9"/>
    <p:sldId id="283" r:id="rId10"/>
    <p:sldId id="284" r:id="rId11"/>
    <p:sldId id="286" r:id="rId12"/>
    <p:sldId id="287" r:id="rId13"/>
    <p:sldId id="291" r:id="rId14"/>
    <p:sldId id="290" r:id="rId15"/>
    <p:sldId id="292" r:id="rId16"/>
    <p:sldId id="293" r:id="rId17"/>
    <p:sldId id="288" r:id="rId18"/>
    <p:sldId id="294" r:id="rId19"/>
    <p:sldId id="289" r:id="rId20"/>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71" autoAdjust="0"/>
    <p:restoredTop sz="94660"/>
  </p:normalViewPr>
  <p:slideViewPr>
    <p:cSldViewPr>
      <p:cViewPr varScale="1">
        <p:scale>
          <a:sx n="69" d="100"/>
          <a:sy n="69" d="100"/>
        </p:scale>
        <p:origin x="1380" y="66"/>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C1D4090-BCF4-4895-A0BB-63E4E793CFD2}" type="datetimeFigureOut">
              <a:rPr lang="en-US" smtClean="0"/>
              <a:t>5/3/2019</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0894C71-1B4D-4327-8D45-658C88294456}" type="slidenum">
              <a:rPr lang="en-US" smtClean="0"/>
              <a:t>‹#›</a:t>
            </a:fld>
            <a:endParaRPr lang="en-US"/>
          </a:p>
        </p:txBody>
      </p:sp>
    </p:spTree>
    <p:extLst>
      <p:ext uri="{BB962C8B-B14F-4D97-AF65-F5344CB8AC3E}">
        <p14:creationId xmlns:p14="http://schemas.microsoft.com/office/powerpoint/2010/main" val="269236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ACA77932-81AB-488A-BA9F-9949E9CE1998}" type="datetime1">
              <a:rPr lang="en-US" smtClean="0"/>
              <a:t>5/3/2019</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760326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371C879-6506-4960-AE66-0CA3DDA40C24}" type="datetime1">
              <a:rPr lang="en-US" smtClean="0"/>
              <a:t>5/3/2019</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6870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4ED3D6C-1870-4BC4-8035-C8CEBFF81CFF}" type="datetime1">
              <a:rPr lang="en-US" smtClean="0"/>
              <a:t>5/3/2019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33873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DDB31B4-689E-4965-8ECC-A40F43414EF0}" type="datetime1">
              <a:rPr lang="en-US" smtClean="0"/>
              <a:t>5/3/2019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6708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EE2597A-BDE9-4AFD-8989-4F776C716185}" type="datetime1">
              <a:rPr lang="en-US" smtClean="0"/>
              <a:t>5/3/2019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79162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B654353-8CD4-4D69-AD75-6CAB8A2244F8}" type="datetime1">
              <a:rPr lang="en-US" smtClean="0"/>
              <a:t>5/3/2019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07863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38A6A6-551A-4F81-8F1B-224ECA18F819}" type="datetime1">
              <a:rPr lang="en-US" smtClean="0"/>
              <a:t>5/3/2019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75179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86934EF-5B0C-4235-8454-03A7B6DAD5A5}" type="datetime1">
              <a:rPr lang="en-US" smtClean="0"/>
              <a:t>5/3/2019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44406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B7D5CD6-7649-4D18-AA89-6C30A9120872}" type="datetime1">
              <a:rPr lang="en-US" smtClean="0"/>
              <a:t>5/3/2019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918013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6B9F8B7-0270-4F10-A2F9-D99EFA1B3419}" type="datetime1">
              <a:rPr lang="en-US" smtClean="0"/>
              <a:t>5/3/2019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6212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AE5ABF-5293-460E-ACDB-C953131FBF2D}" type="datetime1">
              <a:rPr lang="en-US" smtClean="0"/>
              <a:t>5/3/2019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51655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400BFE-5766-4BC8-B1B3-2896C22139CC}" type="datetime1">
              <a:rPr lang="en-US" smtClean="0"/>
              <a:t>5/3/2019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153927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A6CECA3-91A8-49AE-92E5-8AC2B2B93D34}" type="datetime1">
              <a:rPr lang="en-US" smtClean="0"/>
              <a:t>5/3/2019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1232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98E1C6-B122-4F42-A23F-1A8CB09965B3}" type="datetime1">
              <a:rPr lang="en-US" smtClean="0"/>
              <a:t>5/3/2019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247617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12BF78E-5A11-4BE7-B164-7491380FD91A}" type="datetime1">
              <a:rPr lang="en-US" smtClean="0"/>
              <a:t>5/3/2019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094628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DD72D4A-74C2-4226-9CAF-A9EA642BF5F0}" type="datetime1">
              <a:rPr lang="en-US" smtClean="0"/>
              <a:t>5/3/2019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821004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2A4BC2-7F2B-4DA4-9DB3-9F1BDFA79250}" type="datetime1">
              <a:rPr lang="en-US" smtClean="0"/>
              <a:t>5/3/2019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5242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352D92D-62A1-4212-A74A-E789B7C35758}" type="datetime1">
              <a:rPr lang="en-US" smtClean="0"/>
              <a:t>5/3/2019</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180567466"/>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mailto:fhn@transcombd.com" TargetMode="External"/><Relationship Id="rId2" Type="http://schemas.openxmlformats.org/officeDocument/2006/relationships/hyperlink" Target="mailto:transcom@transcombd.com" TargetMode="External"/><Relationship Id="rId1" Type="http://schemas.openxmlformats.org/officeDocument/2006/relationships/slideLayout" Target="../slideLayouts/slideLayout7.xml"/><Relationship Id="rId4" Type="http://schemas.openxmlformats.org/officeDocument/2006/relationships/hyperlink" Target="mailto:el@transcombd.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en.wikipedia.org/wiki/Transcom_Group"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7000" r="-57000"/>
          </a:stretch>
        </a:blipFill>
        <a:effectLst/>
      </p:bgPr>
    </p:bg>
    <p:spTree>
      <p:nvGrpSpPr>
        <p:cNvPr id="1" name=""/>
        <p:cNvGrpSpPr/>
        <p:nvPr/>
      </p:nvGrpSpPr>
      <p:grpSpPr>
        <a:xfrm>
          <a:off x="0" y="0"/>
          <a:ext cx="0" cy="0"/>
          <a:chOff x="0" y="0"/>
          <a:chExt cx="0" cy="0"/>
        </a:xfrm>
      </p:grpSpPr>
      <p:sp>
        <p:nvSpPr>
          <p:cNvPr id="4" name="Rectangle 3"/>
          <p:cNvSpPr/>
          <p:nvPr/>
        </p:nvSpPr>
        <p:spPr>
          <a:xfrm>
            <a:off x="762000" y="685800"/>
            <a:ext cx="7662290" cy="923330"/>
          </a:xfrm>
          <a:prstGeom prst="rect">
            <a:avLst/>
          </a:prstGeom>
        </p:spPr>
        <p:txBody>
          <a:bodyPr wrap="square">
            <a:spAutoFit/>
          </a:bodyPr>
          <a:lstStyle/>
          <a:p>
            <a:pPr marL="12065" marR="5080" algn="ctr">
              <a:lnSpc>
                <a:spcPct val="100000"/>
              </a:lnSpc>
              <a:buClr>
                <a:schemeClr val="accent5"/>
              </a:buClr>
              <a:tabLst>
                <a:tab pos="268605" algn="l"/>
              </a:tabLst>
            </a:pPr>
            <a:r>
              <a:rPr lang="en-US" sz="5400" spc="-135" dirty="0" smtClean="0">
                <a:latin typeface="Calibri" panose="020F0502020204030204" pitchFamily="34" charset="0"/>
                <a:cs typeface="Calibri" panose="020F0502020204030204" pitchFamily="34" charset="0"/>
              </a:rPr>
              <a:t>Transcom Group</a:t>
            </a:r>
            <a:endParaRPr lang="en-US" sz="5400" dirty="0">
              <a:latin typeface="Calibri" panose="020F0502020204030204" pitchFamily="34" charset="0"/>
              <a:cs typeface="Calibri" panose="020F0502020204030204" pitchFamily="34" charset="0"/>
            </a:endParaRPr>
          </a:p>
        </p:txBody>
      </p:sp>
      <p:sp>
        <p:nvSpPr>
          <p:cNvPr id="2" name="Slide Number Placeholder 1"/>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1</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3756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066800" y="228600"/>
            <a:ext cx="8042564" cy="2438400"/>
          </a:xfrm>
          <a:prstGeom prst="roundRect">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1E1D29"/>
                </a:solidFill>
                <a:latin typeface="Algerian" panose="04020705040A02060702" pitchFamily="82" charset="0"/>
              </a:rPr>
              <a:t>Challengers</a:t>
            </a:r>
          </a:p>
        </p:txBody>
      </p:sp>
      <p:sp>
        <p:nvSpPr>
          <p:cNvPr id="4" name="Rounded Rectangle 3"/>
          <p:cNvSpPr/>
          <p:nvPr/>
        </p:nvSpPr>
        <p:spPr>
          <a:xfrm>
            <a:off x="1066800" y="2983211"/>
            <a:ext cx="3352800" cy="3124200"/>
          </a:xfrm>
          <a:prstGeom prst="roundRect">
            <a:avLst/>
          </a:prstGeom>
          <a:solidFill>
            <a:schemeClr val="accent1">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Supervised by:</a:t>
            </a:r>
          </a:p>
          <a:p>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Md.Mahin</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Chowdhury </a:t>
            </a:r>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Bipu</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Lecturer ,</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Dept. of CSE, BUBT</a:t>
            </a:r>
          </a:p>
        </p:txBody>
      </p:sp>
      <p:sp>
        <p:nvSpPr>
          <p:cNvPr id="5" name="Rounded Rectangle 4"/>
          <p:cNvSpPr/>
          <p:nvPr/>
        </p:nvSpPr>
        <p:spPr>
          <a:xfrm>
            <a:off x="4530437" y="2934720"/>
            <a:ext cx="4572000" cy="3181350"/>
          </a:xfrm>
          <a:prstGeom prst="roundRect">
            <a:avLst/>
          </a:prstGeom>
          <a:solidFill>
            <a:schemeClr val="accent1">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nSpc>
                <a:spcPct val="100000"/>
              </a:lnSpc>
              <a:spcBef>
                <a:spcPts val="495"/>
              </a:spcBef>
            </a:pPr>
            <a:r>
              <a:rPr lang="en-US" sz="2800" b="1" spc="-160" dirty="0">
                <a:solidFill>
                  <a:schemeClr val="tx1">
                    <a:lumMod val="95000"/>
                    <a:lumOff val="5000"/>
                  </a:schemeClr>
                </a:solidFill>
                <a:latin typeface="Times New Roman" panose="02020603050405020304" pitchFamily="18" charset="0"/>
                <a:cs typeface="Times New Roman" panose="02020603050405020304" pitchFamily="18" charset="0"/>
              </a:rPr>
              <a:t>Presented </a:t>
            </a:r>
            <a:r>
              <a:rPr lang="en-US" sz="2800" b="1" spc="-140" dirty="0">
                <a:solidFill>
                  <a:schemeClr val="tx1">
                    <a:lumMod val="95000"/>
                    <a:lumOff val="5000"/>
                  </a:schemeClr>
                </a:solidFill>
                <a:latin typeface="Times New Roman" panose="02020603050405020304" pitchFamily="18" charset="0"/>
                <a:cs typeface="Times New Roman" panose="02020603050405020304" pitchFamily="18" charset="0"/>
              </a:rPr>
              <a:t>by</a:t>
            </a:r>
            <a:r>
              <a:rPr lang="en-US" sz="2800" b="1" spc="-245"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800" b="1" spc="-229"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12700">
              <a:lnSpc>
                <a:spcPct val="100000"/>
              </a:lnSpc>
              <a:spcBef>
                <a:spcPts val="395"/>
              </a:spcBef>
            </a:pP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Md.  </a:t>
            </a:r>
            <a:r>
              <a:rPr lang="en-US" spc="-125" dirty="0" err="1">
                <a:solidFill>
                  <a:schemeClr val="tx1">
                    <a:lumMod val="95000"/>
                    <a:lumOff val="5000"/>
                  </a:schemeClr>
                </a:solidFill>
                <a:latin typeface="Times New Roman" panose="02020603050405020304" pitchFamily="18" charset="0"/>
                <a:cs typeface="Times New Roman" panose="02020603050405020304" pitchFamily="18" charset="0"/>
              </a:rPr>
              <a:t>Kawsher</a:t>
            </a: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pc="-125" dirty="0" err="1">
                <a:solidFill>
                  <a:schemeClr val="tx1">
                    <a:lumMod val="95000"/>
                    <a:lumOff val="5000"/>
                  </a:schemeClr>
                </a:solidFill>
                <a:latin typeface="Times New Roman" panose="02020603050405020304" pitchFamily="18" charset="0"/>
                <a:cs typeface="Times New Roman" panose="02020603050405020304" pitchFamily="18" charset="0"/>
              </a:rPr>
              <a:t>Mahbub</a:t>
            </a: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                ID:16172103282</a:t>
            </a:r>
          </a:p>
          <a:p>
            <a:pPr marL="12700">
              <a:lnSpc>
                <a:spcPct val="100000"/>
              </a:lnSpc>
              <a:spcBef>
                <a:spcPts val="395"/>
              </a:spcBef>
            </a:pP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Asif  </a:t>
            </a:r>
            <a:r>
              <a:rPr lang="en-US" spc="-125" dirty="0" err="1">
                <a:solidFill>
                  <a:schemeClr val="tx1">
                    <a:lumMod val="95000"/>
                    <a:lumOff val="5000"/>
                  </a:schemeClr>
                </a:solidFill>
                <a:latin typeface="Times New Roman" panose="02020603050405020304" pitchFamily="18" charset="0"/>
                <a:cs typeface="Times New Roman" panose="02020603050405020304" pitchFamily="18" charset="0"/>
              </a:rPr>
              <a:t>Rakib</a:t>
            </a: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  Khan                           </a:t>
            </a:r>
            <a:r>
              <a:rPr lang="en-US" spc="-125" dirty="0" smtClean="0">
                <a:solidFill>
                  <a:schemeClr val="tx1">
                    <a:lumMod val="95000"/>
                    <a:lumOff val="5000"/>
                  </a:schemeClr>
                </a:solidFill>
                <a:latin typeface="Times New Roman" panose="02020603050405020304" pitchFamily="18" charset="0"/>
                <a:cs typeface="Times New Roman" panose="02020603050405020304" pitchFamily="18" charset="0"/>
              </a:rPr>
              <a:t>ID:16172103279</a:t>
            </a:r>
            <a:endParaRPr lang="en-US" spc="-125" dirty="0">
              <a:solidFill>
                <a:schemeClr val="tx1">
                  <a:lumMod val="95000"/>
                  <a:lumOff val="5000"/>
                </a:schemeClr>
              </a:solidFill>
              <a:latin typeface="Times New Roman" panose="02020603050405020304" pitchFamily="18" charset="0"/>
              <a:cs typeface="Times New Roman" panose="02020603050405020304" pitchFamily="18" charset="0"/>
            </a:endParaRPr>
          </a:p>
          <a:p>
            <a:pPr marL="12700">
              <a:lnSpc>
                <a:spcPct val="100000"/>
              </a:lnSpc>
              <a:spcBef>
                <a:spcPts val="395"/>
              </a:spcBef>
            </a:pPr>
            <a:r>
              <a:rPr lang="en-US" spc="-125" dirty="0" err="1">
                <a:solidFill>
                  <a:schemeClr val="tx1">
                    <a:lumMod val="95000"/>
                    <a:lumOff val="5000"/>
                  </a:schemeClr>
                </a:solidFill>
                <a:latin typeface="Times New Roman" panose="02020603050405020304" pitchFamily="18" charset="0"/>
                <a:cs typeface="Times New Roman" panose="02020603050405020304" pitchFamily="18" charset="0"/>
              </a:rPr>
              <a:t>Sikder</a:t>
            </a: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  Md. </a:t>
            </a:r>
            <a:r>
              <a:rPr lang="en-US" spc="-125" dirty="0" err="1">
                <a:solidFill>
                  <a:schemeClr val="tx1">
                    <a:lumMod val="95000"/>
                    <a:lumOff val="5000"/>
                  </a:schemeClr>
                </a:solidFill>
                <a:latin typeface="Times New Roman" panose="02020603050405020304" pitchFamily="18" charset="0"/>
                <a:cs typeface="Times New Roman" panose="02020603050405020304" pitchFamily="18" charset="0"/>
              </a:rPr>
              <a:t>Saiful</a:t>
            </a: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  Islam              ID: 16172103316</a:t>
            </a:r>
          </a:p>
          <a:p>
            <a:pPr marL="12700">
              <a:spcBef>
                <a:spcPts val="395"/>
              </a:spcBef>
            </a:pPr>
            <a:r>
              <a:rPr lang="en-US" spc="-125" dirty="0" err="1" smtClean="0">
                <a:solidFill>
                  <a:schemeClr val="tx1">
                    <a:lumMod val="95000"/>
                    <a:lumOff val="5000"/>
                  </a:schemeClr>
                </a:solidFill>
                <a:latin typeface="Times New Roman" panose="02020603050405020304" pitchFamily="18" charset="0"/>
                <a:cs typeface="Times New Roman" panose="02020603050405020304" pitchFamily="18" charset="0"/>
              </a:rPr>
              <a:t>Naim</a:t>
            </a:r>
            <a:r>
              <a:rPr lang="en-US" spc="-125"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Mia </a:t>
            </a:r>
            <a:r>
              <a:rPr lang="en-US" spc="-125" dirty="0" smtClean="0">
                <a:solidFill>
                  <a:schemeClr val="tx1">
                    <a:lumMod val="95000"/>
                    <a:lumOff val="5000"/>
                  </a:schemeClr>
                </a:solidFill>
                <a:latin typeface="Times New Roman" panose="02020603050405020304" pitchFamily="18" charset="0"/>
                <a:cs typeface="Times New Roman" panose="02020603050405020304" pitchFamily="18" charset="0"/>
              </a:rPr>
              <a:t>h                                     </a:t>
            </a: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ID: </a:t>
            </a:r>
            <a:r>
              <a:rPr lang="en-US" spc="-125" dirty="0" smtClean="0">
                <a:solidFill>
                  <a:schemeClr val="tx1">
                    <a:lumMod val="95000"/>
                    <a:lumOff val="5000"/>
                  </a:schemeClr>
                </a:solidFill>
                <a:latin typeface="Times New Roman" panose="02020603050405020304" pitchFamily="18" charset="0"/>
                <a:cs typeface="Times New Roman" panose="02020603050405020304" pitchFamily="18" charset="0"/>
              </a:rPr>
              <a:t>16172103335</a:t>
            </a:r>
            <a:endParaRPr lang="en-US" spc="-125" dirty="0">
              <a:solidFill>
                <a:schemeClr val="tx1">
                  <a:lumMod val="95000"/>
                  <a:lumOff val="5000"/>
                </a:schemeClr>
              </a:solidFill>
              <a:latin typeface="Times New Roman" panose="02020603050405020304" pitchFamily="18" charset="0"/>
              <a:cs typeface="Times New Roman" panose="02020603050405020304" pitchFamily="18" charset="0"/>
            </a:endParaRPr>
          </a:p>
          <a:p>
            <a:pPr marL="12700">
              <a:lnSpc>
                <a:spcPct val="100000"/>
              </a:lnSpc>
              <a:spcBef>
                <a:spcPts val="395"/>
              </a:spcBef>
            </a:pP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a:xfrm>
            <a:off x="8305800" y="6201227"/>
            <a:ext cx="413483" cy="365125"/>
          </a:xfrm>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2</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88307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1981200"/>
            <a:ext cx="7772400" cy="3447098"/>
          </a:xfrm>
          <a:prstGeom prst="rect">
            <a:avLst/>
          </a:prstGeom>
        </p:spPr>
        <p:txBody>
          <a:bodyPr wrap="square">
            <a:spAutoFit/>
          </a:bodyPr>
          <a:lstStyle/>
          <a:p>
            <a:r>
              <a:rPr lang="en-US" cap="all" dirty="0" smtClean="0">
                <a:solidFill>
                  <a:srgbClr val="BF2718"/>
                </a:solidFill>
                <a:latin typeface="Times New Roman" panose="02020603050405020304" pitchFamily="18" charset="0"/>
                <a:cs typeface="Times New Roman" panose="02020603050405020304" pitchFamily="18" charset="0"/>
              </a:rPr>
              <a:t>About transcom limited </a:t>
            </a:r>
          </a:p>
          <a:p>
            <a:endParaRPr lang="en-US" sz="1600" cap="all" dirty="0">
              <a:solidFill>
                <a:srgbClr val="34404E"/>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Originated with tea plantations in 1885, TRANSCOM today is one of the leading and fastest growing diversified business houses in the country employing over </a:t>
            </a:r>
            <a:r>
              <a:rPr lang="en-US" dirty="0" smtClean="0">
                <a:latin typeface="Times New Roman" panose="02020603050405020304" pitchFamily="18" charset="0"/>
                <a:cs typeface="Times New Roman" panose="02020603050405020304" pitchFamily="18" charset="0"/>
              </a:rPr>
              <a:t>14000+ </a:t>
            </a:r>
            <a:r>
              <a:rPr lang="en-US" dirty="0">
                <a:latin typeface="Times New Roman" panose="02020603050405020304" pitchFamily="18" charset="0"/>
                <a:cs typeface="Times New Roman" panose="02020603050405020304" pitchFamily="18" charset="0"/>
              </a:rPr>
              <a:t>people. Not many industrial groups in Bangladesh can claim a history of continuous business pursuits stretching back over 125 years</a:t>
            </a:r>
            <a:r>
              <a:rPr lang="en-US" dirty="0" smtClean="0">
                <a:latin typeface="Times New Roman" panose="02020603050405020304" pitchFamily="18" charset="0"/>
                <a:cs typeface="Times New Roman" panose="02020603050405020304" pitchFamily="18" charset="0"/>
              </a:rPr>
              <a:t>!. </a:t>
            </a:r>
          </a:p>
          <a:p>
            <a:pPr algn="just"/>
            <a:endParaRPr lang="en-US" sz="1600" dirty="0" smtClean="0">
              <a:latin typeface="Times New Roman" panose="02020603050405020304" pitchFamily="18" charset="0"/>
              <a:cs typeface="Times New Roman" panose="02020603050405020304" pitchFamily="18" charset="0"/>
            </a:endParaRPr>
          </a:p>
          <a:p>
            <a:pPr algn="just"/>
            <a:r>
              <a:rPr lang="en-US" sz="2400" dirty="0" smtClean="0">
                <a:solidFill>
                  <a:schemeClr val="accent4"/>
                </a:solidFill>
                <a:latin typeface="Times New Roman" panose="02020603050405020304" pitchFamily="18" charset="0"/>
                <a:cs typeface="Times New Roman" panose="02020603050405020304" pitchFamily="18" charset="0"/>
              </a:rPr>
              <a:t>Location:</a:t>
            </a:r>
          </a:p>
          <a:p>
            <a:r>
              <a:rPr lang="en-US" b="1" dirty="0">
                <a:latin typeface="Times New Roman" panose="02020603050405020304" pitchFamily="18" charset="0"/>
                <a:cs typeface="Times New Roman" panose="02020603050405020304" pitchFamily="18" charset="0"/>
              </a:rPr>
              <a:t>Corporate Head Office: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Gulshan Tower </a:t>
            </a:r>
          </a:p>
          <a:p>
            <a:r>
              <a:rPr lang="en-US" dirty="0">
                <a:latin typeface="Times New Roman" panose="02020603050405020304" pitchFamily="18" charset="0"/>
                <a:cs typeface="Times New Roman" panose="02020603050405020304" pitchFamily="18" charset="0"/>
              </a:rPr>
              <a:t>Plot # 31, Road # 53, Gulshan North C/A, </a:t>
            </a:r>
          </a:p>
          <a:p>
            <a:r>
              <a:rPr lang="en-US" dirty="0">
                <a:latin typeface="Times New Roman" panose="02020603050405020304" pitchFamily="18" charset="0"/>
                <a:cs typeface="Times New Roman" panose="02020603050405020304" pitchFamily="18" charset="0"/>
              </a:rPr>
              <a:t>Gulshan-2, Dhaka-1212, Bangladesh </a:t>
            </a:r>
          </a:p>
        </p:txBody>
      </p:sp>
      <p:sp>
        <p:nvSpPr>
          <p:cNvPr id="3" name="Slide Number Placeholder 2"/>
          <p:cNvSpPr>
            <a:spLocks noGrp="1"/>
          </p:cNvSpPr>
          <p:nvPr>
            <p:ph type="sldNum" sz="quarter" idx="12"/>
          </p:nvPr>
        </p:nvSpPr>
        <p:spPr/>
        <p:txBody>
          <a:bodyPr/>
          <a:lstStyle/>
          <a:p>
            <a:fld id="{713C9493-BA46-4DA1-9751-6CCD0463CC4B}" type="slidenum">
              <a:rPr lang="en-US" sz="1600" smtClean="0">
                <a:latin typeface="Times New Roman" panose="02020603050405020304" pitchFamily="18" charset="0"/>
                <a:cs typeface="Times New Roman" panose="02020603050405020304" pitchFamily="18" charset="0"/>
              </a:rPr>
              <a:t>3</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8085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685800"/>
            <a:ext cx="7543800" cy="5224463"/>
          </a:xfrm>
          <a:prstGeom prst="rect">
            <a:avLst/>
          </a:prstGeom>
          <a:gradFill>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p:spPr>
      </p:pic>
      <p:sp>
        <p:nvSpPr>
          <p:cNvPr id="3" name="Slide Number Placeholder 2"/>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4</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4800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0" y="457200"/>
            <a:ext cx="7239000" cy="5109091"/>
          </a:xfrm>
          <a:prstGeom prst="rect">
            <a:avLst/>
          </a:prstGeom>
        </p:spPr>
        <p:txBody>
          <a:bodyPr wrap="square">
            <a:spAutoFit/>
          </a:bodyPr>
          <a:lstStyle/>
          <a:p>
            <a:r>
              <a:rPr lang="en-US" sz="2800" b="1" dirty="0">
                <a:solidFill>
                  <a:srgbClr val="000000"/>
                </a:solidFill>
                <a:latin typeface="Times New Roman" panose="02020603050405020304" pitchFamily="18" charset="0"/>
              </a:rPr>
              <a:t>Holding companies of Transcom </a:t>
            </a:r>
            <a:r>
              <a:rPr lang="en-US" sz="2800" b="1" dirty="0" smtClean="0">
                <a:solidFill>
                  <a:srgbClr val="000000"/>
                </a:solidFill>
                <a:latin typeface="Times New Roman" panose="02020603050405020304" pitchFamily="18" charset="0"/>
              </a:rPr>
              <a:t>Group:</a:t>
            </a:r>
            <a:endParaRPr lang="en-US" sz="800" b="1" dirty="0" smtClean="0">
              <a:solidFill>
                <a:srgbClr val="000000"/>
              </a:solidFill>
              <a:latin typeface="Times New Roman" panose="02020603050405020304" pitchFamily="18" charset="0"/>
            </a:endParaRPr>
          </a:p>
          <a:p>
            <a:endParaRPr lang="en-US" sz="2800" b="1" dirty="0" smtClean="0">
              <a:solidFill>
                <a:srgbClr val="000000"/>
              </a:solidFill>
              <a:latin typeface="Times New Roman" panose="02020603050405020304" pitchFamily="18" charset="0"/>
            </a:endParaRPr>
          </a:p>
          <a:p>
            <a:pPr marL="342900" indent="-342900">
              <a:buFont typeface="+mj-lt"/>
              <a:buAutoNum type="arabicPeriod"/>
            </a:pPr>
            <a:r>
              <a:rPr lang="en-US" dirty="0" smtClean="0">
                <a:latin typeface="Times New Roman" panose="02020603050405020304" pitchFamily="18" charset="0"/>
                <a:cs typeface="Times New Roman" panose="02020603050405020304" pitchFamily="18" charset="0"/>
              </a:rPr>
              <a:t>Transcom Electronics Limited (TEL): </a:t>
            </a:r>
            <a:endParaRPr lang="en-US" dirty="0" smtClean="0">
              <a:latin typeface="Times New Roman" panose="02020603050405020304" pitchFamily="18" charset="0"/>
              <a:ea typeface="SimSun-ExtB" panose="02010609060101010101" pitchFamily="49" charset="-122"/>
              <a:cs typeface="Times New Roman" panose="02020603050405020304" pitchFamily="18" charset="0"/>
            </a:endParaRP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Transcom </a:t>
            </a:r>
            <a:r>
              <a:rPr lang="en-US" dirty="0">
                <a:latin typeface="Times New Roman" panose="02020603050405020304" pitchFamily="18" charset="0"/>
                <a:ea typeface="SimSun-ExtB" panose="02010609060101010101" pitchFamily="49" charset="-122"/>
                <a:cs typeface="Times New Roman" panose="02020603050405020304" pitchFamily="18" charset="0"/>
              </a:rPr>
              <a:t>Beverages Ltd. </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Eskayef </a:t>
            </a:r>
            <a:r>
              <a:rPr lang="en-US" dirty="0">
                <a:latin typeface="Times New Roman" panose="02020603050405020304" pitchFamily="18" charset="0"/>
                <a:ea typeface="SimSun-ExtB" panose="02010609060101010101" pitchFamily="49" charset="-122"/>
                <a:cs typeface="Times New Roman" panose="02020603050405020304" pitchFamily="18" charset="0"/>
              </a:rPr>
              <a:t>(SK+F) Bangladesh Ltd. </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Media </a:t>
            </a:r>
            <a:r>
              <a:rPr lang="en-US" dirty="0">
                <a:latin typeface="Times New Roman" panose="02020603050405020304" pitchFamily="18" charset="0"/>
                <a:ea typeface="SimSun-ExtB" panose="02010609060101010101" pitchFamily="49" charset="-122"/>
                <a:cs typeface="Times New Roman" panose="02020603050405020304" pitchFamily="18" charset="0"/>
              </a:rPr>
              <a:t>Star Ltd. </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Media </a:t>
            </a:r>
            <a:r>
              <a:rPr lang="en-US" dirty="0">
                <a:latin typeface="Times New Roman" panose="02020603050405020304" pitchFamily="18" charset="0"/>
                <a:ea typeface="SimSun-ExtB" panose="02010609060101010101" pitchFamily="49" charset="-122"/>
                <a:cs typeface="Times New Roman" panose="02020603050405020304" pitchFamily="18" charset="0"/>
              </a:rPr>
              <a:t>World Ltd. </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Transcraft </a:t>
            </a:r>
            <a:r>
              <a:rPr lang="en-US" dirty="0">
                <a:latin typeface="Times New Roman" panose="02020603050405020304" pitchFamily="18" charset="0"/>
                <a:ea typeface="SimSun-ExtB" panose="02010609060101010101" pitchFamily="49" charset="-122"/>
                <a:cs typeface="Times New Roman" panose="02020603050405020304" pitchFamily="18" charset="0"/>
              </a:rPr>
              <a:t>Ltd. </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Tea </a:t>
            </a:r>
            <a:r>
              <a:rPr lang="en-US" dirty="0">
                <a:latin typeface="Times New Roman" panose="02020603050405020304" pitchFamily="18" charset="0"/>
                <a:ea typeface="SimSun-ExtB" panose="02010609060101010101" pitchFamily="49" charset="-122"/>
                <a:cs typeface="Times New Roman" panose="02020603050405020304" pitchFamily="18" charset="0"/>
              </a:rPr>
              <a:t>Holdings Ltd. </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Reliance </a:t>
            </a:r>
            <a:r>
              <a:rPr lang="en-US" dirty="0">
                <a:latin typeface="Times New Roman" panose="02020603050405020304" pitchFamily="18" charset="0"/>
                <a:ea typeface="SimSun-ExtB" panose="02010609060101010101" pitchFamily="49" charset="-122"/>
                <a:cs typeface="Times New Roman" panose="02020603050405020304" pitchFamily="18" charset="0"/>
              </a:rPr>
              <a:t>Insurance Ltd. </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Transcom Distribution Co. Ltd.</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Transcom Foods Ltd.</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Transcom Consumer  Product Ltd.</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Bangladesh Lamps Ltd.</a:t>
            </a:r>
          </a:p>
          <a:p>
            <a:pPr marL="342900" indent="-342900">
              <a:buFont typeface="+mj-lt"/>
              <a:buAutoNum type="arabicPeriod"/>
            </a:pPr>
            <a:r>
              <a:rPr lang="en-US" dirty="0" smtClean="0">
                <a:latin typeface="Times New Roman" panose="02020603050405020304" pitchFamily="18" charset="0"/>
                <a:ea typeface="SimSun-ExtB" panose="02010609060101010101" pitchFamily="49" charset="-122"/>
                <a:cs typeface="Times New Roman" panose="02020603050405020304" pitchFamily="18" charset="0"/>
              </a:rPr>
              <a:t>Bangladesh Electrical Industry Ltd.</a:t>
            </a:r>
          </a:p>
          <a:p>
            <a:endParaRPr lang="en-US" dirty="0">
              <a:latin typeface="Times New Roman" panose="02020603050405020304" pitchFamily="18" charset="0"/>
              <a:ea typeface="SimSun-ExtB" panose="02010609060101010101" pitchFamily="49" charset="-122"/>
              <a:cs typeface="Times New Roman" panose="02020603050405020304" pitchFamily="18" charset="0"/>
            </a:endParaRPr>
          </a:p>
          <a:p>
            <a:r>
              <a:rPr lang="en-US" b="1" dirty="0" smtClean="0">
                <a:solidFill>
                  <a:srgbClr val="000000"/>
                </a:solidFill>
                <a:latin typeface="Times New Roman" panose="02020603050405020304" pitchFamily="18" charset="0"/>
              </a:rPr>
              <a:t> </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5</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15497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762000"/>
            <a:ext cx="7772400" cy="5016758"/>
          </a:xfrm>
          <a:prstGeom prst="rect">
            <a:avLst/>
          </a:prstGeom>
        </p:spPr>
        <p:txBody>
          <a:bodyPr wrap="square">
            <a:spAutoFit/>
          </a:bodyPr>
          <a:lstStyle/>
          <a:p>
            <a:r>
              <a:rPr lang="en-US" sz="3600" dirty="0" smtClean="0">
                <a:latin typeface="Times New Roman" panose="02020603050405020304" pitchFamily="18" charset="0"/>
                <a:cs typeface="Times New Roman" panose="02020603050405020304" pitchFamily="18" charset="0"/>
              </a:rPr>
              <a:t>What </a:t>
            </a:r>
            <a:r>
              <a:rPr lang="en-US" sz="3600" dirty="0">
                <a:latin typeface="Times New Roman" panose="02020603050405020304" pitchFamily="18" charset="0"/>
                <a:cs typeface="Times New Roman" panose="02020603050405020304" pitchFamily="18" charset="0"/>
              </a:rPr>
              <a:t>T</a:t>
            </a:r>
            <a:r>
              <a:rPr lang="en-US" sz="3600" dirty="0" smtClean="0">
                <a:latin typeface="Times New Roman" panose="02020603050405020304" pitchFamily="18" charset="0"/>
                <a:cs typeface="Times New Roman" panose="02020603050405020304" pitchFamily="18" charset="0"/>
              </a:rPr>
              <a:t>ranscom do?</a:t>
            </a:r>
          </a:p>
          <a:p>
            <a:r>
              <a:rPr lang="en-US" sz="3600" dirty="0" smtClean="0">
                <a:latin typeface="Times New Roman" panose="02020603050405020304" pitchFamily="18" charset="0"/>
                <a:cs typeface="Times New Roman" panose="02020603050405020304" pitchFamily="18" charset="0"/>
              </a:rPr>
              <a:t>1.Manufacture Product</a:t>
            </a:r>
            <a:br>
              <a:rPr lang="en-US" sz="3600" dirty="0" smtClean="0">
                <a:latin typeface="Times New Roman" panose="02020603050405020304" pitchFamily="18" charset="0"/>
                <a:cs typeface="Times New Roman" panose="02020603050405020304" pitchFamily="18" charset="0"/>
              </a:rPr>
            </a:br>
            <a:r>
              <a:rPr lang="en-US" sz="3600" dirty="0" smtClean="0">
                <a:latin typeface="Times New Roman" panose="02020603050405020304" pitchFamily="18" charset="0"/>
                <a:cs typeface="Times New Roman" panose="02020603050405020304" pitchFamily="18" charset="0"/>
              </a:rPr>
              <a:t>  </a:t>
            </a:r>
            <a:r>
              <a:rPr lang="en-US" sz="2000" dirty="0" smtClean="0">
                <a:latin typeface="Roboto Condensed"/>
              </a:rPr>
              <a:t>Initially </a:t>
            </a:r>
            <a:r>
              <a:rPr lang="en-US" sz="2000" dirty="0">
                <a:latin typeface="Roboto Condensed"/>
              </a:rPr>
              <a:t>tea and later jute formed the backbone of the family </a:t>
            </a:r>
            <a:r>
              <a:rPr lang="en-US" sz="2000" dirty="0" smtClean="0">
                <a:latin typeface="Roboto Condensed"/>
              </a:rPr>
              <a:t>       business</a:t>
            </a:r>
            <a:r>
              <a:rPr lang="en-US" sz="2000" dirty="0">
                <a:latin typeface="Roboto Condensed"/>
              </a:rPr>
              <a:t>. Although these are still part of the activities and contributing marginally to the overall group </a:t>
            </a:r>
            <a:r>
              <a:rPr lang="en-US" sz="2000" dirty="0" smtClean="0">
                <a:latin typeface="Roboto Condensed"/>
              </a:rPr>
              <a:t>turnover.</a:t>
            </a:r>
            <a:endParaRPr lang="en-US" sz="2000" dirty="0" smtClean="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a:t>
            </a:r>
            <a:endParaRPr lang="en-US" sz="3600" dirty="0" smtClean="0">
              <a:latin typeface="Times New Roman" panose="02020603050405020304" pitchFamily="18" charset="0"/>
              <a:cs typeface="Times New Roman" panose="02020603050405020304" pitchFamily="18" charset="0"/>
            </a:endParaRPr>
          </a:p>
          <a:p>
            <a:r>
              <a:rPr lang="en-US" sz="3600" dirty="0" smtClean="0">
                <a:latin typeface="Times New Roman" panose="02020603050405020304" pitchFamily="18" charset="0"/>
                <a:cs typeface="Times New Roman" panose="02020603050405020304" pitchFamily="18" charset="0"/>
              </a:rPr>
              <a:t>2.Distrubute Product</a:t>
            </a:r>
          </a:p>
          <a:p>
            <a:r>
              <a:rPr lang="en-US" sz="2000" dirty="0" smtClean="0">
                <a:latin typeface="Times New Roman" panose="02020603050405020304" pitchFamily="18" charset="0"/>
                <a:cs typeface="Times New Roman" panose="02020603050405020304" pitchFamily="18" charset="0"/>
              </a:rPr>
              <a:t>Transcom distribution  company Limited (TDCL) has  the largest independent distribution setup in Bangladesh with full infrastructural facilities provided by a countrywide network of 23 branch offices along with one main office, warehouses and delivery vans, directly servicing over 8000 outlets throughout the whole country.</a:t>
            </a:r>
            <a:endParaRPr lang="en-US"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6</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37183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0" y="1676400"/>
            <a:ext cx="5147563" cy="2308324"/>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Phone: 58814663, 9848501, 58814701, 9848502. </a:t>
            </a:r>
          </a:p>
          <a:p>
            <a:r>
              <a:rPr lang="en-US" dirty="0">
                <a:latin typeface="Times New Roman" panose="02020603050405020304" pitchFamily="18" charset="0"/>
                <a:cs typeface="Times New Roman" panose="02020603050405020304" pitchFamily="18" charset="0"/>
              </a:rPr>
              <a:t>Fax: 880-2-9887373 (Gulshan), 9561350 (Motijheel) </a:t>
            </a:r>
          </a:p>
          <a:p>
            <a:r>
              <a:rPr lang="en-US" dirty="0">
                <a:latin typeface="Times New Roman" panose="02020603050405020304" pitchFamily="18" charset="0"/>
                <a:cs typeface="Times New Roman" panose="02020603050405020304" pitchFamily="18" charset="0"/>
              </a:rPr>
              <a:t>E-mail: </a:t>
            </a:r>
            <a:r>
              <a:rPr lang="en-US" dirty="0">
                <a:solidFill>
                  <a:schemeClr val="accent1"/>
                </a:solidFill>
                <a:latin typeface="Times New Roman" panose="02020603050405020304" pitchFamily="18" charset="0"/>
                <a:cs typeface="Times New Roman" panose="02020603050405020304" pitchFamily="18" charset="0"/>
                <a:hlinkClick r:id="rId2"/>
              </a:rPr>
              <a:t>transcom@transcombd.com</a:t>
            </a:r>
            <a:endParaRPr lang="en-US" dirty="0">
              <a:solidFill>
                <a:schemeClr val="accent1"/>
              </a:solidFill>
              <a:latin typeface="Times New Roman" panose="02020603050405020304" pitchFamily="18" charset="0"/>
              <a:cs typeface="Times New Roman" panose="02020603050405020304" pitchFamily="18" charset="0"/>
            </a:endParaRPr>
          </a:p>
          <a:p>
            <a:r>
              <a:rPr lang="en-US" dirty="0">
                <a:solidFill>
                  <a:srgbClr val="0070C0"/>
                </a:solidFill>
                <a:latin typeface="Times New Roman" panose="02020603050405020304" pitchFamily="18" charset="0"/>
                <a:cs typeface="Times New Roman" panose="02020603050405020304" pitchFamily="18" charset="0"/>
                <a:hlinkClick r:id="rId3"/>
              </a:rPr>
              <a:t>fhn@transcombd.com </a:t>
            </a:r>
            <a:endParaRPr lang="en-US" dirty="0">
              <a:solidFill>
                <a:srgbClr val="0070C0"/>
              </a:solidFill>
              <a:latin typeface="Times New Roman" panose="02020603050405020304" pitchFamily="18" charset="0"/>
              <a:cs typeface="Times New Roman" panose="02020603050405020304" pitchFamily="18" charset="0"/>
            </a:endParaRPr>
          </a:p>
          <a:p>
            <a:r>
              <a:rPr lang="en-US" dirty="0">
                <a:solidFill>
                  <a:srgbClr val="0070C0"/>
                </a:solidFill>
                <a:latin typeface="Times New Roman" panose="02020603050405020304" pitchFamily="18" charset="0"/>
                <a:cs typeface="Times New Roman" panose="02020603050405020304" pitchFamily="18" charset="0"/>
                <a:hlinkClick r:id="rId4"/>
              </a:rPr>
              <a:t>el@transcombd.com </a:t>
            </a:r>
            <a:endParaRPr lang="en-US" dirty="0">
              <a:solidFill>
                <a:srgbClr val="0070C0"/>
              </a:solidFill>
              <a:latin typeface="Times New Roman" panose="02020603050405020304" pitchFamily="18" charset="0"/>
              <a:cs typeface="Times New Roman" panose="02020603050405020304" pitchFamily="18" charset="0"/>
            </a:endParaRPr>
          </a:p>
          <a:p>
            <a:r>
              <a:rPr lang="en-US" dirty="0">
                <a:solidFill>
                  <a:srgbClr val="0070C0"/>
                </a:solidFill>
                <a:latin typeface="Times New Roman" panose="02020603050405020304" pitchFamily="18" charset="0"/>
                <a:cs typeface="Times New Roman" panose="02020603050405020304" pitchFamily="18" charset="0"/>
                <a:hlinkClick r:id="rId4"/>
              </a:rPr>
              <a:t>info@transcombd.com </a:t>
            </a:r>
            <a:endParaRPr lang="en-US" dirty="0">
              <a:solidFill>
                <a:srgbClr val="0070C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Website: </a:t>
            </a:r>
            <a:r>
              <a:rPr lang="en-US" dirty="0" smtClean="0">
                <a:solidFill>
                  <a:srgbClr val="0070C0"/>
                </a:solidFill>
                <a:latin typeface="Times New Roman" panose="02020603050405020304" pitchFamily="18" charset="0"/>
                <a:cs typeface="Times New Roman" panose="02020603050405020304" pitchFamily="18" charset="0"/>
              </a:rPr>
              <a:t>www.transcombd.com</a:t>
            </a:r>
            <a:endParaRPr lang="en-US" dirty="0"/>
          </a:p>
          <a:p>
            <a:r>
              <a:rPr lang="en-US" dirty="0" smtClean="0"/>
              <a:t>https</a:t>
            </a:r>
            <a:r>
              <a:rPr lang="en-US" dirty="0"/>
              <a:t>://en.wikipedia.org/wiki/Transcom_Group</a:t>
            </a:r>
          </a:p>
        </p:txBody>
      </p:sp>
      <p:sp>
        <p:nvSpPr>
          <p:cNvPr id="3" name="Flowchart: Alternate Process 2"/>
          <p:cNvSpPr/>
          <p:nvPr/>
        </p:nvSpPr>
        <p:spPr>
          <a:xfrm>
            <a:off x="1981200" y="533400"/>
            <a:ext cx="4724400" cy="914400"/>
          </a:xfrm>
          <a:prstGeom prst="flowChartAlternateProcess">
            <a:avLst/>
          </a:prstGeom>
          <a:solidFill>
            <a:schemeClr val="accent2">
              <a:lumMod val="75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lumMod val="95000"/>
                    <a:lumOff val="5000"/>
                  </a:schemeClr>
                </a:solidFill>
                <a:latin typeface="Arial Black" panose="020B0A04020102020204" pitchFamily="34" charset="0"/>
              </a:rPr>
              <a:t>Contact</a:t>
            </a:r>
            <a:endParaRPr lang="en-US" sz="3200" dirty="0">
              <a:solidFill>
                <a:schemeClr val="tx1">
                  <a:lumMod val="95000"/>
                  <a:lumOff val="5000"/>
                </a:schemeClr>
              </a:solidFill>
              <a:latin typeface="Arial Black" panose="020B0A040201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7</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72132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78898" y="381000"/>
            <a:ext cx="7707902" cy="6172201"/>
          </a:xfrm>
          <a:prstGeom prst="roundRect">
            <a:avLst/>
          </a:prstGeom>
          <a:solidFill>
            <a:schemeClr val="accent4">
              <a:lumMod val="40000"/>
              <a:lumOff val="60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Arial Black" panose="020B0A04020102020204" pitchFamily="34" charset="0"/>
              </a:rPr>
              <a:t>Literature review :</a:t>
            </a:r>
            <a:r>
              <a:rPr lang="en-US" sz="3600" dirty="0">
                <a:solidFill>
                  <a:schemeClr val="tx1"/>
                </a:solidFill>
                <a:latin typeface="+mj-lt"/>
              </a:rPr>
              <a:t>    </a:t>
            </a:r>
            <a:r>
              <a:rPr lang="en-US" dirty="0">
                <a:solidFill>
                  <a:schemeClr val="tx1"/>
                </a:solidFill>
              </a:rPr>
              <a:t>                                               </a:t>
            </a:r>
          </a:p>
          <a:p>
            <a:pPr algn="just">
              <a:lnSpc>
                <a:spcPct val="150000"/>
              </a:lnSpc>
            </a:pPr>
            <a:r>
              <a:rPr lang="en-US" dirty="0">
                <a:solidFill>
                  <a:schemeClr val="tx1"/>
                </a:solidFill>
              </a:rPr>
              <a:t>We analyze some company like as Transcom such as Intl Foodservice, Distributors Assn, Waffle House Inc., Roark Capital Group, Dinex Group. Many the company manufacture their own product and they also distribute other company’s product. Every company has a supply chain and distribute management. </a:t>
            </a:r>
          </a:p>
          <a:p>
            <a:pPr algn="just">
              <a:lnSpc>
                <a:spcPct val="150000"/>
              </a:lnSpc>
            </a:pPr>
            <a:r>
              <a:rPr lang="en-US" dirty="0">
                <a:solidFill>
                  <a:schemeClr val="tx1"/>
                </a:solidFill>
              </a:rPr>
              <a:t>Supply chain Management and distribution Management has assumed a significant role in the company’s performance. Every company has its own strategy for production and distribution. Most of the company try to make a better product to keep their customer. Also, they give </a:t>
            </a:r>
            <a:r>
              <a:rPr lang="en-US" dirty="0"/>
              <a:t/>
            </a:r>
            <a:br>
              <a:rPr lang="en-US" dirty="0"/>
            </a:br>
            <a:r>
              <a:rPr lang="en-US" dirty="0">
                <a:solidFill>
                  <a:schemeClr val="tx1"/>
                </a:solidFill>
              </a:rPr>
              <a:t>Alluring </a:t>
            </a:r>
            <a:r>
              <a:rPr lang="en-US" dirty="0" smtClean="0">
                <a:solidFill>
                  <a:schemeClr val="tx1"/>
                </a:solidFill>
              </a:rPr>
              <a:t>offers</a:t>
            </a:r>
            <a:r>
              <a:rPr lang="bn-IN" dirty="0" smtClean="0">
                <a:solidFill>
                  <a:schemeClr val="tx1"/>
                </a:solidFill>
              </a:rPr>
              <a:t> </a:t>
            </a:r>
            <a:r>
              <a:rPr lang="en-US" dirty="0" smtClean="0">
                <a:solidFill>
                  <a:schemeClr val="tx1"/>
                </a:solidFill>
              </a:rPr>
              <a:t>to </a:t>
            </a:r>
            <a:r>
              <a:rPr lang="en-US" dirty="0">
                <a:solidFill>
                  <a:schemeClr val="tx1"/>
                </a:solidFill>
              </a:rPr>
              <a:t>the customer to buy a product.</a:t>
            </a:r>
          </a:p>
        </p:txBody>
      </p:sp>
      <p:sp>
        <p:nvSpPr>
          <p:cNvPr id="2" name="Slide Number Placeholder 1"/>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8</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85553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p:cNvSpPr/>
          <p:nvPr/>
        </p:nvSpPr>
        <p:spPr>
          <a:xfrm>
            <a:off x="1371600" y="838200"/>
            <a:ext cx="7620000" cy="4876800"/>
          </a:xfrm>
          <a:prstGeom prst="homePlate">
            <a:avLst/>
          </a:prstGeom>
          <a:solidFill>
            <a:schemeClr val="accent2">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2800" dirty="0">
                <a:solidFill>
                  <a:schemeClr val="bg2">
                    <a:lumMod val="10000"/>
                  </a:schemeClr>
                </a:solidFill>
              </a:rPr>
              <a:t>Basically </a:t>
            </a:r>
            <a:r>
              <a:rPr lang="en-US" sz="2800" dirty="0" smtClean="0">
                <a:solidFill>
                  <a:schemeClr val="bg2">
                    <a:lumMod val="10000"/>
                  </a:schemeClr>
                </a:solidFill>
              </a:rPr>
              <a:t>transcom </a:t>
            </a:r>
            <a:r>
              <a:rPr lang="en-US" sz="2800" dirty="0">
                <a:solidFill>
                  <a:schemeClr val="bg2">
                    <a:lumMod val="10000"/>
                  </a:schemeClr>
                </a:solidFill>
              </a:rPr>
              <a:t>group manufactured the product and distribute this product </a:t>
            </a:r>
          </a:p>
        </p:txBody>
      </p:sp>
      <p:sp>
        <p:nvSpPr>
          <p:cNvPr id="2" name="Slide Number Placeholder 1"/>
          <p:cNvSpPr>
            <a:spLocks noGrp="1"/>
          </p:cNvSpPr>
          <p:nvPr>
            <p:ph type="sldNum" sz="quarter" idx="12"/>
          </p:nvPr>
        </p:nvSpPr>
        <p:spPr>
          <a:xfrm>
            <a:off x="8305800" y="6172200"/>
            <a:ext cx="413483" cy="288925"/>
          </a:xfrm>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9</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68223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Alternate Process 2"/>
          <p:cNvSpPr/>
          <p:nvPr/>
        </p:nvSpPr>
        <p:spPr>
          <a:xfrm>
            <a:off x="1524000" y="685800"/>
            <a:ext cx="6705600" cy="5562600"/>
          </a:xfrm>
          <a:prstGeom prst="flowChartAlternateProcess">
            <a:avLst/>
          </a:prstGeom>
          <a:solidFill>
            <a:schemeClr val="accent6">
              <a:lumMod val="60000"/>
              <a:lumOff val="40000"/>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bg2">
                    <a:lumMod val="10000"/>
                  </a:schemeClr>
                </a:solidFill>
              </a:rPr>
              <a:t> </a:t>
            </a:r>
            <a:r>
              <a:rPr lang="en-US" sz="3200" dirty="0">
                <a:solidFill>
                  <a:schemeClr val="bg2">
                    <a:lumMod val="10000"/>
                  </a:schemeClr>
                </a:solidFill>
                <a:latin typeface="Arial Black" panose="020B0A04020102020204" pitchFamily="34" charset="0"/>
              </a:rPr>
              <a:t>Advantage : </a:t>
            </a:r>
            <a:endParaRPr lang="en-US" sz="3200" dirty="0" smtClean="0">
              <a:solidFill>
                <a:schemeClr val="bg2">
                  <a:lumMod val="10000"/>
                </a:schemeClr>
              </a:solidFill>
              <a:latin typeface="Arial Black" panose="020B0A04020102020204" pitchFamily="34" charset="0"/>
            </a:endParaRPr>
          </a:p>
          <a:p>
            <a:pPr marL="285750" indent="-285750">
              <a:buFont typeface="Arial" panose="020B0604020202020204" pitchFamily="34" charset="0"/>
              <a:buChar char="•"/>
            </a:pPr>
            <a:r>
              <a:rPr lang="en-US" sz="2400" dirty="0" smtClean="0">
                <a:solidFill>
                  <a:schemeClr val="bg2">
                    <a:lumMod val="10000"/>
                  </a:schemeClr>
                </a:solidFill>
              </a:rPr>
              <a:t> </a:t>
            </a:r>
            <a:r>
              <a:rPr lang="en-US" sz="2400" dirty="0">
                <a:solidFill>
                  <a:schemeClr val="bg2">
                    <a:lumMod val="10000"/>
                  </a:schemeClr>
                </a:solidFill>
              </a:rPr>
              <a:t>T</a:t>
            </a:r>
            <a:r>
              <a:rPr lang="en-US" sz="2400" dirty="0" smtClean="0">
                <a:solidFill>
                  <a:schemeClr val="bg2">
                    <a:lumMod val="10000"/>
                  </a:schemeClr>
                </a:solidFill>
              </a:rPr>
              <a:t>hey </a:t>
            </a:r>
            <a:r>
              <a:rPr lang="en-US" sz="2400" dirty="0">
                <a:solidFill>
                  <a:schemeClr val="bg2">
                    <a:lumMod val="10000"/>
                  </a:schemeClr>
                </a:solidFill>
              </a:rPr>
              <a:t>distribute their product every </a:t>
            </a:r>
            <a:r>
              <a:rPr lang="en-US" sz="2400" dirty="0" smtClean="0">
                <a:solidFill>
                  <a:schemeClr val="bg2">
                    <a:lumMod val="10000"/>
                  </a:schemeClr>
                </a:solidFill>
              </a:rPr>
              <a:t>zilla and </a:t>
            </a:r>
            <a:r>
              <a:rPr lang="en-US" sz="2400" dirty="0">
                <a:solidFill>
                  <a:schemeClr val="bg2">
                    <a:lumMod val="10000"/>
                  </a:schemeClr>
                </a:solidFill>
              </a:rPr>
              <a:t>big town all over the country.</a:t>
            </a:r>
          </a:p>
          <a:p>
            <a:pPr marL="285750" indent="-285750">
              <a:buFont typeface="Arial" panose="020B0604020202020204" pitchFamily="34" charset="0"/>
              <a:buChar char="•"/>
            </a:pPr>
            <a:r>
              <a:rPr lang="en-US" sz="2400" dirty="0" smtClean="0">
                <a:solidFill>
                  <a:schemeClr val="bg2">
                    <a:lumMod val="10000"/>
                  </a:schemeClr>
                </a:solidFill>
              </a:rPr>
              <a:t>Provide free Home </a:t>
            </a:r>
            <a:r>
              <a:rPr lang="en-US" sz="2400" dirty="0">
                <a:solidFill>
                  <a:schemeClr val="bg2">
                    <a:lumMod val="10000"/>
                  </a:schemeClr>
                </a:solidFill>
              </a:rPr>
              <a:t>delivery </a:t>
            </a:r>
            <a:r>
              <a:rPr lang="en-US" sz="2400" dirty="0" smtClean="0">
                <a:solidFill>
                  <a:schemeClr val="bg2">
                    <a:lumMod val="10000"/>
                  </a:schemeClr>
                </a:solidFill>
              </a:rPr>
              <a:t>service </a:t>
            </a:r>
          </a:p>
          <a:p>
            <a:pPr marL="285750" indent="-285750">
              <a:buFont typeface="Arial" panose="020B0604020202020204" pitchFamily="34" charset="0"/>
              <a:buChar char="•"/>
            </a:pPr>
            <a:r>
              <a:rPr lang="en-US" sz="2400" dirty="0" smtClean="0">
                <a:solidFill>
                  <a:schemeClr val="bg2">
                    <a:lumMod val="10000"/>
                  </a:schemeClr>
                </a:solidFill>
              </a:rPr>
              <a:t>Longevity</a:t>
            </a:r>
            <a:endParaRPr lang="en-US" sz="2400" dirty="0">
              <a:solidFill>
                <a:schemeClr val="bg2">
                  <a:lumMod val="10000"/>
                </a:schemeClr>
              </a:solidFill>
            </a:endParaRPr>
          </a:p>
          <a:p>
            <a:pPr marL="285750" indent="-285750">
              <a:buFont typeface="Arial" panose="020B0604020202020204" pitchFamily="34" charset="0"/>
              <a:buChar char="•"/>
            </a:pPr>
            <a:r>
              <a:rPr lang="en-US" sz="2400" dirty="0">
                <a:solidFill>
                  <a:schemeClr val="bg2">
                    <a:lumMod val="10000"/>
                  </a:schemeClr>
                </a:solidFill>
              </a:rPr>
              <a:t>Reasonable price </a:t>
            </a:r>
          </a:p>
          <a:p>
            <a:pPr marL="285750" indent="-285750">
              <a:buFont typeface="Arial" panose="020B0604020202020204" pitchFamily="34" charset="0"/>
              <a:buChar char="•"/>
            </a:pPr>
            <a:endParaRPr lang="en-US" dirty="0"/>
          </a:p>
        </p:txBody>
      </p:sp>
      <p:sp>
        <p:nvSpPr>
          <p:cNvPr id="2" name="Slide Number Placeholder 1"/>
          <p:cNvSpPr>
            <a:spLocks noGrp="1"/>
          </p:cNvSpPr>
          <p:nvPr>
            <p:ph type="sldNum" sz="quarter" idx="12"/>
          </p:nvPr>
        </p:nvSpPr>
        <p:spPr>
          <a:xfrm>
            <a:off x="8243455" y="6065837"/>
            <a:ext cx="457200" cy="365125"/>
          </a:xfrm>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10</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06842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amond 2"/>
          <p:cNvSpPr/>
          <p:nvPr/>
        </p:nvSpPr>
        <p:spPr>
          <a:xfrm>
            <a:off x="958117" y="80395"/>
            <a:ext cx="7315200" cy="6400800"/>
          </a:xfrm>
          <a:prstGeom prst="diamond">
            <a:avLst/>
          </a:prstGeom>
          <a:solidFill>
            <a:schemeClr val="accent4">
              <a:lumMod val="60000"/>
              <a:lumOff val="40000"/>
              <a:alpha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bg2">
                    <a:lumMod val="10000"/>
                  </a:schemeClr>
                </a:solidFill>
              </a:rPr>
              <a:t>Resource </a:t>
            </a:r>
            <a:r>
              <a:rPr lang="en-US" sz="3200" dirty="0" smtClean="0">
                <a:solidFill>
                  <a:schemeClr val="bg2">
                    <a:lumMod val="10000"/>
                  </a:schemeClr>
                </a:solidFill>
              </a:rPr>
              <a:t>:</a:t>
            </a:r>
          </a:p>
          <a:p>
            <a:r>
              <a:rPr lang="en-US" sz="2000" dirty="0" smtClean="0">
                <a:solidFill>
                  <a:schemeClr val="bg2">
                    <a:lumMod val="10000"/>
                  </a:schemeClr>
                </a:solidFill>
              </a:rPr>
              <a:t>They collect their raw materials from -</a:t>
            </a:r>
          </a:p>
          <a:p>
            <a:pPr marL="285750" indent="-285750">
              <a:buFont typeface="Arial" panose="020B0604020202020204" pitchFamily="34" charset="0"/>
              <a:buChar char="•"/>
            </a:pPr>
            <a:r>
              <a:rPr lang="en-US" sz="3200" dirty="0" smtClean="0">
                <a:solidFill>
                  <a:schemeClr val="bg2">
                    <a:lumMod val="10000"/>
                  </a:schemeClr>
                </a:solidFill>
              </a:rPr>
              <a:t>China</a:t>
            </a:r>
          </a:p>
          <a:p>
            <a:pPr marL="285750" indent="-285750">
              <a:buFont typeface="Arial" panose="020B0604020202020204" pitchFamily="34" charset="0"/>
              <a:buChar char="•"/>
            </a:pPr>
            <a:r>
              <a:rPr lang="en-US" sz="3200" dirty="0">
                <a:solidFill>
                  <a:schemeClr val="bg2">
                    <a:lumMod val="10000"/>
                  </a:schemeClr>
                </a:solidFill>
              </a:rPr>
              <a:t>J</a:t>
            </a:r>
            <a:r>
              <a:rPr lang="en-US" sz="3200" dirty="0" smtClean="0">
                <a:solidFill>
                  <a:schemeClr val="bg2">
                    <a:lumMod val="10000"/>
                  </a:schemeClr>
                </a:solidFill>
              </a:rPr>
              <a:t>apan </a:t>
            </a:r>
          </a:p>
          <a:p>
            <a:pPr marL="285750" indent="-285750">
              <a:buFont typeface="Arial" panose="020B0604020202020204" pitchFamily="34" charset="0"/>
              <a:buChar char="•"/>
            </a:pPr>
            <a:r>
              <a:rPr lang="en-US" sz="3200" dirty="0" smtClean="0">
                <a:solidFill>
                  <a:schemeClr val="bg2">
                    <a:lumMod val="10000"/>
                  </a:schemeClr>
                </a:solidFill>
              </a:rPr>
              <a:t>Thailand</a:t>
            </a:r>
            <a:endParaRPr lang="en-US" sz="3200" dirty="0">
              <a:solidFill>
                <a:schemeClr val="bg2">
                  <a:lumMod val="10000"/>
                </a:schemeClr>
              </a:solidFill>
            </a:endParaRPr>
          </a:p>
        </p:txBody>
      </p:sp>
      <p:sp>
        <p:nvSpPr>
          <p:cNvPr id="2" name="Slide Number Placeholder 1"/>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11</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8178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2697956" y="725164"/>
            <a:ext cx="3581400" cy="990600"/>
          </a:xfrm>
          <a:prstGeom prst="roundRect">
            <a:avLst/>
          </a:prstGeom>
          <a:solidFill>
            <a:schemeClr val="accent1">
              <a:alpha val="4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2">
                    <a:lumMod val="10000"/>
                  </a:schemeClr>
                </a:solidFill>
                <a:latin typeface="Arial Black" panose="020B0A04020102020204" pitchFamily="34" charset="0"/>
              </a:rPr>
              <a:t>Software </a:t>
            </a:r>
            <a:endParaRPr lang="en-US" sz="2800" dirty="0">
              <a:solidFill>
                <a:schemeClr val="bg2">
                  <a:lumMod val="10000"/>
                </a:schemeClr>
              </a:solidFill>
              <a:latin typeface="Arial Black" panose="020B0A04020102020204" pitchFamily="34" charset="0"/>
            </a:endParaRPr>
          </a:p>
        </p:txBody>
      </p:sp>
      <p:sp>
        <p:nvSpPr>
          <p:cNvPr id="6" name="Rounded Rectangle 5"/>
          <p:cNvSpPr/>
          <p:nvPr/>
        </p:nvSpPr>
        <p:spPr>
          <a:xfrm>
            <a:off x="4876800" y="2693997"/>
            <a:ext cx="4267200" cy="3429000"/>
          </a:xfrm>
          <a:prstGeom prst="round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685800" y="2693997"/>
            <a:ext cx="4043363" cy="3429000"/>
          </a:xfrm>
          <a:prstGeom prst="round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255044" y="1955154"/>
            <a:ext cx="4948238" cy="461665"/>
          </a:xfrm>
          <a:prstGeom prst="rect">
            <a:avLst/>
          </a:prstGeom>
          <a:noFill/>
        </p:spPr>
        <p:txBody>
          <a:bodyPr wrap="square" rtlCol="0">
            <a:spAutoFit/>
          </a:bodyPr>
          <a:lstStyle/>
          <a:p>
            <a:r>
              <a:rPr lang="pt-BR" sz="2400" dirty="0"/>
              <a:t>Transcom utilizes these </a:t>
            </a:r>
            <a:r>
              <a:rPr lang="pt-BR" sz="2400" b="1" dirty="0"/>
              <a:t>2 vendors</a:t>
            </a:r>
            <a:endParaRPr lang="en-US" sz="2400" dirty="0"/>
          </a:p>
        </p:txBody>
      </p:sp>
      <p:sp>
        <p:nvSpPr>
          <p:cNvPr id="2" name="Slide Number Placeholder 1"/>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12</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864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7527"/>
            <a:ext cx="9144000" cy="5899790"/>
          </a:xfrm>
          <a:prstGeom prst="rect">
            <a:avLst/>
          </a:prstGeom>
        </p:spPr>
      </p:pic>
      <p:sp>
        <p:nvSpPr>
          <p:cNvPr id="2" name="Slide Number Placeholder 1"/>
          <p:cNvSpPr>
            <a:spLocks noGrp="1"/>
          </p:cNvSpPr>
          <p:nvPr>
            <p:ph type="sldNum" sz="quarter" idx="12"/>
          </p:nvPr>
        </p:nvSpPr>
        <p:spPr>
          <a:xfrm>
            <a:off x="8458200" y="6136852"/>
            <a:ext cx="413483" cy="365125"/>
          </a:xfrm>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13</a:t>
            </a:fld>
            <a:endParaRPr lang="en-US" sz="16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2209800" y="6927"/>
            <a:ext cx="5181600" cy="990600"/>
          </a:xfrm>
          <a:prstGeom prst="roundRect">
            <a:avLst/>
          </a:prstGeom>
          <a:solidFill>
            <a:schemeClr val="accent1">
              <a:alpha val="4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2">
                    <a:lumMod val="10000"/>
                  </a:schemeClr>
                </a:solidFill>
                <a:latin typeface="Arial Black" panose="020B0A04020102020204" pitchFamily="34" charset="0"/>
              </a:rPr>
              <a:t>Data Flow Diagram</a:t>
            </a:r>
            <a:endParaRPr lang="en-US" sz="2800" dirty="0">
              <a:solidFill>
                <a:schemeClr val="bg2">
                  <a:lumMod val="10000"/>
                </a:schemeClr>
              </a:solidFill>
              <a:latin typeface="Arial Black" panose="020B0A04020102020204" pitchFamily="34" charset="0"/>
            </a:endParaRPr>
          </a:p>
        </p:txBody>
      </p:sp>
    </p:spTree>
    <p:extLst>
      <p:ext uri="{BB962C8B-B14F-4D97-AF65-F5344CB8AC3E}">
        <p14:creationId xmlns:p14="http://schemas.microsoft.com/office/powerpoint/2010/main" val="42773312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14</a:t>
            </a:fld>
            <a:endParaRPr lang="en-US" sz="16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2971800" y="152400"/>
            <a:ext cx="3581400" cy="990600"/>
          </a:xfrm>
          <a:prstGeom prst="roundRect">
            <a:avLst/>
          </a:prstGeom>
          <a:solidFill>
            <a:schemeClr val="accent1">
              <a:alpha val="4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2">
                    <a:lumMod val="10000"/>
                  </a:schemeClr>
                </a:solidFill>
                <a:latin typeface="Arial Black" panose="020B0A04020102020204" pitchFamily="34" charset="0"/>
              </a:rPr>
              <a:t>Loopholes </a:t>
            </a:r>
            <a:endParaRPr lang="en-US" sz="2800" dirty="0">
              <a:solidFill>
                <a:schemeClr val="bg2">
                  <a:lumMod val="10000"/>
                </a:schemeClr>
              </a:solidFill>
              <a:latin typeface="Arial Black" panose="020B0A04020102020204" pitchFamily="34" charset="0"/>
            </a:endParaRPr>
          </a:p>
        </p:txBody>
      </p:sp>
      <p:sp>
        <p:nvSpPr>
          <p:cNvPr id="5" name="Flowchart: Alternate Process 4"/>
          <p:cNvSpPr/>
          <p:nvPr/>
        </p:nvSpPr>
        <p:spPr>
          <a:xfrm>
            <a:off x="559260" y="1244177"/>
            <a:ext cx="8406479" cy="5080423"/>
          </a:xfrm>
          <a:prstGeom prst="flowChartAlternateProcess">
            <a:avLst/>
          </a:prstGeom>
          <a:solidFill>
            <a:schemeClr val="accent3">
              <a:lumMod val="40000"/>
              <a:lumOff val="60000"/>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endParaRPr lang="en-US" dirty="0" smtClean="0">
              <a:solidFill>
                <a:schemeClr val="tx1"/>
              </a:solidFill>
              <a:cs typeface="Times New Roman" panose="02020603050405020304" pitchFamily="18" charset="0"/>
            </a:endParaRPr>
          </a:p>
          <a:p>
            <a:pPr marL="285750" indent="-285750">
              <a:lnSpc>
                <a:spcPct val="150000"/>
              </a:lnSpc>
              <a:buFont typeface="Arial" panose="020B0604020202020204" pitchFamily="34" charset="0"/>
              <a:buChar char="•"/>
            </a:pPr>
            <a:r>
              <a:rPr lang="en-US" dirty="0" smtClean="0">
                <a:solidFill>
                  <a:schemeClr val="tx1"/>
                </a:solidFill>
              </a:rPr>
              <a:t>They </a:t>
            </a:r>
            <a:r>
              <a:rPr lang="en-US" dirty="0">
                <a:solidFill>
                  <a:schemeClr val="tx1"/>
                </a:solidFill>
              </a:rPr>
              <a:t>Maintenance Supply chain that’s why if one of the damage then the whole production will be damage</a:t>
            </a:r>
            <a:r>
              <a:rPr lang="en-US" dirty="0" smtClean="0">
                <a:solidFill>
                  <a:schemeClr val="tx1"/>
                </a:solidFill>
              </a:rPr>
              <a:t>.</a:t>
            </a:r>
            <a:endParaRPr lang="en-US" dirty="0">
              <a:solidFill>
                <a:schemeClr val="tx1"/>
              </a:solidFill>
            </a:endParaRPr>
          </a:p>
          <a:p>
            <a:pPr marL="285750" indent="-285750">
              <a:lnSpc>
                <a:spcPct val="150000"/>
              </a:lnSpc>
              <a:buFont typeface="Arial" panose="020B0604020202020204" pitchFamily="34" charset="0"/>
              <a:buChar char="•"/>
            </a:pPr>
            <a:r>
              <a:rPr lang="en-US" dirty="0" smtClean="0">
                <a:solidFill>
                  <a:schemeClr val="tx1"/>
                </a:solidFill>
              </a:rPr>
              <a:t>Production </a:t>
            </a:r>
            <a:r>
              <a:rPr lang="en-US" dirty="0">
                <a:solidFill>
                  <a:schemeClr val="tx1"/>
                </a:solidFill>
              </a:rPr>
              <a:t>cost is high because of the raw materials imported from abroad</a:t>
            </a:r>
            <a:r>
              <a:rPr lang="en-US" dirty="0" smtClean="0">
                <a:solidFill>
                  <a:schemeClr val="tx1"/>
                </a:solidFill>
              </a:rPr>
              <a:t>.</a:t>
            </a:r>
            <a:endParaRPr lang="en-US" dirty="0">
              <a:solidFill>
                <a:schemeClr val="tx1"/>
              </a:solidFill>
            </a:endParaRPr>
          </a:p>
          <a:p>
            <a:pPr marL="285750" indent="-285750">
              <a:lnSpc>
                <a:spcPct val="150000"/>
              </a:lnSpc>
              <a:buFont typeface="Arial" panose="020B0604020202020204" pitchFamily="34" charset="0"/>
              <a:buChar char="•"/>
            </a:pPr>
            <a:r>
              <a:rPr lang="en-US" dirty="0" smtClean="0">
                <a:solidFill>
                  <a:schemeClr val="tx1"/>
                </a:solidFill>
              </a:rPr>
              <a:t>Sometimes </a:t>
            </a:r>
            <a:r>
              <a:rPr lang="en-US" dirty="0">
                <a:solidFill>
                  <a:schemeClr val="tx1"/>
                </a:solidFill>
              </a:rPr>
              <a:t>Product didn’t reach the exact time to the consumer .</a:t>
            </a:r>
          </a:p>
          <a:p>
            <a:pPr marL="285750" indent="-285750">
              <a:lnSpc>
                <a:spcPct val="150000"/>
              </a:lnSpc>
              <a:buFont typeface="Arial" panose="020B0604020202020204" pitchFamily="34" charset="0"/>
              <a:buChar char="•"/>
            </a:pPr>
            <a:r>
              <a:rPr lang="en-US" dirty="0" smtClean="0">
                <a:solidFill>
                  <a:schemeClr val="tx1"/>
                </a:solidFill>
              </a:rPr>
              <a:t>Lower </a:t>
            </a:r>
            <a:r>
              <a:rPr lang="en-US" dirty="0">
                <a:solidFill>
                  <a:schemeClr val="tx1"/>
                </a:solidFill>
              </a:rPr>
              <a:t>class people can’t buy their product easily</a:t>
            </a:r>
            <a:r>
              <a:rPr lang="en-US" dirty="0" smtClean="0">
                <a:solidFill>
                  <a:schemeClr val="tx1"/>
                </a:solidFill>
              </a:rPr>
              <a:t>.</a:t>
            </a:r>
            <a:endParaRPr lang="en-US" dirty="0">
              <a:solidFill>
                <a:schemeClr val="tx1"/>
              </a:solidFill>
            </a:endParaRPr>
          </a:p>
          <a:p>
            <a:pPr marL="285750" indent="-285750">
              <a:lnSpc>
                <a:spcPct val="150000"/>
              </a:lnSpc>
              <a:buFont typeface="Arial" panose="020B0604020202020204" pitchFamily="34" charset="0"/>
              <a:buChar char="•"/>
            </a:pPr>
            <a:r>
              <a:rPr lang="en-US" dirty="0" smtClean="0">
                <a:solidFill>
                  <a:schemeClr val="tx1"/>
                </a:solidFill>
              </a:rPr>
              <a:t>Village </a:t>
            </a:r>
            <a:r>
              <a:rPr lang="en-US" dirty="0">
                <a:solidFill>
                  <a:schemeClr val="tx1"/>
                </a:solidFill>
              </a:rPr>
              <a:t>side &amp; small town people cannot properly enjoy the facilities of product maintenance</a:t>
            </a:r>
            <a:r>
              <a:rPr lang="en-US" dirty="0" smtClean="0">
                <a:solidFill>
                  <a:schemeClr val="tx1"/>
                </a:solidFill>
              </a:rPr>
              <a:t>.</a:t>
            </a:r>
            <a:endParaRPr lang="en-US" dirty="0">
              <a:solidFill>
                <a:schemeClr val="tx1"/>
              </a:solidFill>
            </a:endParaRPr>
          </a:p>
          <a:p>
            <a:pPr marL="285750" indent="-285750">
              <a:lnSpc>
                <a:spcPct val="150000"/>
              </a:lnSpc>
              <a:buFont typeface="Arial" panose="020B0604020202020204" pitchFamily="34" charset="0"/>
              <a:buChar char="•"/>
            </a:pPr>
            <a:r>
              <a:rPr lang="en-US" dirty="0" smtClean="0">
                <a:solidFill>
                  <a:schemeClr val="tx1"/>
                </a:solidFill>
              </a:rPr>
              <a:t>They </a:t>
            </a:r>
            <a:r>
              <a:rPr lang="en-US" dirty="0">
                <a:solidFill>
                  <a:schemeClr val="tx1"/>
                </a:solidFill>
              </a:rPr>
              <a:t>cannot distribute their product whole country.</a:t>
            </a:r>
          </a:p>
          <a:p>
            <a:pPr marL="285750" indent="-285750">
              <a:lnSpc>
                <a:spcPct val="150000"/>
              </a:lnSpc>
              <a:buFont typeface="Arial" panose="020B0604020202020204" pitchFamily="34" charset="0"/>
              <a:buChar char="•"/>
            </a:pPr>
            <a:r>
              <a:rPr lang="en-US" dirty="0" smtClean="0">
                <a:solidFill>
                  <a:schemeClr val="tx1"/>
                </a:solidFill>
              </a:rPr>
              <a:t>Labor </a:t>
            </a:r>
            <a:r>
              <a:rPr lang="en-US" dirty="0">
                <a:solidFill>
                  <a:schemeClr val="tx1"/>
                </a:solidFill>
              </a:rPr>
              <a:t>wages are </a:t>
            </a:r>
            <a:r>
              <a:rPr lang="en-US" dirty="0" smtClean="0">
                <a:solidFill>
                  <a:schemeClr val="tx1"/>
                </a:solidFill>
              </a:rPr>
              <a:t>low.</a:t>
            </a:r>
            <a:endParaRPr lang="en-US" dirty="0">
              <a:solidFill>
                <a:schemeClr val="tx1"/>
              </a:solidFill>
            </a:endParaRPr>
          </a:p>
          <a:p>
            <a:pPr marL="285750" indent="-285750">
              <a:lnSpc>
                <a:spcPct val="150000"/>
              </a:lnSpc>
              <a:buFont typeface="Arial" panose="020B0604020202020204" pitchFamily="34" charset="0"/>
              <a:buChar char="•"/>
            </a:pPr>
            <a:r>
              <a:rPr lang="en-US" dirty="0" smtClean="0">
                <a:solidFill>
                  <a:schemeClr val="tx1"/>
                </a:solidFill>
              </a:rPr>
              <a:t>The</a:t>
            </a:r>
            <a:r>
              <a:rPr lang="en-US" dirty="0">
                <a:solidFill>
                  <a:schemeClr val="tx1"/>
                </a:solidFill>
              </a:rPr>
              <a:t> HR department is too strict that’s why many employees feel uneasy.</a:t>
            </a:r>
          </a:p>
          <a:p>
            <a:pPr algn="just"/>
            <a:endParaRPr lang="en-US" dirty="0" smtClean="0">
              <a:solidFill>
                <a:schemeClr val="tx1"/>
              </a:solidFill>
              <a:cs typeface="Times New Roman" panose="02020603050405020304" pitchFamily="18" charset="0"/>
            </a:endParaRPr>
          </a:p>
          <a:p>
            <a:pPr marL="342900" indent="-342900">
              <a:buFont typeface="Arial" panose="020B0604020202020204" pitchFamily="34" charset="0"/>
              <a:buChar char="•"/>
            </a:pPr>
            <a:endParaRPr lang="en-US" dirty="0" smtClean="0">
              <a:solidFill>
                <a:schemeClr val="tx1"/>
              </a:solidFill>
              <a:cs typeface="Times New Roman" panose="02020603050405020304" pitchFamily="18" charset="0"/>
            </a:endParaRPr>
          </a:p>
          <a:p>
            <a:endParaRPr lang="en-US" dirty="0" smtClean="0">
              <a:solidFill>
                <a:schemeClr val="tx1"/>
              </a:solidFill>
              <a:cs typeface="Times New Roman" panose="02020603050405020304" pitchFamily="18" charset="0"/>
            </a:endParaRPr>
          </a:p>
          <a:p>
            <a:pPr marL="342900" indent="-342900">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13176195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9144000" cy="6477000"/>
          </a:xfrm>
          <a:prstGeom prst="rect">
            <a:avLst/>
          </a:prstGeom>
        </p:spPr>
      </p:pic>
      <p:sp>
        <p:nvSpPr>
          <p:cNvPr id="2" name="Slide Number Placeholder 1"/>
          <p:cNvSpPr>
            <a:spLocks noGrp="1"/>
          </p:cNvSpPr>
          <p:nvPr>
            <p:ph type="sldNum" sz="quarter" idx="12"/>
          </p:nvPr>
        </p:nvSpPr>
        <p:spPr>
          <a:xfrm>
            <a:off x="8458200" y="6324600"/>
            <a:ext cx="413483" cy="365125"/>
          </a:xfrm>
        </p:spPr>
        <p:txBody>
          <a:bodyPr/>
          <a:lstStyle/>
          <a:p>
            <a:fld id="{B6F15528-21DE-4FAA-801E-634DDDAF4B2B}" type="slidenum">
              <a:rPr lang="en-US" sz="1800" smtClean="0">
                <a:latin typeface="Times New Roman" panose="02020603050405020304" pitchFamily="18" charset="0"/>
                <a:cs typeface="Times New Roman" panose="02020603050405020304" pitchFamily="18" charset="0"/>
              </a:rPr>
              <a:t>15</a:t>
            </a:fld>
            <a:endParaRPr lang="en-US" sz="18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1066800" y="13447"/>
            <a:ext cx="7620000" cy="596153"/>
          </a:xfrm>
          <a:prstGeom prst="roundRect">
            <a:avLst/>
          </a:prstGeom>
          <a:solidFill>
            <a:schemeClr val="accent1">
              <a:alpha val="4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2">
                    <a:lumMod val="10000"/>
                  </a:schemeClr>
                </a:solidFill>
                <a:latin typeface="Arial Black" panose="020B0A04020102020204" pitchFamily="34" charset="0"/>
              </a:rPr>
              <a:t>Revised Data Flow Diagram</a:t>
            </a:r>
            <a:endParaRPr lang="en-US" sz="2800" dirty="0">
              <a:solidFill>
                <a:schemeClr val="bg2">
                  <a:lumMod val="10000"/>
                </a:schemeClr>
              </a:solidFill>
              <a:latin typeface="Arial Black" panose="020B0A04020102020204" pitchFamily="34" charset="0"/>
            </a:endParaRPr>
          </a:p>
        </p:txBody>
      </p:sp>
    </p:spTree>
    <p:extLst>
      <p:ext uri="{BB962C8B-B14F-4D97-AF65-F5344CB8AC3E}">
        <p14:creationId xmlns:p14="http://schemas.microsoft.com/office/powerpoint/2010/main" val="1872022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16</a:t>
            </a:fld>
            <a:endParaRPr lang="en-US"/>
          </a:p>
        </p:txBody>
      </p:sp>
      <p:sp>
        <p:nvSpPr>
          <p:cNvPr id="3" name="Rounded Rectangle 2"/>
          <p:cNvSpPr/>
          <p:nvPr/>
        </p:nvSpPr>
        <p:spPr>
          <a:xfrm>
            <a:off x="2133600" y="304800"/>
            <a:ext cx="5181600" cy="990600"/>
          </a:xfrm>
          <a:prstGeom prst="roundRect">
            <a:avLst/>
          </a:prstGeom>
          <a:solidFill>
            <a:schemeClr val="accent1">
              <a:alpha val="4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2">
                    <a:lumMod val="10000"/>
                  </a:schemeClr>
                </a:solidFill>
                <a:latin typeface="Arial Black" panose="020B0A04020102020204" pitchFamily="34" charset="0"/>
              </a:rPr>
              <a:t>Solution</a:t>
            </a:r>
            <a:endParaRPr lang="en-US" sz="2800" dirty="0">
              <a:solidFill>
                <a:schemeClr val="bg2">
                  <a:lumMod val="10000"/>
                </a:schemeClr>
              </a:solidFill>
              <a:latin typeface="Arial Black" panose="020B0A04020102020204" pitchFamily="34" charset="0"/>
            </a:endParaRPr>
          </a:p>
        </p:txBody>
      </p:sp>
      <p:sp>
        <p:nvSpPr>
          <p:cNvPr id="4" name="Flowchart: Alternate Process 3"/>
          <p:cNvSpPr/>
          <p:nvPr/>
        </p:nvSpPr>
        <p:spPr>
          <a:xfrm>
            <a:off x="1075881" y="1676400"/>
            <a:ext cx="7583210" cy="4648200"/>
          </a:xfrm>
          <a:prstGeom prst="flowChartAlternateProcess">
            <a:avLst/>
          </a:prstGeom>
          <a:solidFill>
            <a:schemeClr val="accent3">
              <a:lumMod val="40000"/>
              <a:lumOff val="60000"/>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Arial" panose="020B0604020202020204" pitchFamily="34" charset="0"/>
              <a:buChar char="•"/>
            </a:pPr>
            <a:endParaRPr lang="en-US" dirty="0">
              <a:solidFill>
                <a:schemeClr val="tx1"/>
              </a:solidFill>
            </a:endParaRPr>
          </a:p>
          <a:p>
            <a:pPr marL="285750" indent="-285750">
              <a:lnSpc>
                <a:spcPct val="150000"/>
              </a:lnSpc>
              <a:buFont typeface="Arial" panose="020B0604020202020204" pitchFamily="34" charset="0"/>
              <a:buChar char="•"/>
            </a:pPr>
            <a:r>
              <a:rPr lang="en-US" dirty="0" smtClean="0">
                <a:solidFill>
                  <a:schemeClr val="tx1"/>
                </a:solidFill>
              </a:rPr>
              <a:t>Now </a:t>
            </a:r>
            <a:r>
              <a:rPr lang="en-US" dirty="0">
                <a:solidFill>
                  <a:schemeClr val="tx1"/>
                </a:solidFill>
              </a:rPr>
              <a:t>the village side &amp; small town people now can properly enjoy the facilities of product maintenance</a:t>
            </a:r>
            <a:r>
              <a:rPr lang="en-US" dirty="0" smtClean="0">
                <a:solidFill>
                  <a:schemeClr val="tx1"/>
                </a:solidFill>
              </a:rPr>
              <a:t>.</a:t>
            </a:r>
            <a:endParaRPr lang="en-US" dirty="0">
              <a:solidFill>
                <a:schemeClr val="tx1"/>
              </a:solidFill>
            </a:endParaRPr>
          </a:p>
          <a:p>
            <a:pPr marL="285750" indent="-285750">
              <a:lnSpc>
                <a:spcPct val="150000"/>
              </a:lnSpc>
              <a:buFont typeface="Arial" panose="020B0604020202020204" pitchFamily="34" charset="0"/>
              <a:buChar char="•"/>
            </a:pPr>
            <a:r>
              <a:rPr lang="en-US" dirty="0" smtClean="0">
                <a:solidFill>
                  <a:schemeClr val="tx1"/>
                </a:solidFill>
              </a:rPr>
              <a:t>Now </a:t>
            </a:r>
            <a:r>
              <a:rPr lang="en-US" dirty="0">
                <a:solidFill>
                  <a:schemeClr val="tx1"/>
                </a:solidFill>
              </a:rPr>
              <a:t>they can distribute their product whole country.</a:t>
            </a:r>
          </a:p>
          <a:p>
            <a:pPr marL="285750" indent="-285750">
              <a:lnSpc>
                <a:spcPct val="150000"/>
              </a:lnSpc>
              <a:buFont typeface="Arial" panose="020B0604020202020204" pitchFamily="34" charset="0"/>
              <a:buChar char="•"/>
            </a:pPr>
            <a:r>
              <a:rPr lang="en-US" dirty="0" smtClean="0">
                <a:solidFill>
                  <a:schemeClr val="tx1"/>
                </a:solidFill>
              </a:rPr>
              <a:t>Now </a:t>
            </a:r>
            <a:r>
              <a:rPr lang="en-US" dirty="0">
                <a:solidFill>
                  <a:schemeClr val="tx1"/>
                </a:solidFill>
              </a:rPr>
              <a:t>the customer can exchange or return defect product</a:t>
            </a:r>
            <a:r>
              <a:rPr lang="en-US" dirty="0" smtClean="0">
                <a:solidFill>
                  <a:schemeClr val="tx1"/>
                </a:solidFill>
              </a:rPr>
              <a:t>.</a:t>
            </a:r>
            <a:endParaRPr lang="en-US" dirty="0">
              <a:solidFill>
                <a:schemeClr val="tx1"/>
              </a:solidFill>
            </a:endParaRPr>
          </a:p>
          <a:p>
            <a:pPr marL="285750" indent="-285750">
              <a:lnSpc>
                <a:spcPct val="150000"/>
              </a:lnSpc>
              <a:buFont typeface="Arial" panose="020B0604020202020204" pitchFamily="34" charset="0"/>
              <a:buChar char="•"/>
            </a:pPr>
            <a:r>
              <a:rPr lang="en-US" dirty="0" smtClean="0">
                <a:solidFill>
                  <a:schemeClr val="tx1"/>
                </a:solidFill>
              </a:rPr>
              <a:t>Now they can </a:t>
            </a:r>
            <a:r>
              <a:rPr lang="en-US" dirty="0" smtClean="0">
                <a:solidFill>
                  <a:schemeClr val="tx1"/>
                </a:solidFill>
              </a:rPr>
              <a:t>reach the  </a:t>
            </a:r>
            <a:r>
              <a:rPr lang="en-US" dirty="0" smtClean="0">
                <a:solidFill>
                  <a:schemeClr val="tx1"/>
                </a:solidFill>
              </a:rPr>
              <a:t>product an</a:t>
            </a:r>
            <a:r>
              <a:rPr lang="en-US" dirty="0">
                <a:solidFill>
                  <a:schemeClr val="tx1"/>
                </a:solidFill>
              </a:rPr>
              <a:t> exact </a:t>
            </a:r>
            <a:r>
              <a:rPr lang="en-US" dirty="0" smtClean="0">
                <a:solidFill>
                  <a:schemeClr val="tx1"/>
                </a:solidFill>
              </a:rPr>
              <a:t>time.</a:t>
            </a:r>
            <a:endParaRPr lang="en-US" dirty="0" smtClean="0">
              <a:solidFill>
                <a:schemeClr val="bg2">
                  <a:lumMod val="10000"/>
                </a:schemeClr>
              </a:solidFill>
              <a:cs typeface="Times New Roman" panose="02020603050405020304" pitchFamily="18" charset="0"/>
            </a:endParaRPr>
          </a:p>
          <a:p>
            <a:pPr algn="just"/>
            <a:endParaRPr lang="en-US" dirty="0" smtClean="0">
              <a:solidFill>
                <a:schemeClr val="bg2">
                  <a:lumMod val="10000"/>
                </a:schemeClr>
              </a:solidFill>
              <a:cs typeface="Times New Roman" panose="02020603050405020304" pitchFamily="18" charset="0"/>
            </a:endParaRPr>
          </a:p>
          <a:p>
            <a:pPr marL="342900" indent="-342900">
              <a:buFont typeface="Arial" panose="020B0604020202020204" pitchFamily="34" charset="0"/>
              <a:buChar char="•"/>
            </a:pPr>
            <a:endParaRPr lang="en-US" sz="800" dirty="0" smtClean="0">
              <a:solidFill>
                <a:schemeClr val="bg2">
                  <a:lumMod val="10000"/>
                </a:schemeClr>
              </a:solidFill>
              <a:cs typeface="Times New Roman" panose="02020603050405020304" pitchFamily="18" charset="0"/>
            </a:endParaRPr>
          </a:p>
          <a:p>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dirty="0">
              <a:solidFill>
                <a:schemeClr val="bg2">
                  <a:lumMod val="10000"/>
                </a:schemeClr>
              </a:solidFill>
            </a:endParaRPr>
          </a:p>
        </p:txBody>
      </p:sp>
    </p:spTree>
    <p:extLst>
      <p:ext uri="{BB962C8B-B14F-4D97-AF65-F5344CB8AC3E}">
        <p14:creationId xmlns:p14="http://schemas.microsoft.com/office/powerpoint/2010/main" val="4062191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Alternate Process 3"/>
          <p:cNvSpPr/>
          <p:nvPr/>
        </p:nvSpPr>
        <p:spPr>
          <a:xfrm>
            <a:off x="1524000" y="2438400"/>
            <a:ext cx="6858000" cy="4114800"/>
          </a:xfrm>
          <a:prstGeom prst="flowChartAlternateProcess">
            <a:avLst/>
          </a:prstGeom>
          <a:solidFill>
            <a:schemeClr val="accent3">
              <a:lumMod val="5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bg2">
                    <a:lumMod val="10000"/>
                  </a:schemeClr>
                </a:solidFill>
              </a:rPr>
              <a:t>1.http</a:t>
            </a:r>
            <a:r>
              <a:rPr lang="en-US" sz="2000" dirty="0">
                <a:solidFill>
                  <a:schemeClr val="bg2">
                    <a:lumMod val="10000"/>
                  </a:schemeClr>
                </a:solidFill>
              </a:rPr>
              <a:t>://website.tclwebapps.com</a:t>
            </a:r>
            <a:r>
              <a:rPr lang="en-US" sz="2000" dirty="0" smtClean="0">
                <a:solidFill>
                  <a:schemeClr val="bg2">
                    <a:lumMod val="10000"/>
                  </a:schemeClr>
                </a:solidFill>
              </a:rPr>
              <a:t>/</a:t>
            </a:r>
          </a:p>
          <a:p>
            <a:pPr algn="ctr"/>
            <a:endParaRPr lang="en-US" sz="2000" dirty="0" smtClean="0">
              <a:solidFill>
                <a:schemeClr val="bg2">
                  <a:lumMod val="10000"/>
                </a:schemeClr>
              </a:solidFill>
            </a:endParaRPr>
          </a:p>
          <a:p>
            <a:r>
              <a:rPr lang="en-US" sz="2000" dirty="0">
                <a:solidFill>
                  <a:schemeClr val="bg2">
                    <a:lumMod val="10000"/>
                  </a:schemeClr>
                </a:solidFill>
              </a:rPr>
              <a:t>2. https://www.transcombd.com/</a:t>
            </a:r>
            <a:endParaRPr lang="en-US" sz="2000" dirty="0" smtClean="0">
              <a:solidFill>
                <a:schemeClr val="bg2">
                  <a:lumMod val="10000"/>
                </a:schemeClr>
              </a:solidFill>
            </a:endParaRPr>
          </a:p>
          <a:p>
            <a:pPr algn="ctr"/>
            <a:r>
              <a:rPr lang="en-US" sz="2000" dirty="0">
                <a:solidFill>
                  <a:schemeClr val="bg2">
                    <a:lumMod val="10000"/>
                  </a:schemeClr>
                </a:solidFill>
              </a:rPr>
              <a:t> </a:t>
            </a:r>
            <a:r>
              <a:rPr lang="en-US" sz="2000" dirty="0" smtClean="0">
                <a:solidFill>
                  <a:schemeClr val="bg2">
                    <a:lumMod val="10000"/>
                  </a:schemeClr>
                </a:solidFill>
              </a:rPr>
              <a:t>               3.https</a:t>
            </a:r>
            <a:r>
              <a:rPr lang="en-US" sz="2000" dirty="0">
                <a:solidFill>
                  <a:schemeClr val="bg2">
                    <a:lumMod val="10000"/>
                  </a:schemeClr>
                </a:solidFill>
              </a:rPr>
              <a:t>://</a:t>
            </a:r>
            <a:r>
              <a:rPr lang="en-US" sz="2000" dirty="0" smtClean="0">
                <a:solidFill>
                  <a:schemeClr val="bg2">
                    <a:lumMod val="10000"/>
                  </a:schemeClr>
                </a:solidFill>
              </a:rPr>
              <a:t>www.featuredcustomers.com/customer/transcom/reviews?fbclid=IwAR0CPfc2GPjXqqMTcWkJc_dGIS-NdL_AtiBc80bo7K3UhRTHTdrFwKAbOfw</a:t>
            </a:r>
          </a:p>
          <a:p>
            <a:r>
              <a:rPr lang="en-US" sz="2000" dirty="0" smtClean="0">
                <a:solidFill>
                  <a:schemeClr val="tx1">
                    <a:lumMod val="95000"/>
                    <a:lumOff val="5000"/>
                  </a:schemeClr>
                </a:solidFill>
              </a:rPr>
              <a:t>4.</a:t>
            </a:r>
            <a:r>
              <a:rPr lang="en-US" sz="2000" dirty="0">
                <a:solidFill>
                  <a:schemeClr val="tx1"/>
                </a:solidFill>
              </a:rPr>
              <a:t> </a:t>
            </a:r>
            <a:r>
              <a:rPr lang="en-US" sz="2000" dirty="0">
                <a:solidFill>
                  <a:schemeClr val="tx1"/>
                </a:solidFill>
                <a:hlinkClick r:id="rId2"/>
              </a:rPr>
              <a:t>https://</a:t>
            </a:r>
            <a:r>
              <a:rPr lang="en-US" sz="2000" dirty="0" smtClean="0">
                <a:solidFill>
                  <a:schemeClr val="tx1"/>
                </a:solidFill>
                <a:hlinkClick r:id="rId2"/>
              </a:rPr>
              <a:t>en.wikipedia.org/wiki/Transcom_Group</a:t>
            </a:r>
            <a:endParaRPr lang="en-US" sz="2000" dirty="0" smtClean="0">
              <a:solidFill>
                <a:schemeClr val="tx1"/>
              </a:solidFill>
            </a:endParaRPr>
          </a:p>
          <a:p>
            <a:pPr algn="ctr"/>
            <a:endParaRPr lang="en-US" sz="2000" dirty="0">
              <a:solidFill>
                <a:schemeClr val="bg2">
                  <a:lumMod val="10000"/>
                </a:schemeClr>
              </a:solidFill>
            </a:endParaRPr>
          </a:p>
          <a:p>
            <a:pPr algn="ctr"/>
            <a:endParaRPr lang="en-US" sz="2000" dirty="0">
              <a:solidFill>
                <a:schemeClr val="bg2">
                  <a:lumMod val="10000"/>
                </a:schemeClr>
              </a:solidFill>
            </a:endParaRPr>
          </a:p>
        </p:txBody>
      </p:sp>
      <p:sp>
        <p:nvSpPr>
          <p:cNvPr id="5" name="Flowchart: Alternate Process 4"/>
          <p:cNvSpPr/>
          <p:nvPr/>
        </p:nvSpPr>
        <p:spPr>
          <a:xfrm>
            <a:off x="1524000" y="381000"/>
            <a:ext cx="6858000" cy="1600200"/>
          </a:xfrm>
          <a:prstGeom prst="flowChartAlternateProcess">
            <a:avLst/>
          </a:prstGeom>
          <a:solidFill>
            <a:schemeClr val="accent6">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lumMod val="85000"/>
                    <a:lumOff val="15000"/>
                  </a:schemeClr>
                </a:solidFill>
                <a:latin typeface="Arial Rounded MT Bold" panose="020F0704030504030204" pitchFamily="34" charset="0"/>
              </a:rPr>
              <a:t>Reference </a:t>
            </a:r>
            <a:endParaRPr lang="en-US" sz="3200" dirty="0">
              <a:solidFill>
                <a:schemeClr val="tx1">
                  <a:lumMod val="85000"/>
                  <a:lumOff val="15000"/>
                </a:schemeClr>
              </a:solidFill>
              <a:latin typeface="Arial Rounded MT Bold" panose="020F0704030504030204" pitchFamily="34" charset="0"/>
            </a:endParaRPr>
          </a:p>
        </p:txBody>
      </p:sp>
      <p:sp>
        <p:nvSpPr>
          <p:cNvPr id="2" name="Slide Number Placeholder 1"/>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17</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4133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18</a:t>
            </a:fld>
            <a:endParaRPr lang="en-US"/>
          </a:p>
        </p:txBody>
      </p:sp>
      <p:sp>
        <p:nvSpPr>
          <p:cNvPr id="3" name="Flowchart: Alternate Process 2"/>
          <p:cNvSpPr/>
          <p:nvPr/>
        </p:nvSpPr>
        <p:spPr>
          <a:xfrm>
            <a:off x="1394535" y="2209800"/>
            <a:ext cx="6858000" cy="1600200"/>
          </a:xfrm>
          <a:prstGeom prst="flowChartAlternateProcess">
            <a:avLst/>
          </a:prstGeom>
          <a:solidFill>
            <a:schemeClr val="accent6">
              <a:lumMod val="20000"/>
              <a:lumOff val="80000"/>
              <a:alpha val="56000"/>
            </a:schemeClr>
          </a:solidFill>
          <a:scene3d>
            <a:camera prst="isometricOffAxis1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lumMod val="85000"/>
                    <a:lumOff val="15000"/>
                  </a:schemeClr>
                </a:solidFill>
                <a:latin typeface="Arial Rounded MT Bold" panose="020F0704030504030204" pitchFamily="34" charset="0"/>
              </a:rPr>
              <a:t>Any Questions?</a:t>
            </a:r>
            <a:endParaRPr lang="en-US" sz="3200" dirty="0">
              <a:solidFill>
                <a:schemeClr val="tx1">
                  <a:lumMod val="85000"/>
                  <a:lumOff val="15000"/>
                </a:schemeClr>
              </a:solidFill>
              <a:latin typeface="Arial Rounded MT Bold" panose="020F0704030504030204" pitchFamily="34" charset="0"/>
            </a:endParaRPr>
          </a:p>
        </p:txBody>
      </p:sp>
    </p:spTree>
    <p:extLst>
      <p:ext uri="{BB962C8B-B14F-4D97-AF65-F5344CB8AC3E}">
        <p14:creationId xmlns:p14="http://schemas.microsoft.com/office/powerpoint/2010/main" val="3247567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3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Rounded Rectangle 1"/>
          <p:cNvSpPr/>
          <p:nvPr/>
        </p:nvSpPr>
        <p:spPr>
          <a:xfrm>
            <a:off x="1981200" y="1143000"/>
            <a:ext cx="6248400" cy="4648200"/>
          </a:xfrm>
          <a:prstGeom prst="roundRect">
            <a:avLst/>
          </a:prstGeom>
          <a:solidFill>
            <a:srgbClr val="002060">
              <a:alpha val="3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smtClean="0">
                <a:solidFill>
                  <a:schemeClr val="tx1">
                    <a:lumMod val="95000"/>
                    <a:lumOff val="5000"/>
                  </a:schemeClr>
                </a:solidFill>
                <a:latin typeface="Berlin Sans FB Demi" panose="020E0802020502020306" pitchFamily="34" charset="0"/>
              </a:rPr>
              <a:t>Thanks to all</a:t>
            </a:r>
            <a:endParaRPr lang="en-US" sz="6600" dirty="0">
              <a:solidFill>
                <a:schemeClr val="tx1">
                  <a:lumMod val="95000"/>
                  <a:lumOff val="5000"/>
                </a:schemeClr>
              </a:solidFill>
              <a:latin typeface="Berlin Sans FB Demi" panose="020E0802020502020306" pitchFamily="34" charset="0"/>
            </a:endParaRPr>
          </a:p>
        </p:txBody>
      </p:sp>
      <p:sp>
        <p:nvSpPr>
          <p:cNvPr id="3" name="Slide Number Placeholder 2"/>
          <p:cNvSpPr>
            <a:spLocks noGrp="1"/>
          </p:cNvSpPr>
          <p:nvPr>
            <p:ph type="sldNum" sz="quarter" idx="12"/>
          </p:nvPr>
        </p:nvSpPr>
        <p:spPr/>
        <p:txBody>
          <a:bodyPr/>
          <a:lstStyle/>
          <a:p>
            <a:fld id="{B6F15528-21DE-4FAA-801E-634DDDAF4B2B}" type="slidenum">
              <a:rPr lang="en-US" sz="1600" smtClean="0">
                <a:latin typeface="Times New Roman" panose="02020603050405020304" pitchFamily="18" charset="0"/>
                <a:cs typeface="Times New Roman" panose="02020603050405020304" pitchFamily="18" charset="0"/>
              </a:rPr>
              <a:t>19</a:t>
            </a:fld>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523898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793</TotalTime>
  <Words>353</Words>
  <Application>Microsoft Office PowerPoint</Application>
  <PresentationFormat>On-screen Show (4:3)</PresentationFormat>
  <Paragraphs>116</Paragraphs>
  <Slides>19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SimSun-ExtB</vt:lpstr>
      <vt:lpstr>Algerian</vt:lpstr>
      <vt:lpstr>Arial</vt:lpstr>
      <vt:lpstr>Arial Black</vt:lpstr>
      <vt:lpstr>Arial Rounded MT Bold</vt:lpstr>
      <vt:lpstr>Berlin Sans FB Demi</vt:lpstr>
      <vt:lpstr>Calibri</vt:lpstr>
      <vt:lpstr>Corbel</vt:lpstr>
      <vt:lpstr>Roboto Condensed</vt:lpstr>
      <vt:lpstr>Times New Roman</vt:lpstr>
      <vt:lpstr>Vrinda</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Saiful Islam</dc:creator>
  <cp:lastModifiedBy>Kawsher Mahbub</cp:lastModifiedBy>
  <cp:revision>85</cp:revision>
  <dcterms:created xsi:type="dcterms:W3CDTF">2019-02-21T15:33:44Z</dcterms:created>
  <dcterms:modified xsi:type="dcterms:W3CDTF">2019-05-03T16:51:48Z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2015-04-28T00:00:00Z</vt:filetime>
  </property>
  <property fmtid="{D5CDD505-2E9C-101B-9397-08002B2CF9AE}" pid="3" name="Creator">
    <vt:lpwstr>Microsoft® PowerPoint® 2013</vt:lpwstr>
  </property>
  <property fmtid="{D5CDD505-2E9C-101B-9397-08002B2CF9AE}" pid="4" name="LastSaved">
    <vt:filetime>2019-02-21T00:00:00Z</vt:filetime>
  </property>
</Properties>
</file>