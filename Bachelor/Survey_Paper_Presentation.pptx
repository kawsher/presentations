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Gabriela"/>
      <p:regular r:id="rId27"/>
    </p:embeddedFont>
    <p:embeddedFont>
      <p:font typeface="Lustria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9" roundtripDataSignature="AMtx7mh2RWgX8t+8r6f1iqnNWtpQunqt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Lustria-regular.fntdata"/><Relationship Id="rId27" Type="http://schemas.openxmlformats.org/officeDocument/2006/relationships/font" Target="fonts/Gabriel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a0b44637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a0b44637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a0b446378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a0b446378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a0b446378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a0b446378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2745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3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13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3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3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3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14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1" name="Google Shape;21;p1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16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30" name="Google Shape;30;p16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6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6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6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6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6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6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6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6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6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6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6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6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6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6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6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6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6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1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2" name="Google Shape;52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17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8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0" name="Google Shape;60;p1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" name="Google Shape;6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6" name="Google Shape;66;p1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19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9" name="Google Shape;69;p19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20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3" name="Google Shape;73;p20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0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0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0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0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0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0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0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0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0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0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0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0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0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0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0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0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20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1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5" name="Google Shape;95;p2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1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2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3" name="Google Shape;103;p22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2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9" name="Google Shape;109;p2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3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type="ctrTitle"/>
          </p:nvPr>
        </p:nvSpPr>
        <p:spPr>
          <a:xfrm>
            <a:off x="2999325" y="1747500"/>
            <a:ext cx="5810100" cy="22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 Survey on Predicting Player’s Performance and Team Recommendation in Game of Cricket Using Machine Learning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 txBox="1"/>
          <p:nvPr>
            <p:ph idx="1" type="body"/>
          </p:nvPr>
        </p:nvSpPr>
        <p:spPr>
          <a:xfrm>
            <a:off x="311700" y="1784725"/>
            <a:ext cx="85206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4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Supervised by</a:t>
            </a:r>
            <a:endParaRPr sz="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a0b446378c_0_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400">
                <a:latin typeface="Montserrat"/>
                <a:ea typeface="Montserrat"/>
                <a:cs typeface="Montserrat"/>
                <a:sym typeface="Montserrat"/>
              </a:rPr>
              <a:t>Milon Biswas</a:t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600">
                <a:latin typeface="Montserrat"/>
                <a:ea typeface="Montserrat"/>
                <a:cs typeface="Montserrat"/>
                <a:sym typeface="Montserrat"/>
              </a:rPr>
              <a:t>Assistant  Professor</a:t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600">
                <a:latin typeface="Montserrat"/>
                <a:ea typeface="Montserrat"/>
                <a:cs typeface="Montserrat"/>
                <a:sym typeface="Montserrat"/>
              </a:rPr>
              <a:t>Department of CSE</a:t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600">
                <a:latin typeface="Montserrat"/>
                <a:ea typeface="Montserrat"/>
                <a:cs typeface="Montserrat"/>
                <a:sym typeface="Montserrat"/>
              </a:rPr>
              <a:t>Bangladesh University of Business and Technology (BUBT)</a:t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a0b446378c_0_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200">
                <a:latin typeface="Montserrat"/>
                <a:ea typeface="Montserrat"/>
                <a:cs typeface="Montserrat"/>
                <a:sym typeface="Montserrat"/>
              </a:rPr>
              <a:t>Presented by</a:t>
            </a:r>
            <a:endParaRPr sz="2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Md. Kawsher Mahbub</a:t>
            </a:r>
            <a:endParaRPr sz="1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Sikder Md. Saiful Islam</a:t>
            </a:r>
            <a:endParaRPr sz="1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000">
                <a:latin typeface="Montserrat"/>
                <a:ea typeface="Montserrat"/>
                <a:cs typeface="Montserrat"/>
                <a:sym typeface="Montserrat"/>
              </a:rPr>
              <a:t>Sadia Sorna</a:t>
            </a:r>
            <a:endParaRPr sz="1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>
            <p:ph idx="1" type="body"/>
          </p:nvPr>
        </p:nvSpPr>
        <p:spPr>
          <a:xfrm>
            <a:off x="1297500" y="1567550"/>
            <a:ext cx="68676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latin typeface="Lustria"/>
                <a:ea typeface="Lustria"/>
                <a:cs typeface="Lustria"/>
                <a:sym typeface="Lustria"/>
              </a:rPr>
              <a:t>   Machine learning is using everywhere as well as in the prediction of sports. </a:t>
            </a:r>
            <a:endParaRPr sz="1200">
              <a:latin typeface="Lustria"/>
              <a:ea typeface="Lustria"/>
              <a:cs typeface="Lustria"/>
              <a:sym typeface="Lust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0">
              <a:latin typeface="Lustria"/>
              <a:ea typeface="Lustria"/>
              <a:cs typeface="Lustria"/>
              <a:sym typeface="Lustr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latin typeface="Lustria"/>
                <a:ea typeface="Lustria"/>
                <a:cs typeface="Lustria"/>
                <a:sym typeface="Lustria"/>
              </a:rPr>
              <a:t>Predicting the outcomes of a cricket match using the player's strength and weakness is the main reason.</a:t>
            </a:r>
            <a:endParaRPr sz="1200">
              <a:latin typeface="Lustria"/>
              <a:ea typeface="Lustria"/>
              <a:cs typeface="Lustria"/>
              <a:sym typeface="Lustr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00">
              <a:latin typeface="Lustria"/>
              <a:ea typeface="Lustria"/>
              <a:cs typeface="Lustria"/>
              <a:sym typeface="Lustri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rPr lang="en-US" sz="1200">
                <a:latin typeface="Lustria"/>
                <a:ea typeface="Lustria"/>
                <a:cs typeface="Lustria"/>
                <a:sym typeface="Lustria"/>
              </a:rPr>
              <a:t>For this prediction, mostly researcher used Naive Bayes, Random Forest, SVM, Decision Tree, Weighted Random Forest.</a:t>
            </a:r>
            <a:endParaRPr sz="1200">
              <a:latin typeface="Lustria"/>
              <a:ea typeface="Lustria"/>
              <a:cs typeface="Lustria"/>
              <a:sym typeface="Lust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Gabriela"/>
              <a:ea typeface="Gabriela"/>
              <a:cs typeface="Gabriela"/>
              <a:sym typeface="Gabriela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Gabriela"/>
              <a:ea typeface="Gabriela"/>
              <a:cs typeface="Gabriela"/>
              <a:sym typeface="Gabriela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55" name="Google Shape;155;p3"/>
          <p:cNvSpPr txBox="1"/>
          <p:nvPr>
            <p:ph type="title"/>
          </p:nvPr>
        </p:nvSpPr>
        <p:spPr>
          <a:xfrm>
            <a:off x="1297500" y="664750"/>
            <a:ext cx="68676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Introduction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/>
          <p:nvPr/>
        </p:nvSpPr>
        <p:spPr>
          <a:xfrm>
            <a:off x="1052550" y="307640"/>
            <a:ext cx="7038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  <a:endParaRPr/>
          </a:p>
        </p:txBody>
      </p:sp>
      <p:grpSp>
        <p:nvGrpSpPr>
          <p:cNvPr id="161" name="Google Shape;161;p4"/>
          <p:cNvGrpSpPr/>
          <p:nvPr/>
        </p:nvGrpSpPr>
        <p:grpSpPr>
          <a:xfrm>
            <a:off x="1230217" y="996156"/>
            <a:ext cx="7408661" cy="619593"/>
            <a:chOff x="2597012" y="1049884"/>
            <a:chExt cx="8494832" cy="631795"/>
          </a:xfrm>
        </p:grpSpPr>
        <p:grpSp>
          <p:nvGrpSpPr>
            <p:cNvPr id="162" name="Google Shape;162;p4"/>
            <p:cNvGrpSpPr/>
            <p:nvPr/>
          </p:nvGrpSpPr>
          <p:grpSpPr>
            <a:xfrm>
              <a:off x="2597012" y="1049884"/>
              <a:ext cx="8494832" cy="631795"/>
              <a:chOff x="900427" y="2342265"/>
              <a:chExt cx="3184427" cy="631795"/>
            </a:xfrm>
          </p:grpSpPr>
          <p:sp>
            <p:nvSpPr>
              <p:cNvPr id="163" name="Google Shape;163;p4"/>
              <p:cNvSpPr/>
              <p:nvPr/>
            </p:nvSpPr>
            <p:spPr>
              <a:xfrm>
                <a:off x="900427" y="2411209"/>
                <a:ext cx="216946" cy="48632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B050"/>
                  </a:solidFill>
                  <a:latin typeface="Gabriela"/>
                  <a:ea typeface="Gabriela"/>
                  <a:cs typeface="Gabriela"/>
                  <a:sym typeface="Gabriela"/>
                </a:endParaRPr>
              </a:p>
            </p:txBody>
          </p:sp>
          <p:sp>
            <p:nvSpPr>
              <p:cNvPr id="164" name="Google Shape;164;p4"/>
              <p:cNvSpPr txBox="1"/>
              <p:nvPr/>
            </p:nvSpPr>
            <p:spPr>
              <a:xfrm>
                <a:off x="1205520" y="2342265"/>
                <a:ext cx="2879334" cy="6317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200" u="none" cap="none" strike="noStrike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Proposed a model for match outcome prediction, team structure analysis, and player recommendation [10]</a:t>
                </a:r>
                <a:endParaRPr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pic>
          <p:nvPicPr>
            <p:cNvPr id="165" name="Google Shape;16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96699" y="1160712"/>
              <a:ext cx="479041" cy="4025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p4"/>
          <p:cNvGrpSpPr/>
          <p:nvPr/>
        </p:nvGrpSpPr>
        <p:grpSpPr>
          <a:xfrm>
            <a:off x="1230216" y="1861616"/>
            <a:ext cx="7408659" cy="476934"/>
            <a:chOff x="1187686" y="2027212"/>
            <a:chExt cx="7408659" cy="476934"/>
          </a:xfrm>
        </p:grpSpPr>
        <p:grpSp>
          <p:nvGrpSpPr>
            <p:cNvPr id="167" name="Google Shape;167;p4"/>
            <p:cNvGrpSpPr/>
            <p:nvPr/>
          </p:nvGrpSpPr>
          <p:grpSpPr>
            <a:xfrm>
              <a:off x="1187686" y="2027212"/>
              <a:ext cx="7408659" cy="476934"/>
              <a:chOff x="900427" y="2411209"/>
              <a:chExt cx="3184427" cy="486326"/>
            </a:xfrm>
          </p:grpSpPr>
          <p:sp>
            <p:nvSpPr>
              <p:cNvPr id="168" name="Google Shape;168;p4"/>
              <p:cNvSpPr/>
              <p:nvPr/>
            </p:nvSpPr>
            <p:spPr>
              <a:xfrm>
                <a:off x="900427" y="2411209"/>
                <a:ext cx="216946" cy="48632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B050"/>
                  </a:solidFill>
                  <a:latin typeface="Gabriela"/>
                  <a:ea typeface="Gabriela"/>
                  <a:cs typeface="Gabriela"/>
                  <a:sym typeface="Gabriela"/>
                </a:endParaRPr>
              </a:p>
            </p:txBody>
          </p:sp>
          <p:sp>
            <p:nvSpPr>
              <p:cNvPr id="169" name="Google Shape;169;p4"/>
              <p:cNvSpPr txBox="1"/>
              <p:nvPr/>
            </p:nvSpPr>
            <p:spPr>
              <a:xfrm>
                <a:off x="1205520" y="2513139"/>
                <a:ext cx="2879334" cy="2824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200" u="none" cap="none" strike="noStrike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 Addressed the problem of predicting the outcome of a match [11]</a:t>
                </a:r>
                <a:endParaRPr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pic>
          <p:nvPicPr>
            <p:cNvPr id="170" name="Google Shape;170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31157" y="2041990"/>
              <a:ext cx="417789" cy="4473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1" name="Google Shape;171;p4"/>
          <p:cNvGrpSpPr/>
          <p:nvPr/>
        </p:nvGrpSpPr>
        <p:grpSpPr>
          <a:xfrm>
            <a:off x="1230217" y="2584412"/>
            <a:ext cx="7408661" cy="476934"/>
            <a:chOff x="1187687" y="2754533"/>
            <a:chExt cx="7408661" cy="476934"/>
          </a:xfrm>
        </p:grpSpPr>
        <p:grpSp>
          <p:nvGrpSpPr>
            <p:cNvPr id="172" name="Google Shape;172;p4"/>
            <p:cNvGrpSpPr/>
            <p:nvPr/>
          </p:nvGrpSpPr>
          <p:grpSpPr>
            <a:xfrm>
              <a:off x="1187687" y="2754533"/>
              <a:ext cx="7408661" cy="476934"/>
              <a:chOff x="900427" y="2411209"/>
              <a:chExt cx="3184427" cy="486326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900427" y="2411209"/>
                <a:ext cx="216946" cy="486326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B050"/>
                  </a:solidFill>
                  <a:latin typeface="Gabriela"/>
                  <a:ea typeface="Gabriela"/>
                  <a:cs typeface="Gabriela"/>
                  <a:sym typeface="Gabriela"/>
                </a:endParaRPr>
              </a:p>
            </p:txBody>
          </p:sp>
          <p:sp>
            <p:nvSpPr>
              <p:cNvPr id="174" name="Google Shape;174;p4"/>
              <p:cNvSpPr txBox="1"/>
              <p:nvPr/>
            </p:nvSpPr>
            <p:spPr>
              <a:xfrm>
                <a:off x="1205520" y="2513139"/>
                <a:ext cx="2879334" cy="2824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200" u="none" cap="none" strike="noStrike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Proposed a model that uses cricket statistics along with a weather-related dataset.[12]</a:t>
                </a:r>
                <a:endParaRPr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pic>
          <p:nvPicPr>
            <p:cNvPr id="175" name="Google Shape;17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31157" y="2764394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4"/>
          <p:cNvGrpSpPr/>
          <p:nvPr/>
        </p:nvGrpSpPr>
        <p:grpSpPr>
          <a:xfrm>
            <a:off x="1230217" y="3232763"/>
            <a:ext cx="7408661" cy="476934"/>
            <a:chOff x="1187687" y="3402884"/>
            <a:chExt cx="7408661" cy="476934"/>
          </a:xfrm>
        </p:grpSpPr>
        <p:grpSp>
          <p:nvGrpSpPr>
            <p:cNvPr id="177" name="Google Shape;177;p4"/>
            <p:cNvGrpSpPr/>
            <p:nvPr/>
          </p:nvGrpSpPr>
          <p:grpSpPr>
            <a:xfrm>
              <a:off x="1187687" y="3402884"/>
              <a:ext cx="7408661" cy="476934"/>
              <a:chOff x="900427" y="2411209"/>
              <a:chExt cx="3184427" cy="486326"/>
            </a:xfrm>
          </p:grpSpPr>
          <p:sp>
            <p:nvSpPr>
              <p:cNvPr id="178" name="Google Shape;178;p4"/>
              <p:cNvSpPr/>
              <p:nvPr/>
            </p:nvSpPr>
            <p:spPr>
              <a:xfrm>
                <a:off x="900427" y="2411209"/>
                <a:ext cx="216946" cy="486326"/>
              </a:xfrm>
              <a:prstGeom prst="ellipse">
                <a:avLst/>
              </a:prstGeom>
              <a:solidFill>
                <a:srgbClr val="7779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B050"/>
                  </a:solidFill>
                  <a:latin typeface="Gabriela"/>
                  <a:ea typeface="Gabriela"/>
                  <a:cs typeface="Gabriela"/>
                  <a:sym typeface="Gabriela"/>
                </a:endParaRPr>
              </a:p>
            </p:txBody>
          </p:sp>
          <p:sp>
            <p:nvSpPr>
              <p:cNvPr id="179" name="Google Shape;179;p4"/>
              <p:cNvSpPr txBox="1"/>
              <p:nvPr/>
            </p:nvSpPr>
            <p:spPr>
              <a:xfrm>
                <a:off x="1205520" y="2513139"/>
                <a:ext cx="2879334" cy="2824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200" u="none" cap="none" strike="noStrike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Modeled batting and bowling  datasets [13]</a:t>
                </a:r>
                <a:endParaRPr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pic>
          <p:nvPicPr>
            <p:cNvPr id="180" name="Google Shape;180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71276" y="3439570"/>
              <a:ext cx="376961" cy="37696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" name="Google Shape;181;p4"/>
          <p:cNvGrpSpPr/>
          <p:nvPr/>
        </p:nvGrpSpPr>
        <p:grpSpPr>
          <a:xfrm>
            <a:off x="1230217" y="3961885"/>
            <a:ext cx="7408661" cy="482660"/>
            <a:chOff x="1187687" y="4130204"/>
            <a:chExt cx="7408661" cy="482660"/>
          </a:xfrm>
        </p:grpSpPr>
        <p:grpSp>
          <p:nvGrpSpPr>
            <p:cNvPr id="182" name="Google Shape;182;p4"/>
            <p:cNvGrpSpPr/>
            <p:nvPr/>
          </p:nvGrpSpPr>
          <p:grpSpPr>
            <a:xfrm>
              <a:off x="1187687" y="4130204"/>
              <a:ext cx="7408661" cy="482660"/>
              <a:chOff x="900427" y="2411209"/>
              <a:chExt cx="3184427" cy="492165"/>
            </a:xfrm>
          </p:grpSpPr>
          <p:sp>
            <p:nvSpPr>
              <p:cNvPr id="183" name="Google Shape;183;p4"/>
              <p:cNvSpPr/>
              <p:nvPr/>
            </p:nvSpPr>
            <p:spPr>
              <a:xfrm>
                <a:off x="900427" y="2411209"/>
                <a:ext cx="216946" cy="486326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B050"/>
                  </a:solidFill>
                  <a:latin typeface="Gabriela"/>
                  <a:ea typeface="Gabriela"/>
                  <a:cs typeface="Gabriela"/>
                  <a:sym typeface="Gabriela"/>
                </a:endParaRPr>
              </a:p>
            </p:txBody>
          </p:sp>
          <p:sp>
            <p:nvSpPr>
              <p:cNvPr id="184" name="Google Shape;184;p4"/>
              <p:cNvSpPr txBox="1"/>
              <p:nvPr/>
            </p:nvSpPr>
            <p:spPr>
              <a:xfrm>
                <a:off x="1205520" y="2432617"/>
                <a:ext cx="2879334" cy="4707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200" u="none" cap="none" strike="noStrike">
                    <a:solidFill>
                      <a:schemeClr val="lt1"/>
                    </a:solidFill>
                    <a:latin typeface="Lustria"/>
                    <a:ea typeface="Lustria"/>
                    <a:cs typeface="Lustria"/>
                    <a:sym typeface="Lustria"/>
                  </a:rPr>
                  <a:t>To help the coaches to think systematically about complex multi-criteria decision-making problems and improves the quality of their decisions [19]</a:t>
                </a:r>
                <a:endParaRPr>
                  <a:latin typeface="Lustria"/>
                  <a:ea typeface="Lustria"/>
                  <a:cs typeface="Lustria"/>
                  <a:sym typeface="Lustria"/>
                </a:endParaRPr>
              </a:p>
            </p:txBody>
          </p:sp>
        </p:grpSp>
        <p:pic>
          <p:nvPicPr>
            <p:cNvPr id="185" name="Google Shape;185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89977" y="4223200"/>
              <a:ext cx="339558" cy="33955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/>
          <p:nvPr/>
        </p:nvSpPr>
        <p:spPr>
          <a:xfrm rot="5400000">
            <a:off x="1630375" y="1045437"/>
            <a:ext cx="154385" cy="786411"/>
          </a:xfrm>
          <a:custGeom>
            <a:rect b="b" l="l" r="r" t="t"/>
            <a:pathLst>
              <a:path extrusionOk="0" h="648586" w="170121">
                <a:moveTo>
                  <a:pt x="108100" y="0"/>
                </a:moveTo>
                <a:lnTo>
                  <a:pt x="170121" y="0"/>
                </a:lnTo>
                <a:lnTo>
                  <a:pt x="170121" y="648586"/>
                </a:lnTo>
                <a:lnTo>
                  <a:pt x="108100" y="648586"/>
                </a:lnTo>
                <a:cubicBezTo>
                  <a:pt x="48398" y="648586"/>
                  <a:pt x="0" y="600188"/>
                  <a:pt x="0" y="540486"/>
                </a:cubicBezTo>
                <a:lnTo>
                  <a:pt x="0" y="108100"/>
                </a:lnTo>
                <a:cubicBezTo>
                  <a:pt x="0" y="48398"/>
                  <a:pt x="48398" y="0"/>
                  <a:pt x="108100" y="0"/>
                </a:cubicBezTo>
                <a:close/>
              </a:path>
            </a:pathLst>
          </a:cu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 rot="5400000">
            <a:off x="1377582" y="1551455"/>
            <a:ext cx="659700" cy="572700"/>
          </a:xfrm>
          <a:prstGeom prst="homePlate">
            <a:avLst>
              <a:gd fmla="val 50000" name="adj"/>
            </a:avLst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498645" y="1584013"/>
            <a:ext cx="417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1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671946" y="3786805"/>
            <a:ext cx="22008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Able to predict just by using the existing technology and computers.</a:t>
            </a:r>
            <a:endParaRPr/>
          </a:p>
        </p:txBody>
      </p:sp>
      <p:grpSp>
        <p:nvGrpSpPr>
          <p:cNvPr id="194" name="Google Shape;194;p5"/>
          <p:cNvGrpSpPr/>
          <p:nvPr/>
        </p:nvGrpSpPr>
        <p:grpSpPr>
          <a:xfrm>
            <a:off x="3630090" y="2301768"/>
            <a:ext cx="1526070" cy="1503774"/>
            <a:chOff x="793516" y="1330648"/>
            <a:chExt cx="1731023" cy="1730863"/>
          </a:xfrm>
        </p:grpSpPr>
        <p:sp>
          <p:nvSpPr>
            <p:cNvPr id="195" name="Google Shape;195;p5"/>
            <p:cNvSpPr/>
            <p:nvPr/>
          </p:nvSpPr>
          <p:spPr>
            <a:xfrm rot="-2821057">
              <a:off x="1047473" y="1582913"/>
              <a:ext cx="1223109" cy="122633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5"/>
            <p:cNvSpPr/>
            <p:nvPr/>
          </p:nvSpPr>
          <p:spPr>
            <a:xfrm rot="-2821057">
              <a:off x="1192866" y="1709361"/>
              <a:ext cx="943877" cy="954493"/>
            </a:xfrm>
            <a:prstGeom prst="roundRect">
              <a:avLst>
                <a:gd fmla="val 16667" name="adj"/>
              </a:avLst>
            </a:prstGeom>
            <a:solidFill>
              <a:srgbClr val="22222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p5"/>
          <p:cNvSpPr/>
          <p:nvPr/>
        </p:nvSpPr>
        <p:spPr>
          <a:xfrm rot="5400000">
            <a:off x="4276893" y="1003324"/>
            <a:ext cx="170121" cy="786411"/>
          </a:xfrm>
          <a:custGeom>
            <a:rect b="b" l="l" r="r" t="t"/>
            <a:pathLst>
              <a:path extrusionOk="0" h="648586" w="170121">
                <a:moveTo>
                  <a:pt x="108100" y="0"/>
                </a:moveTo>
                <a:lnTo>
                  <a:pt x="170121" y="0"/>
                </a:lnTo>
                <a:lnTo>
                  <a:pt x="170121" y="648586"/>
                </a:lnTo>
                <a:lnTo>
                  <a:pt x="108100" y="648586"/>
                </a:lnTo>
                <a:cubicBezTo>
                  <a:pt x="48398" y="648586"/>
                  <a:pt x="0" y="600188"/>
                  <a:pt x="0" y="540486"/>
                </a:cubicBezTo>
                <a:lnTo>
                  <a:pt x="0" y="108100"/>
                </a:lnTo>
                <a:cubicBezTo>
                  <a:pt x="0" y="48398"/>
                  <a:pt x="48398" y="0"/>
                  <a:pt x="108100" y="0"/>
                </a:cubicBezTo>
                <a:close/>
              </a:path>
            </a:pathLst>
          </a:custGeom>
          <a:solidFill>
            <a:srgbClr val="66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 rot="5400000">
            <a:off x="3998368" y="1535076"/>
            <a:ext cx="726900" cy="572700"/>
          </a:xfrm>
          <a:prstGeom prst="homePlate">
            <a:avLst>
              <a:gd fmla="val 50000" name="adj"/>
            </a:avLst>
          </a:prstGeom>
          <a:solidFill>
            <a:srgbClr val="66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153031" y="1534034"/>
            <a:ext cx="417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11</a:t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3326332" y="3754488"/>
            <a:ext cx="22008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The novelty lies in addressing the problem as a dynamic one</a:t>
            </a:r>
            <a:endParaRPr/>
          </a:p>
        </p:txBody>
      </p:sp>
      <p:grpSp>
        <p:nvGrpSpPr>
          <p:cNvPr id="201" name="Google Shape;201;p5"/>
          <p:cNvGrpSpPr/>
          <p:nvPr/>
        </p:nvGrpSpPr>
        <p:grpSpPr>
          <a:xfrm>
            <a:off x="6287092" y="2278307"/>
            <a:ext cx="1526070" cy="1503774"/>
            <a:chOff x="793516" y="1330648"/>
            <a:chExt cx="1731023" cy="1730863"/>
          </a:xfrm>
        </p:grpSpPr>
        <p:sp>
          <p:nvSpPr>
            <p:cNvPr id="202" name="Google Shape;202;p5"/>
            <p:cNvSpPr/>
            <p:nvPr/>
          </p:nvSpPr>
          <p:spPr>
            <a:xfrm rot="-2821057">
              <a:off x="1047473" y="1582913"/>
              <a:ext cx="1223109" cy="122633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5"/>
            <p:cNvSpPr/>
            <p:nvPr/>
          </p:nvSpPr>
          <p:spPr>
            <a:xfrm rot="-2821057">
              <a:off x="1192866" y="1709361"/>
              <a:ext cx="943877" cy="954493"/>
            </a:xfrm>
            <a:prstGeom prst="roundRect">
              <a:avLst>
                <a:gd fmla="val 16667" name="adj"/>
              </a:avLst>
            </a:prstGeom>
            <a:solidFill>
              <a:srgbClr val="22222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5"/>
          <p:cNvSpPr/>
          <p:nvPr/>
        </p:nvSpPr>
        <p:spPr>
          <a:xfrm rot="5400000">
            <a:off x="6933894" y="979863"/>
            <a:ext cx="170121" cy="786411"/>
          </a:xfrm>
          <a:custGeom>
            <a:rect b="b" l="l" r="r" t="t"/>
            <a:pathLst>
              <a:path extrusionOk="0" h="648586" w="170121">
                <a:moveTo>
                  <a:pt x="108100" y="0"/>
                </a:moveTo>
                <a:lnTo>
                  <a:pt x="170121" y="0"/>
                </a:lnTo>
                <a:lnTo>
                  <a:pt x="170121" y="648586"/>
                </a:lnTo>
                <a:lnTo>
                  <a:pt x="108100" y="648586"/>
                </a:lnTo>
                <a:cubicBezTo>
                  <a:pt x="48398" y="648586"/>
                  <a:pt x="0" y="600188"/>
                  <a:pt x="0" y="540486"/>
                </a:cubicBezTo>
                <a:lnTo>
                  <a:pt x="0" y="108100"/>
                </a:lnTo>
                <a:cubicBezTo>
                  <a:pt x="0" y="48398"/>
                  <a:pt x="48398" y="0"/>
                  <a:pt x="108100" y="0"/>
                </a:cubicBezTo>
                <a:close/>
              </a:path>
            </a:pathLst>
          </a:custGeom>
          <a:solidFill>
            <a:srgbClr val="82B4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 rot="5400000">
            <a:off x="6655370" y="1511615"/>
            <a:ext cx="726900" cy="572700"/>
          </a:xfrm>
          <a:prstGeom prst="homePlate">
            <a:avLst>
              <a:gd fmla="val 50000" name="adj"/>
            </a:avLst>
          </a:prstGeom>
          <a:solidFill>
            <a:srgbClr val="82B4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6810033" y="1510574"/>
            <a:ext cx="4173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19</a:t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5983334" y="3779493"/>
            <a:ext cx="22008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The proposed approach is illustrated with the real data obtained from PSC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2768163" y="441991"/>
            <a:ext cx="32499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Existing System</a:t>
            </a:r>
            <a:endParaRPr/>
          </a:p>
        </p:txBody>
      </p:sp>
      <p:grpSp>
        <p:nvGrpSpPr>
          <p:cNvPr id="209" name="Google Shape;209;p5"/>
          <p:cNvGrpSpPr/>
          <p:nvPr/>
        </p:nvGrpSpPr>
        <p:grpSpPr>
          <a:xfrm>
            <a:off x="944361" y="2303905"/>
            <a:ext cx="1526070" cy="1503774"/>
            <a:chOff x="793516" y="1330648"/>
            <a:chExt cx="1731023" cy="1730863"/>
          </a:xfrm>
        </p:grpSpPr>
        <p:sp>
          <p:nvSpPr>
            <p:cNvPr id="210" name="Google Shape;210;p5"/>
            <p:cNvSpPr/>
            <p:nvPr/>
          </p:nvSpPr>
          <p:spPr>
            <a:xfrm rot="-2821057">
              <a:off x="1047473" y="1582913"/>
              <a:ext cx="1223109" cy="1226333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5"/>
            <p:cNvSpPr/>
            <p:nvPr/>
          </p:nvSpPr>
          <p:spPr>
            <a:xfrm rot="-2821057">
              <a:off x="1192866" y="1709361"/>
              <a:ext cx="943877" cy="954493"/>
            </a:xfrm>
            <a:prstGeom prst="roundRect">
              <a:avLst>
                <a:gd fmla="val 16667" name="adj"/>
              </a:avLst>
            </a:prstGeom>
            <a:solidFill>
              <a:srgbClr val="22222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2" name="Google Shape;2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242" y="2815513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4496" y="28015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0033" y="2782528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"/>
          <p:cNvSpPr/>
          <p:nvPr/>
        </p:nvSpPr>
        <p:spPr>
          <a:xfrm>
            <a:off x="833427" y="3966102"/>
            <a:ext cx="2200939" cy="69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Batted first, batting position, No. of Innings played,</a:t>
            </a:r>
            <a:br>
              <a:rPr b="0" i="0" lang="en-US" sz="9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</a:br>
            <a:r>
              <a:rPr b="0" i="0" lang="en-US" sz="9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runs, strike rate, Centuries, the Fifties, Zeros, batting average</a:t>
            </a:r>
            <a:endParaRPr b="0" i="0" sz="9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20" name="Google Shape;220;p6"/>
          <p:cNvGrpSpPr/>
          <p:nvPr/>
        </p:nvGrpSpPr>
        <p:grpSpPr>
          <a:xfrm>
            <a:off x="1261317" y="925368"/>
            <a:ext cx="1335890" cy="1578413"/>
            <a:chOff x="3904055" y="728848"/>
            <a:chExt cx="1335890" cy="2785419"/>
          </a:xfrm>
        </p:grpSpPr>
        <p:sp>
          <p:nvSpPr>
            <p:cNvPr id="221" name="Google Shape;221;p6"/>
            <p:cNvSpPr/>
            <p:nvPr/>
          </p:nvSpPr>
          <p:spPr>
            <a:xfrm>
              <a:off x="3904055" y="1173605"/>
              <a:ext cx="1335889" cy="2340663"/>
            </a:xfrm>
            <a:prstGeom prst="rect">
              <a:avLst/>
            </a:prstGeom>
            <a:solidFill>
              <a:srgbClr val="F8EBA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6"/>
            <p:cNvSpPr/>
            <p:nvPr/>
          </p:nvSpPr>
          <p:spPr>
            <a:xfrm rot="-5400000">
              <a:off x="3582527" y="1050380"/>
              <a:ext cx="1978950" cy="1335887"/>
            </a:xfrm>
            <a:prstGeom prst="flowChartDisplay">
              <a:avLst/>
            </a:pr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4125431" y="1266356"/>
              <a:ext cx="893135" cy="81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chemeClr val="lt1"/>
                  </a:solidFill>
                  <a:latin typeface="Gabriela"/>
                  <a:ea typeface="Gabriela"/>
                  <a:cs typeface="Gabriela"/>
                  <a:sym typeface="Gabriela"/>
                </a:rPr>
                <a:t>Batsman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chemeClr val="lt1"/>
                  </a:solidFill>
                  <a:latin typeface="Gabriela"/>
                  <a:ea typeface="Gabriela"/>
                  <a:cs typeface="Gabriela"/>
                  <a:sym typeface="Gabriela"/>
                </a:rPr>
                <a:t>Features</a:t>
              </a:r>
              <a:endParaRPr/>
            </a:p>
          </p:txBody>
        </p:sp>
      </p:grpSp>
      <p:sp>
        <p:nvSpPr>
          <p:cNvPr id="224" name="Google Shape;224;p6"/>
          <p:cNvSpPr/>
          <p:nvPr/>
        </p:nvSpPr>
        <p:spPr>
          <a:xfrm flipH="1" rot="10800000">
            <a:off x="1261317" y="2213124"/>
            <a:ext cx="1335886" cy="1498754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6"/>
          <p:cNvGrpSpPr/>
          <p:nvPr/>
        </p:nvGrpSpPr>
        <p:grpSpPr>
          <a:xfrm>
            <a:off x="3885167" y="925368"/>
            <a:ext cx="1335890" cy="1578413"/>
            <a:chOff x="3904055" y="728848"/>
            <a:chExt cx="1335890" cy="2785419"/>
          </a:xfrm>
        </p:grpSpPr>
        <p:sp>
          <p:nvSpPr>
            <p:cNvPr id="226" name="Google Shape;226;p6"/>
            <p:cNvSpPr/>
            <p:nvPr/>
          </p:nvSpPr>
          <p:spPr>
            <a:xfrm>
              <a:off x="3904055" y="1173605"/>
              <a:ext cx="1335889" cy="2340663"/>
            </a:xfrm>
            <a:prstGeom prst="rect">
              <a:avLst/>
            </a:prstGeom>
            <a:solidFill>
              <a:srgbClr val="F8EBA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6"/>
            <p:cNvSpPr/>
            <p:nvPr/>
          </p:nvSpPr>
          <p:spPr>
            <a:xfrm rot="-5400000">
              <a:off x="3582527" y="1050380"/>
              <a:ext cx="1978950" cy="1335887"/>
            </a:xfrm>
            <a:prstGeom prst="flowChartDisplay">
              <a:avLst/>
            </a:prstGeom>
            <a:solidFill>
              <a:srgbClr val="77AD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4125431" y="1266356"/>
              <a:ext cx="893135" cy="81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chemeClr val="lt1"/>
                  </a:solidFill>
                  <a:latin typeface="Gabriela"/>
                  <a:ea typeface="Gabriela"/>
                  <a:cs typeface="Gabriela"/>
                  <a:sym typeface="Gabriela"/>
                </a:rPr>
                <a:t>Baller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chemeClr val="lt1"/>
                  </a:solidFill>
                  <a:latin typeface="Gabriela"/>
                  <a:ea typeface="Gabriela"/>
                  <a:cs typeface="Gabriela"/>
                  <a:sym typeface="Gabriela"/>
                </a:rPr>
                <a:t>Features</a:t>
              </a:r>
              <a:endParaRPr/>
            </a:p>
          </p:txBody>
        </p:sp>
      </p:grpSp>
      <p:sp>
        <p:nvSpPr>
          <p:cNvPr id="229" name="Google Shape;229;p6"/>
          <p:cNvSpPr/>
          <p:nvPr/>
        </p:nvSpPr>
        <p:spPr>
          <a:xfrm flipH="1" rot="10800000">
            <a:off x="3885167" y="2213124"/>
            <a:ext cx="1335886" cy="1498754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471530" y="3966101"/>
            <a:ext cx="2200939" cy="69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balled first, bowling Average, bowling strike rate, Four/Five Wicket Haul, No. of Innings </a:t>
            </a:r>
            <a:br>
              <a:rPr b="0" i="0" lang="en-US" sz="9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</a:br>
            <a:endParaRPr b="0" i="0" sz="9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grpSp>
        <p:nvGrpSpPr>
          <p:cNvPr id="231" name="Google Shape;231;p6"/>
          <p:cNvGrpSpPr/>
          <p:nvPr/>
        </p:nvGrpSpPr>
        <p:grpSpPr>
          <a:xfrm>
            <a:off x="6509013" y="925368"/>
            <a:ext cx="1335890" cy="1578413"/>
            <a:chOff x="3904055" y="728848"/>
            <a:chExt cx="1335890" cy="2785419"/>
          </a:xfrm>
        </p:grpSpPr>
        <p:sp>
          <p:nvSpPr>
            <p:cNvPr id="232" name="Google Shape;232;p6"/>
            <p:cNvSpPr/>
            <p:nvPr/>
          </p:nvSpPr>
          <p:spPr>
            <a:xfrm>
              <a:off x="3904055" y="1173605"/>
              <a:ext cx="1335889" cy="2340663"/>
            </a:xfrm>
            <a:prstGeom prst="rect">
              <a:avLst/>
            </a:prstGeom>
            <a:solidFill>
              <a:srgbClr val="F8EBA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6"/>
            <p:cNvSpPr/>
            <p:nvPr/>
          </p:nvSpPr>
          <p:spPr>
            <a:xfrm rot="-5400000">
              <a:off x="3582527" y="1050380"/>
              <a:ext cx="1978950" cy="1335887"/>
            </a:xfrm>
            <a:prstGeom prst="flowChartDisplay">
              <a:avLst/>
            </a:prstGeom>
            <a:solidFill>
              <a:srgbClr val="4CAA7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4125431" y="1266356"/>
              <a:ext cx="893135" cy="815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chemeClr val="lt1"/>
                  </a:solidFill>
                  <a:latin typeface="Gabriela"/>
                  <a:ea typeface="Gabriela"/>
                  <a:cs typeface="Gabriela"/>
                  <a:sym typeface="Gabriela"/>
                </a:rPr>
                <a:t>All-rounder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chemeClr val="lt1"/>
                  </a:solidFill>
                  <a:latin typeface="Gabriela"/>
                  <a:ea typeface="Gabriela"/>
                  <a:cs typeface="Gabriela"/>
                  <a:sym typeface="Gabriela"/>
                </a:rPr>
                <a:t>Features</a:t>
              </a:r>
              <a:endParaRPr/>
            </a:p>
          </p:txBody>
        </p:sp>
      </p:grpSp>
      <p:sp>
        <p:nvSpPr>
          <p:cNvPr id="235" name="Google Shape;235;p6"/>
          <p:cNvSpPr/>
          <p:nvPr/>
        </p:nvSpPr>
        <p:spPr>
          <a:xfrm flipH="1" rot="10800000">
            <a:off x="6509013" y="2213124"/>
            <a:ext cx="1335886" cy="1498754"/>
          </a:xfrm>
          <a:custGeom>
            <a:rect b="b" l="l" r="r" t="t"/>
            <a:pathLst>
              <a:path extrusionOk="0" h="3031986" w="1591582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  <a:effectLst>
            <a:outerShdw blurRad="127000" sx="107000" rotWithShape="0" algn="ctr" sy="107000">
              <a:srgbClr val="000000">
                <a:alpha val="2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109634" y="3966101"/>
            <a:ext cx="2200939" cy="698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Batting Hand, bowling Hand, the strength of the opposition, matches played, wickets,</a:t>
            </a:r>
            <a:br>
              <a:rPr b="0" i="0" lang="en-US" sz="9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</a:br>
            <a:r>
              <a:rPr b="0" i="0" lang="en-US" sz="9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runs scored, strike rate, average </a:t>
            </a:r>
            <a:br>
              <a:rPr b="0" i="0" lang="en-US" sz="9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</a:br>
            <a:endParaRPr b="0" i="0" sz="9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1138200" y="99668"/>
            <a:ext cx="6867600" cy="4156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Data-Set Understanding </a:t>
            </a:r>
            <a:br>
              <a:rPr i="0" lang="en-US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/>
          <p:cNvSpPr/>
          <p:nvPr/>
        </p:nvSpPr>
        <p:spPr>
          <a:xfrm>
            <a:off x="405387" y="1259709"/>
            <a:ext cx="1521900" cy="323100"/>
          </a:xfrm>
          <a:prstGeom prst="rect">
            <a:avLst/>
          </a:prstGeom>
          <a:solidFill>
            <a:srgbClr val="CBE8DA"/>
          </a:solidFill>
          <a:ln cap="flat" cmpd="sng" w="25400">
            <a:solidFill>
              <a:srgbClr val="4CA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Gather All the data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963789" y="1982292"/>
            <a:ext cx="1521900" cy="323100"/>
          </a:xfrm>
          <a:prstGeom prst="rect">
            <a:avLst/>
          </a:prstGeom>
          <a:solidFill>
            <a:srgbClr val="CBE8DA"/>
          </a:solidFill>
          <a:ln cap="flat" cmpd="sng" w="25400">
            <a:solidFill>
              <a:srgbClr val="4CA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Extract the necessary data</a:t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 flipH="1" rot="-5400000">
            <a:off x="1407559" y="1776396"/>
            <a:ext cx="210900" cy="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F3EC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2130641" y="1259708"/>
            <a:ext cx="1521900" cy="323100"/>
          </a:xfrm>
          <a:prstGeom prst="rect">
            <a:avLst/>
          </a:prstGeom>
          <a:solidFill>
            <a:srgbClr val="CBE8DA"/>
          </a:solidFill>
          <a:ln cap="flat" cmpd="sng" w="25400">
            <a:solidFill>
              <a:srgbClr val="4CA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Store in database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 flipH="1" rot="5400000">
            <a:off x="2198958" y="1759972"/>
            <a:ext cx="210900" cy="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F3EC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155352" y="710250"/>
            <a:ext cx="1521900" cy="323100"/>
          </a:xfrm>
          <a:prstGeom prst="rect">
            <a:avLst/>
          </a:prstGeom>
          <a:solidFill>
            <a:srgbClr val="CBE8DA"/>
          </a:solidFill>
          <a:ln cap="flat" cmpd="sng" w="25400">
            <a:solidFill>
              <a:srgbClr val="4CA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Split data</a:t>
            </a:r>
            <a:endParaRPr/>
          </a:p>
        </p:txBody>
      </p:sp>
      <p:grpSp>
        <p:nvGrpSpPr>
          <p:cNvPr id="248" name="Google Shape;248;p7"/>
          <p:cNvGrpSpPr/>
          <p:nvPr/>
        </p:nvGrpSpPr>
        <p:grpSpPr>
          <a:xfrm>
            <a:off x="4155465" y="1117676"/>
            <a:ext cx="1521832" cy="328409"/>
            <a:chOff x="4766304" y="1085239"/>
            <a:chExt cx="1541720" cy="345585"/>
          </a:xfrm>
        </p:grpSpPr>
        <p:sp>
          <p:nvSpPr>
            <p:cNvPr id="249" name="Google Shape;249;p7"/>
            <p:cNvSpPr/>
            <p:nvPr/>
          </p:nvSpPr>
          <p:spPr>
            <a:xfrm flipH="1" rot="-5400000">
              <a:off x="5412542" y="1166662"/>
              <a:ext cx="249244" cy="8639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E5F3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4766304" y="1385105"/>
              <a:ext cx="1541720" cy="45719"/>
            </a:xfrm>
            <a:prstGeom prst="rect">
              <a:avLst/>
            </a:prstGeom>
            <a:solidFill>
              <a:srgbClr val="E5F3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p7"/>
          <p:cNvSpPr/>
          <p:nvPr/>
        </p:nvSpPr>
        <p:spPr>
          <a:xfrm flipH="1" rot="-5400000">
            <a:off x="4049988" y="1612847"/>
            <a:ext cx="210900" cy="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F3EC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008068" y="1820636"/>
            <a:ext cx="1521900" cy="323100"/>
          </a:xfrm>
          <a:prstGeom prst="rect">
            <a:avLst/>
          </a:prstGeom>
          <a:solidFill>
            <a:srgbClr val="CBE8DA"/>
          </a:solidFill>
          <a:ln cap="flat" cmpd="sng" w="25400">
            <a:solidFill>
              <a:srgbClr val="4CA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For testing</a:t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5052348" y="1824933"/>
            <a:ext cx="1521900" cy="323100"/>
          </a:xfrm>
          <a:prstGeom prst="rect">
            <a:avLst/>
          </a:prstGeom>
          <a:solidFill>
            <a:srgbClr val="CBE8DA"/>
          </a:solidFill>
          <a:ln cap="flat" cmpd="sng" w="25400">
            <a:solidFill>
              <a:srgbClr val="4CA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For training</a:t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 flipH="1" rot="-5400000">
            <a:off x="5538040" y="1612848"/>
            <a:ext cx="210900" cy="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F3EC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061109" y="2493895"/>
            <a:ext cx="1521900" cy="323100"/>
          </a:xfrm>
          <a:prstGeom prst="rect">
            <a:avLst/>
          </a:prstGeom>
          <a:solidFill>
            <a:srgbClr val="CBE8DA"/>
          </a:solidFill>
          <a:ln cap="flat" cmpd="sng" w="25400">
            <a:solidFill>
              <a:srgbClr val="4CA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Feature selection</a:t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 flipH="1" rot="-5400000">
            <a:off x="5694078" y="2308531"/>
            <a:ext cx="210900" cy="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F3EC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 flipH="1" rot="-5400000">
            <a:off x="5685318" y="2996448"/>
            <a:ext cx="210900" cy="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F3EC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061109" y="3198876"/>
            <a:ext cx="1521900" cy="323100"/>
          </a:xfrm>
          <a:prstGeom prst="rect">
            <a:avLst/>
          </a:prstGeom>
          <a:solidFill>
            <a:srgbClr val="CBE8DA"/>
          </a:solidFill>
          <a:ln cap="flat" cmpd="sng" w="25400">
            <a:solidFill>
              <a:srgbClr val="4CA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Select ML model</a:t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 flipH="1" rot="-5400000">
            <a:off x="5671516" y="3674092"/>
            <a:ext cx="210900" cy="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F3EC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5061109" y="3897489"/>
            <a:ext cx="1521900" cy="323100"/>
          </a:xfrm>
          <a:prstGeom prst="rect">
            <a:avLst/>
          </a:prstGeom>
          <a:solidFill>
            <a:srgbClr val="CBE8DA"/>
          </a:solidFill>
          <a:ln cap="flat" cmpd="sng" w="25400">
            <a:solidFill>
              <a:srgbClr val="4CA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Use ML algorithms for classifier training</a:t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 flipH="1" rot="-5400000">
            <a:off x="5615607" y="4370175"/>
            <a:ext cx="210900" cy="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F3EC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5061109" y="4564786"/>
            <a:ext cx="1521900" cy="323100"/>
          </a:xfrm>
          <a:prstGeom prst="rect">
            <a:avLst/>
          </a:prstGeom>
          <a:solidFill>
            <a:srgbClr val="CBE8DA"/>
          </a:solidFill>
          <a:ln cap="flat" cmpd="sng" w="25400">
            <a:solidFill>
              <a:srgbClr val="4CA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Use test data for hypnothesis</a:t>
            </a:r>
            <a:endParaRPr b="0" i="0" sz="900" u="none" cap="none" strike="noStrike">
              <a:solidFill>
                <a:schemeClr val="dk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473839" y="794298"/>
            <a:ext cx="590100" cy="323100"/>
          </a:xfrm>
          <a:prstGeom prst="bentArrow">
            <a:avLst>
              <a:gd fmla="val 14922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 flipH="1">
            <a:off x="3667909" y="2223701"/>
            <a:ext cx="1205700" cy="2536500"/>
          </a:xfrm>
          <a:prstGeom prst="bentUpArrow">
            <a:avLst>
              <a:gd fmla="val 4417" name="adj1"/>
              <a:gd fmla="val 7224" name="adj2"/>
              <a:gd fmla="val 10967" name="adj3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" name="Google Shape;265;p7"/>
          <p:cNvGrpSpPr/>
          <p:nvPr/>
        </p:nvGrpSpPr>
        <p:grpSpPr>
          <a:xfrm>
            <a:off x="6638202" y="2544999"/>
            <a:ext cx="265561" cy="2181721"/>
            <a:chOff x="6655316" y="2206276"/>
            <a:chExt cx="269031" cy="2295823"/>
          </a:xfrm>
        </p:grpSpPr>
        <p:grpSp>
          <p:nvGrpSpPr>
            <p:cNvPr id="266" name="Google Shape;266;p7"/>
            <p:cNvGrpSpPr/>
            <p:nvPr/>
          </p:nvGrpSpPr>
          <p:grpSpPr>
            <a:xfrm>
              <a:off x="6711531" y="2263579"/>
              <a:ext cx="212817" cy="2238520"/>
              <a:chOff x="6641339" y="2227976"/>
              <a:chExt cx="212817" cy="2238520"/>
            </a:xfrm>
          </p:grpSpPr>
          <p:sp>
            <p:nvSpPr>
              <p:cNvPr id="267" name="Google Shape;267;p7"/>
              <p:cNvSpPr/>
              <p:nvPr/>
            </p:nvSpPr>
            <p:spPr>
              <a:xfrm flipH="1">
                <a:off x="6641339" y="2227976"/>
                <a:ext cx="212816" cy="594336"/>
              </a:xfrm>
              <a:prstGeom prst="halfFrame">
                <a:avLst>
                  <a:gd fmla="val 33333" name="adj1"/>
                  <a:gd fmla="val 33333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7"/>
              <p:cNvSpPr/>
              <p:nvPr/>
            </p:nvSpPr>
            <p:spPr>
              <a:xfrm rot="10800000">
                <a:off x="6656511" y="3764254"/>
                <a:ext cx="197644" cy="702242"/>
              </a:xfrm>
              <a:prstGeom prst="halfFrame">
                <a:avLst>
                  <a:gd fmla="val 33333" name="adj1"/>
                  <a:gd fmla="val 33333" name="adj2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7"/>
              <p:cNvSpPr/>
              <p:nvPr/>
            </p:nvSpPr>
            <p:spPr>
              <a:xfrm>
                <a:off x="6785574" y="2568215"/>
                <a:ext cx="68581" cy="1477097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0" name="Google Shape;270;p7"/>
            <p:cNvSpPr/>
            <p:nvPr/>
          </p:nvSpPr>
          <p:spPr>
            <a:xfrm flipH="1">
              <a:off x="6655316" y="2206276"/>
              <a:ext cx="164642" cy="16598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p7"/>
          <p:cNvSpPr/>
          <p:nvPr/>
        </p:nvSpPr>
        <p:spPr>
          <a:xfrm>
            <a:off x="6708509" y="4773786"/>
            <a:ext cx="430500" cy="43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F3EC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7216703" y="4655575"/>
            <a:ext cx="1521900" cy="323100"/>
          </a:xfrm>
          <a:prstGeom prst="rect">
            <a:avLst/>
          </a:prstGeom>
          <a:solidFill>
            <a:srgbClr val="CBE8DA"/>
          </a:solidFill>
          <a:ln cap="flat" cmpd="sng" w="25400">
            <a:solidFill>
              <a:srgbClr val="4CA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Select the most accurate model</a:t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 flipH="1" rot="5400000">
            <a:off x="7904563" y="4436687"/>
            <a:ext cx="210900" cy="4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F3EC"/>
          </a:solidFill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7211106" y="3895690"/>
            <a:ext cx="1521900" cy="323100"/>
          </a:xfrm>
          <a:prstGeom prst="rect">
            <a:avLst/>
          </a:prstGeom>
          <a:solidFill>
            <a:srgbClr val="CBE8DA"/>
          </a:solidFill>
          <a:ln cap="flat" cmpd="sng" w="25400">
            <a:solidFill>
              <a:srgbClr val="4CAA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Select squad</a:t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3112500" y="131808"/>
            <a:ext cx="29190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"/>
          <p:cNvSpPr/>
          <p:nvPr/>
        </p:nvSpPr>
        <p:spPr>
          <a:xfrm>
            <a:off x="457413" y="3221893"/>
            <a:ext cx="7703820" cy="93884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236595" y="1879818"/>
            <a:ext cx="1206102" cy="2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EBA2"/>
                </a:solidFill>
                <a:latin typeface="Lustria"/>
                <a:ea typeface="Lustria"/>
                <a:cs typeface="Lustria"/>
                <a:sym typeface="Lustria"/>
              </a:rPr>
              <a:t>Random</a:t>
            </a:r>
            <a:r>
              <a:rPr b="0" i="0" lang="en-US" sz="1200" u="none" cap="none" strike="noStrike">
                <a:solidFill>
                  <a:srgbClr val="E7A851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b="0" i="0" lang="en-US" sz="1200" u="none" cap="none" strike="noStrike">
                <a:solidFill>
                  <a:srgbClr val="F8EBA2"/>
                </a:solidFill>
                <a:latin typeface="Lustria"/>
                <a:ea typeface="Lustria"/>
                <a:cs typeface="Lustria"/>
                <a:sym typeface="Lustria"/>
              </a:rPr>
              <a:t>Forest</a:t>
            </a:r>
            <a:endParaRPr/>
          </a:p>
        </p:txBody>
      </p:sp>
      <p:grpSp>
        <p:nvGrpSpPr>
          <p:cNvPr id="282" name="Google Shape;282;p10"/>
          <p:cNvGrpSpPr/>
          <p:nvPr/>
        </p:nvGrpSpPr>
        <p:grpSpPr>
          <a:xfrm>
            <a:off x="1137237" y="2480655"/>
            <a:ext cx="1404818" cy="1392610"/>
            <a:chOff x="4804523" y="732991"/>
            <a:chExt cx="1404818" cy="1392610"/>
          </a:xfrm>
        </p:grpSpPr>
        <p:sp>
          <p:nvSpPr>
            <p:cNvPr id="283" name="Google Shape;283;p10"/>
            <p:cNvSpPr/>
            <p:nvPr/>
          </p:nvSpPr>
          <p:spPr>
            <a:xfrm>
              <a:off x="4804523" y="732991"/>
              <a:ext cx="1404818" cy="1392610"/>
            </a:xfrm>
            <a:custGeom>
              <a:rect b="b" l="l" r="r" t="t"/>
              <a:pathLst>
                <a:path extrusionOk="0" h="1392610" w="1404818">
                  <a:moveTo>
                    <a:pt x="699022" y="112827"/>
                  </a:moveTo>
                  <a:cubicBezTo>
                    <a:pt x="380235" y="112827"/>
                    <a:pt x="121807" y="371255"/>
                    <a:pt x="121807" y="690043"/>
                  </a:cubicBezTo>
                  <a:cubicBezTo>
                    <a:pt x="121807" y="1008831"/>
                    <a:pt x="380235" y="1267259"/>
                    <a:pt x="699022" y="1267259"/>
                  </a:cubicBezTo>
                  <a:cubicBezTo>
                    <a:pt x="1017809" y="1267259"/>
                    <a:pt x="1276237" y="1008831"/>
                    <a:pt x="1276237" y="690043"/>
                  </a:cubicBezTo>
                  <a:cubicBezTo>
                    <a:pt x="1276237" y="371255"/>
                    <a:pt x="1017809" y="112827"/>
                    <a:pt x="699022" y="112827"/>
                  </a:cubicBezTo>
                  <a:close/>
                  <a:moveTo>
                    <a:pt x="702409" y="0"/>
                  </a:moveTo>
                  <a:cubicBezTo>
                    <a:pt x="1090339" y="0"/>
                    <a:pt x="1404818" y="311746"/>
                    <a:pt x="1404818" y="696305"/>
                  </a:cubicBezTo>
                  <a:cubicBezTo>
                    <a:pt x="1404818" y="1080864"/>
                    <a:pt x="1090339" y="1392610"/>
                    <a:pt x="702409" y="1392610"/>
                  </a:cubicBezTo>
                  <a:cubicBezTo>
                    <a:pt x="314479" y="1392610"/>
                    <a:pt x="0" y="1080864"/>
                    <a:pt x="0" y="696305"/>
                  </a:cubicBezTo>
                  <a:cubicBezTo>
                    <a:pt x="0" y="311746"/>
                    <a:pt x="314479" y="0"/>
                    <a:pt x="70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4804523" y="1477126"/>
              <a:ext cx="1395090" cy="648475"/>
            </a:xfrm>
            <a:custGeom>
              <a:rect b="b" l="l" r="r" t="t"/>
              <a:pathLst>
                <a:path extrusionOk="0" h="648475" w="1395090">
                  <a:moveTo>
                    <a:pt x="0" y="0"/>
                  </a:moveTo>
                  <a:lnTo>
                    <a:pt x="122396" y="0"/>
                  </a:lnTo>
                  <a:lnTo>
                    <a:pt x="128670" y="62237"/>
                  </a:lnTo>
                  <a:cubicBezTo>
                    <a:pt x="182493" y="325265"/>
                    <a:pt x="415220" y="523124"/>
                    <a:pt x="694158" y="523124"/>
                  </a:cubicBezTo>
                  <a:cubicBezTo>
                    <a:pt x="973097" y="523124"/>
                    <a:pt x="1205823" y="325265"/>
                    <a:pt x="1259646" y="62237"/>
                  </a:cubicBezTo>
                  <a:lnTo>
                    <a:pt x="1265920" y="0"/>
                  </a:lnTo>
                  <a:lnTo>
                    <a:pt x="1395090" y="0"/>
                  </a:lnTo>
                  <a:lnTo>
                    <a:pt x="1385684" y="92500"/>
                  </a:lnTo>
                  <a:cubicBezTo>
                    <a:pt x="1320187" y="409795"/>
                    <a:pt x="1036984" y="648475"/>
                    <a:pt x="697545" y="648475"/>
                  </a:cubicBezTo>
                  <a:cubicBezTo>
                    <a:pt x="358106" y="648475"/>
                    <a:pt x="74904" y="409795"/>
                    <a:pt x="9407" y="9250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5" name="Google Shape;285;p10"/>
          <p:cNvGrpSpPr/>
          <p:nvPr/>
        </p:nvGrpSpPr>
        <p:grpSpPr>
          <a:xfrm>
            <a:off x="2961655" y="2479647"/>
            <a:ext cx="1404818" cy="1392610"/>
            <a:chOff x="4804523" y="732991"/>
            <a:chExt cx="1404818" cy="1392610"/>
          </a:xfrm>
        </p:grpSpPr>
        <p:sp>
          <p:nvSpPr>
            <p:cNvPr id="286" name="Google Shape;286;p10"/>
            <p:cNvSpPr/>
            <p:nvPr/>
          </p:nvSpPr>
          <p:spPr>
            <a:xfrm>
              <a:off x="4804523" y="732991"/>
              <a:ext cx="1404818" cy="1392610"/>
            </a:xfrm>
            <a:custGeom>
              <a:rect b="b" l="l" r="r" t="t"/>
              <a:pathLst>
                <a:path extrusionOk="0" h="1392610" w="1404818">
                  <a:moveTo>
                    <a:pt x="699022" y="112827"/>
                  </a:moveTo>
                  <a:cubicBezTo>
                    <a:pt x="380235" y="112827"/>
                    <a:pt x="121807" y="371255"/>
                    <a:pt x="121807" y="690043"/>
                  </a:cubicBezTo>
                  <a:cubicBezTo>
                    <a:pt x="121807" y="1008831"/>
                    <a:pt x="380235" y="1267259"/>
                    <a:pt x="699022" y="1267259"/>
                  </a:cubicBezTo>
                  <a:cubicBezTo>
                    <a:pt x="1017809" y="1267259"/>
                    <a:pt x="1276237" y="1008831"/>
                    <a:pt x="1276237" y="690043"/>
                  </a:cubicBezTo>
                  <a:cubicBezTo>
                    <a:pt x="1276237" y="371255"/>
                    <a:pt x="1017809" y="112827"/>
                    <a:pt x="699022" y="112827"/>
                  </a:cubicBezTo>
                  <a:close/>
                  <a:moveTo>
                    <a:pt x="702409" y="0"/>
                  </a:moveTo>
                  <a:cubicBezTo>
                    <a:pt x="1090339" y="0"/>
                    <a:pt x="1404818" y="311746"/>
                    <a:pt x="1404818" y="696305"/>
                  </a:cubicBezTo>
                  <a:cubicBezTo>
                    <a:pt x="1404818" y="1080864"/>
                    <a:pt x="1090339" y="1392610"/>
                    <a:pt x="702409" y="1392610"/>
                  </a:cubicBezTo>
                  <a:cubicBezTo>
                    <a:pt x="314479" y="1392610"/>
                    <a:pt x="0" y="1080864"/>
                    <a:pt x="0" y="696305"/>
                  </a:cubicBezTo>
                  <a:cubicBezTo>
                    <a:pt x="0" y="311746"/>
                    <a:pt x="314479" y="0"/>
                    <a:pt x="70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4804523" y="1477126"/>
              <a:ext cx="1395090" cy="648475"/>
            </a:xfrm>
            <a:custGeom>
              <a:rect b="b" l="l" r="r" t="t"/>
              <a:pathLst>
                <a:path extrusionOk="0" h="648475" w="1395090">
                  <a:moveTo>
                    <a:pt x="0" y="0"/>
                  </a:moveTo>
                  <a:lnTo>
                    <a:pt x="122396" y="0"/>
                  </a:lnTo>
                  <a:lnTo>
                    <a:pt x="128670" y="62237"/>
                  </a:lnTo>
                  <a:cubicBezTo>
                    <a:pt x="182493" y="325265"/>
                    <a:pt x="415220" y="523124"/>
                    <a:pt x="694158" y="523124"/>
                  </a:cubicBezTo>
                  <a:cubicBezTo>
                    <a:pt x="973097" y="523124"/>
                    <a:pt x="1205823" y="325265"/>
                    <a:pt x="1259646" y="62237"/>
                  </a:cubicBezTo>
                  <a:lnTo>
                    <a:pt x="1265920" y="0"/>
                  </a:lnTo>
                  <a:lnTo>
                    <a:pt x="1395090" y="0"/>
                  </a:lnTo>
                  <a:lnTo>
                    <a:pt x="1385684" y="92500"/>
                  </a:lnTo>
                  <a:cubicBezTo>
                    <a:pt x="1320187" y="409795"/>
                    <a:pt x="1036984" y="648475"/>
                    <a:pt x="697545" y="648475"/>
                  </a:cubicBezTo>
                  <a:cubicBezTo>
                    <a:pt x="358106" y="648475"/>
                    <a:pt x="74904" y="409795"/>
                    <a:pt x="9407" y="9250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10"/>
          <p:cNvGrpSpPr/>
          <p:nvPr/>
        </p:nvGrpSpPr>
        <p:grpSpPr>
          <a:xfrm>
            <a:off x="4680473" y="2480655"/>
            <a:ext cx="1404818" cy="1392610"/>
            <a:chOff x="4804523" y="732991"/>
            <a:chExt cx="1404818" cy="1392610"/>
          </a:xfrm>
        </p:grpSpPr>
        <p:sp>
          <p:nvSpPr>
            <p:cNvPr id="289" name="Google Shape;289;p10"/>
            <p:cNvSpPr/>
            <p:nvPr/>
          </p:nvSpPr>
          <p:spPr>
            <a:xfrm>
              <a:off x="4804523" y="732991"/>
              <a:ext cx="1404818" cy="1392610"/>
            </a:xfrm>
            <a:custGeom>
              <a:rect b="b" l="l" r="r" t="t"/>
              <a:pathLst>
                <a:path extrusionOk="0" h="1392610" w="1404818">
                  <a:moveTo>
                    <a:pt x="699022" y="112827"/>
                  </a:moveTo>
                  <a:cubicBezTo>
                    <a:pt x="380235" y="112827"/>
                    <a:pt x="121807" y="371255"/>
                    <a:pt x="121807" y="690043"/>
                  </a:cubicBezTo>
                  <a:cubicBezTo>
                    <a:pt x="121807" y="1008831"/>
                    <a:pt x="380235" y="1267259"/>
                    <a:pt x="699022" y="1267259"/>
                  </a:cubicBezTo>
                  <a:cubicBezTo>
                    <a:pt x="1017809" y="1267259"/>
                    <a:pt x="1276237" y="1008831"/>
                    <a:pt x="1276237" y="690043"/>
                  </a:cubicBezTo>
                  <a:cubicBezTo>
                    <a:pt x="1276237" y="371255"/>
                    <a:pt x="1017809" y="112827"/>
                    <a:pt x="699022" y="112827"/>
                  </a:cubicBezTo>
                  <a:close/>
                  <a:moveTo>
                    <a:pt x="702409" y="0"/>
                  </a:moveTo>
                  <a:cubicBezTo>
                    <a:pt x="1090339" y="0"/>
                    <a:pt x="1404818" y="311746"/>
                    <a:pt x="1404818" y="696305"/>
                  </a:cubicBezTo>
                  <a:cubicBezTo>
                    <a:pt x="1404818" y="1080864"/>
                    <a:pt x="1090339" y="1392610"/>
                    <a:pt x="702409" y="1392610"/>
                  </a:cubicBezTo>
                  <a:cubicBezTo>
                    <a:pt x="314479" y="1392610"/>
                    <a:pt x="0" y="1080864"/>
                    <a:pt x="0" y="696305"/>
                  </a:cubicBezTo>
                  <a:cubicBezTo>
                    <a:pt x="0" y="311746"/>
                    <a:pt x="314479" y="0"/>
                    <a:pt x="70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4804523" y="1477126"/>
              <a:ext cx="1395090" cy="648475"/>
            </a:xfrm>
            <a:custGeom>
              <a:rect b="b" l="l" r="r" t="t"/>
              <a:pathLst>
                <a:path extrusionOk="0" h="648475" w="1395090">
                  <a:moveTo>
                    <a:pt x="0" y="0"/>
                  </a:moveTo>
                  <a:lnTo>
                    <a:pt x="122396" y="0"/>
                  </a:lnTo>
                  <a:lnTo>
                    <a:pt x="128670" y="62237"/>
                  </a:lnTo>
                  <a:cubicBezTo>
                    <a:pt x="182493" y="325265"/>
                    <a:pt x="415220" y="523124"/>
                    <a:pt x="694158" y="523124"/>
                  </a:cubicBezTo>
                  <a:cubicBezTo>
                    <a:pt x="973097" y="523124"/>
                    <a:pt x="1205823" y="325265"/>
                    <a:pt x="1259646" y="62237"/>
                  </a:cubicBezTo>
                  <a:lnTo>
                    <a:pt x="1265920" y="0"/>
                  </a:lnTo>
                  <a:lnTo>
                    <a:pt x="1395090" y="0"/>
                  </a:lnTo>
                  <a:lnTo>
                    <a:pt x="1385684" y="92500"/>
                  </a:lnTo>
                  <a:cubicBezTo>
                    <a:pt x="1320187" y="409795"/>
                    <a:pt x="1036984" y="648475"/>
                    <a:pt x="697545" y="648475"/>
                  </a:cubicBezTo>
                  <a:cubicBezTo>
                    <a:pt x="358106" y="648475"/>
                    <a:pt x="74904" y="409795"/>
                    <a:pt x="9407" y="92500"/>
                  </a:cubicBezTo>
                  <a:close/>
                </a:path>
              </a:pathLst>
            </a:custGeom>
            <a:solidFill>
              <a:srgbClr val="7779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10"/>
          <p:cNvGrpSpPr/>
          <p:nvPr/>
        </p:nvGrpSpPr>
        <p:grpSpPr>
          <a:xfrm>
            <a:off x="6491612" y="2479647"/>
            <a:ext cx="1404818" cy="1392610"/>
            <a:chOff x="4804523" y="732991"/>
            <a:chExt cx="1404818" cy="1392610"/>
          </a:xfrm>
        </p:grpSpPr>
        <p:sp>
          <p:nvSpPr>
            <p:cNvPr id="292" name="Google Shape;292;p10"/>
            <p:cNvSpPr/>
            <p:nvPr/>
          </p:nvSpPr>
          <p:spPr>
            <a:xfrm>
              <a:off x="4804523" y="732991"/>
              <a:ext cx="1404818" cy="1392610"/>
            </a:xfrm>
            <a:custGeom>
              <a:rect b="b" l="l" r="r" t="t"/>
              <a:pathLst>
                <a:path extrusionOk="0" h="1392610" w="1404818">
                  <a:moveTo>
                    <a:pt x="699022" y="112827"/>
                  </a:moveTo>
                  <a:cubicBezTo>
                    <a:pt x="380235" y="112827"/>
                    <a:pt x="121807" y="371255"/>
                    <a:pt x="121807" y="690043"/>
                  </a:cubicBezTo>
                  <a:cubicBezTo>
                    <a:pt x="121807" y="1008831"/>
                    <a:pt x="380235" y="1267259"/>
                    <a:pt x="699022" y="1267259"/>
                  </a:cubicBezTo>
                  <a:cubicBezTo>
                    <a:pt x="1017809" y="1267259"/>
                    <a:pt x="1276237" y="1008831"/>
                    <a:pt x="1276237" y="690043"/>
                  </a:cubicBezTo>
                  <a:cubicBezTo>
                    <a:pt x="1276237" y="371255"/>
                    <a:pt x="1017809" y="112827"/>
                    <a:pt x="699022" y="112827"/>
                  </a:cubicBezTo>
                  <a:close/>
                  <a:moveTo>
                    <a:pt x="702409" y="0"/>
                  </a:moveTo>
                  <a:cubicBezTo>
                    <a:pt x="1090339" y="0"/>
                    <a:pt x="1404818" y="311746"/>
                    <a:pt x="1404818" y="696305"/>
                  </a:cubicBezTo>
                  <a:cubicBezTo>
                    <a:pt x="1404818" y="1080864"/>
                    <a:pt x="1090339" y="1392610"/>
                    <a:pt x="702409" y="1392610"/>
                  </a:cubicBezTo>
                  <a:cubicBezTo>
                    <a:pt x="314479" y="1392610"/>
                    <a:pt x="0" y="1080864"/>
                    <a:pt x="0" y="696305"/>
                  </a:cubicBezTo>
                  <a:cubicBezTo>
                    <a:pt x="0" y="311746"/>
                    <a:pt x="314479" y="0"/>
                    <a:pt x="7024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4804523" y="1477126"/>
              <a:ext cx="1395090" cy="648475"/>
            </a:xfrm>
            <a:custGeom>
              <a:rect b="b" l="l" r="r" t="t"/>
              <a:pathLst>
                <a:path extrusionOk="0" h="648475" w="1395090">
                  <a:moveTo>
                    <a:pt x="0" y="0"/>
                  </a:moveTo>
                  <a:lnTo>
                    <a:pt x="122396" y="0"/>
                  </a:lnTo>
                  <a:lnTo>
                    <a:pt x="128670" y="62237"/>
                  </a:lnTo>
                  <a:cubicBezTo>
                    <a:pt x="182493" y="325265"/>
                    <a:pt x="415220" y="523124"/>
                    <a:pt x="694158" y="523124"/>
                  </a:cubicBezTo>
                  <a:cubicBezTo>
                    <a:pt x="973097" y="523124"/>
                    <a:pt x="1205823" y="325265"/>
                    <a:pt x="1259646" y="62237"/>
                  </a:cubicBezTo>
                  <a:lnTo>
                    <a:pt x="1265920" y="0"/>
                  </a:lnTo>
                  <a:lnTo>
                    <a:pt x="1395090" y="0"/>
                  </a:lnTo>
                  <a:lnTo>
                    <a:pt x="1385684" y="92500"/>
                  </a:lnTo>
                  <a:cubicBezTo>
                    <a:pt x="1320187" y="409795"/>
                    <a:pt x="1036984" y="648475"/>
                    <a:pt x="697545" y="648475"/>
                  </a:cubicBezTo>
                  <a:cubicBezTo>
                    <a:pt x="358106" y="648475"/>
                    <a:pt x="74904" y="409795"/>
                    <a:pt x="9407" y="92500"/>
                  </a:cubicBezTo>
                  <a:close/>
                </a:path>
              </a:pathLst>
            </a:custGeom>
            <a:solidFill>
              <a:srgbClr val="DC149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4" name="Google Shape;294;p10"/>
          <p:cNvSpPr/>
          <p:nvPr/>
        </p:nvSpPr>
        <p:spPr>
          <a:xfrm>
            <a:off x="610100" y="3218776"/>
            <a:ext cx="8166634" cy="70940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2961655" y="1877802"/>
            <a:ext cx="1206102" cy="2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EBA2"/>
                </a:solidFill>
                <a:latin typeface="Lustria"/>
                <a:ea typeface="Lustria"/>
                <a:cs typeface="Lustria"/>
                <a:sym typeface="Lustria"/>
              </a:rPr>
              <a:t>Random Forest</a:t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4693417" y="1863201"/>
            <a:ext cx="1404818" cy="2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EBA2"/>
                </a:solidFill>
                <a:latin typeface="Lustria"/>
                <a:ea typeface="Lustria"/>
                <a:cs typeface="Lustria"/>
                <a:sym typeface="Lustria"/>
              </a:rPr>
              <a:t>Weighted Random Forest </a:t>
            </a:r>
            <a:br>
              <a:rPr b="0" i="0" lang="en-US" sz="1200" u="none" cap="none" strike="noStrike">
                <a:solidFill>
                  <a:srgbClr val="F8EBA2"/>
                </a:solidFill>
                <a:latin typeface="Lustria"/>
                <a:ea typeface="Lustria"/>
                <a:cs typeface="Lustria"/>
                <a:sym typeface="Lustria"/>
              </a:rPr>
            </a:br>
            <a:endParaRPr b="0" i="0" sz="1200" u="none" cap="none" strike="noStrike">
              <a:solidFill>
                <a:srgbClr val="F8EBA2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6373018" y="1840554"/>
            <a:ext cx="1632277" cy="2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EBA2"/>
                </a:solidFill>
                <a:latin typeface="Lustria"/>
                <a:ea typeface="Lustria"/>
                <a:cs typeface="Lustria"/>
                <a:sym typeface="Lustria"/>
              </a:rPr>
              <a:t>Collective Knowledge</a:t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1210936" y="2473959"/>
            <a:ext cx="503564" cy="42459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15</a:t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2930150" y="2477076"/>
            <a:ext cx="503564" cy="42459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1</a:t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4635826" y="2472171"/>
            <a:ext cx="503564" cy="424598"/>
          </a:xfrm>
          <a:prstGeom prst="ellipse">
            <a:avLst/>
          </a:prstGeom>
          <a:solidFill>
            <a:srgbClr val="7779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12</a:t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6466833" y="2473959"/>
            <a:ext cx="503564" cy="424598"/>
          </a:xfrm>
          <a:prstGeom prst="ellipse">
            <a:avLst/>
          </a:prstGeom>
          <a:solidFill>
            <a:srgbClr val="DC14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8</a:t>
            </a:r>
            <a:endParaRPr/>
          </a:p>
        </p:txBody>
      </p:sp>
      <p:sp>
        <p:nvSpPr>
          <p:cNvPr id="302" name="Google Shape;302;p10"/>
          <p:cNvSpPr txBox="1"/>
          <p:nvPr/>
        </p:nvSpPr>
        <p:spPr>
          <a:xfrm>
            <a:off x="1028830" y="544903"/>
            <a:ext cx="6867600" cy="4156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Result</a:t>
            </a:r>
            <a:endParaRPr i="0" sz="21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03" name="Google Shape;303;p10"/>
          <p:cNvGrpSpPr/>
          <p:nvPr/>
        </p:nvGrpSpPr>
        <p:grpSpPr>
          <a:xfrm>
            <a:off x="1399580" y="2803673"/>
            <a:ext cx="852130" cy="673792"/>
            <a:chOff x="1399580" y="2803673"/>
            <a:chExt cx="852130" cy="673792"/>
          </a:xfrm>
        </p:grpSpPr>
        <p:sp>
          <p:nvSpPr>
            <p:cNvPr id="304" name="Google Shape;304;p10"/>
            <p:cNvSpPr/>
            <p:nvPr/>
          </p:nvSpPr>
          <p:spPr>
            <a:xfrm>
              <a:off x="1399580" y="2803673"/>
              <a:ext cx="852130" cy="425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F8EBA2"/>
                  </a:solidFill>
                  <a:latin typeface="Lustria"/>
                  <a:ea typeface="Lustria"/>
                  <a:cs typeface="Lustria"/>
                  <a:sym typeface="Lustria"/>
                </a:rPr>
                <a:t>78.18 %</a:t>
              </a:r>
              <a:endParaRPr/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1399580" y="3149854"/>
              <a:ext cx="829153" cy="327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F8EBA2"/>
                  </a:solidFill>
                  <a:latin typeface="Lustria"/>
                  <a:ea typeface="Lustria"/>
                  <a:cs typeface="Lustria"/>
                  <a:sym typeface="Lustria"/>
                </a:rPr>
                <a:t>Accuracy</a:t>
              </a:r>
              <a:endParaRPr/>
            </a:p>
          </p:txBody>
        </p:sp>
      </p:grpSp>
      <p:grpSp>
        <p:nvGrpSpPr>
          <p:cNvPr id="306" name="Google Shape;306;p10"/>
          <p:cNvGrpSpPr/>
          <p:nvPr/>
        </p:nvGrpSpPr>
        <p:grpSpPr>
          <a:xfrm>
            <a:off x="3245278" y="2783399"/>
            <a:ext cx="852130" cy="700814"/>
            <a:chOff x="3245278" y="2783399"/>
            <a:chExt cx="852130" cy="700814"/>
          </a:xfrm>
        </p:grpSpPr>
        <p:sp>
          <p:nvSpPr>
            <p:cNvPr id="307" name="Google Shape;307;p10"/>
            <p:cNvSpPr/>
            <p:nvPr/>
          </p:nvSpPr>
          <p:spPr>
            <a:xfrm>
              <a:off x="3245278" y="2783399"/>
              <a:ext cx="852130" cy="425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8EBA2"/>
                  </a:solidFill>
                  <a:latin typeface="Arial"/>
                  <a:ea typeface="Arial"/>
                  <a:cs typeface="Arial"/>
                  <a:sym typeface="Arial"/>
                </a:rPr>
                <a:t>92.61 %</a:t>
              </a:r>
              <a:endParaRPr/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3263348" y="3156602"/>
              <a:ext cx="829153" cy="327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F8EBA2"/>
                  </a:solidFill>
                  <a:latin typeface="Lustria"/>
                  <a:ea typeface="Lustria"/>
                  <a:cs typeface="Lustria"/>
                  <a:sym typeface="Lustria"/>
                </a:rPr>
                <a:t>Accuracy</a:t>
              </a:r>
              <a:endParaRPr/>
            </a:p>
          </p:txBody>
        </p:sp>
      </p:grpSp>
      <p:grpSp>
        <p:nvGrpSpPr>
          <p:cNvPr id="309" name="Google Shape;309;p10"/>
          <p:cNvGrpSpPr/>
          <p:nvPr/>
        </p:nvGrpSpPr>
        <p:grpSpPr>
          <a:xfrm>
            <a:off x="4951953" y="2785109"/>
            <a:ext cx="867067" cy="698088"/>
            <a:chOff x="4951953" y="2785109"/>
            <a:chExt cx="867067" cy="698088"/>
          </a:xfrm>
        </p:grpSpPr>
        <p:sp>
          <p:nvSpPr>
            <p:cNvPr id="310" name="Google Shape;310;p10"/>
            <p:cNvSpPr/>
            <p:nvPr/>
          </p:nvSpPr>
          <p:spPr>
            <a:xfrm>
              <a:off x="4951953" y="2785109"/>
              <a:ext cx="852130" cy="425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8EBA2"/>
                  </a:solidFill>
                  <a:latin typeface="Arial"/>
                  <a:ea typeface="Arial"/>
                  <a:cs typeface="Arial"/>
                  <a:sym typeface="Arial"/>
                </a:rPr>
                <a:t>93.73 %</a:t>
              </a:r>
              <a:endParaRPr/>
            </a:p>
          </p:txBody>
        </p:sp>
        <p:sp>
          <p:nvSpPr>
            <p:cNvPr id="311" name="Google Shape;311;p10"/>
            <p:cNvSpPr/>
            <p:nvPr/>
          </p:nvSpPr>
          <p:spPr>
            <a:xfrm>
              <a:off x="4989867" y="3155586"/>
              <a:ext cx="829153" cy="327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F8EBA2"/>
                  </a:solidFill>
                  <a:latin typeface="Lustria"/>
                  <a:ea typeface="Lustria"/>
                  <a:cs typeface="Lustria"/>
                  <a:sym typeface="Lustria"/>
                </a:rPr>
                <a:t>Accuracy</a:t>
              </a:r>
              <a:endParaRPr/>
            </a:p>
          </p:txBody>
        </p:sp>
      </p:grpSp>
      <p:grpSp>
        <p:nvGrpSpPr>
          <p:cNvPr id="312" name="Google Shape;312;p10"/>
          <p:cNvGrpSpPr/>
          <p:nvPr/>
        </p:nvGrpSpPr>
        <p:grpSpPr>
          <a:xfrm>
            <a:off x="6779212" y="2788158"/>
            <a:ext cx="852130" cy="689306"/>
            <a:chOff x="6779212" y="2788158"/>
            <a:chExt cx="852130" cy="689306"/>
          </a:xfrm>
        </p:grpSpPr>
        <p:sp>
          <p:nvSpPr>
            <p:cNvPr id="313" name="Google Shape;313;p10"/>
            <p:cNvSpPr/>
            <p:nvPr/>
          </p:nvSpPr>
          <p:spPr>
            <a:xfrm>
              <a:off x="6779212" y="2788158"/>
              <a:ext cx="852130" cy="425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F8EBA2"/>
                  </a:solidFill>
                  <a:latin typeface="Lustria"/>
                  <a:ea typeface="Lustria"/>
                  <a:cs typeface="Lustria"/>
                  <a:sym typeface="Lustria"/>
                </a:rPr>
                <a:t>87 %</a:t>
              </a:r>
              <a:endParaRPr/>
            </a:p>
          </p:txBody>
        </p:sp>
        <p:sp>
          <p:nvSpPr>
            <p:cNvPr id="314" name="Google Shape;314;p10"/>
            <p:cNvSpPr/>
            <p:nvPr/>
          </p:nvSpPr>
          <p:spPr>
            <a:xfrm>
              <a:off x="6790700" y="3149853"/>
              <a:ext cx="829153" cy="3276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F8EBA2"/>
                  </a:solidFill>
                  <a:latin typeface="Lustria"/>
                  <a:ea typeface="Lustria"/>
                  <a:cs typeface="Lustria"/>
                  <a:sym typeface="Lustria"/>
                </a:rPr>
                <a:t>Accuracy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8"/>
          <p:cNvGrpSpPr/>
          <p:nvPr/>
        </p:nvGrpSpPr>
        <p:grpSpPr>
          <a:xfrm>
            <a:off x="1629446" y="1520456"/>
            <a:ext cx="5885107" cy="786810"/>
            <a:chOff x="1626781" y="1041991"/>
            <a:chExt cx="5890437" cy="797442"/>
          </a:xfrm>
        </p:grpSpPr>
        <p:grpSp>
          <p:nvGrpSpPr>
            <p:cNvPr id="320" name="Google Shape;320;p8"/>
            <p:cNvGrpSpPr/>
            <p:nvPr/>
          </p:nvGrpSpPr>
          <p:grpSpPr>
            <a:xfrm>
              <a:off x="1626781" y="1041991"/>
              <a:ext cx="5874488" cy="797442"/>
              <a:chOff x="1626781" y="1041991"/>
              <a:chExt cx="5874488" cy="648586"/>
            </a:xfrm>
          </p:grpSpPr>
          <p:sp>
            <p:nvSpPr>
              <p:cNvPr id="321" name="Google Shape;321;p8"/>
              <p:cNvSpPr/>
              <p:nvPr/>
            </p:nvSpPr>
            <p:spPr>
              <a:xfrm>
                <a:off x="1642730" y="1041991"/>
                <a:ext cx="5858539" cy="648586"/>
              </a:xfrm>
              <a:prstGeom prst="roundRect">
                <a:avLst>
                  <a:gd fmla="val 16667" name="adj"/>
                </a:avLst>
              </a:prstGeom>
              <a:solidFill>
                <a:srgbClr val="E5F3E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1626781" y="1041991"/>
                <a:ext cx="170121" cy="648586"/>
              </a:xfrm>
              <a:custGeom>
                <a:rect b="b" l="l" r="r" t="t"/>
                <a:pathLst>
                  <a:path extrusionOk="0" h="648586" w="170121">
                    <a:moveTo>
                      <a:pt x="108100" y="0"/>
                    </a:moveTo>
                    <a:lnTo>
                      <a:pt x="170121" y="0"/>
                    </a:lnTo>
                    <a:lnTo>
                      <a:pt x="170121" y="648586"/>
                    </a:lnTo>
                    <a:lnTo>
                      <a:pt x="108100" y="648586"/>
                    </a:lnTo>
                    <a:cubicBezTo>
                      <a:pt x="48398" y="648586"/>
                      <a:pt x="0" y="600188"/>
                      <a:pt x="0" y="540486"/>
                    </a:cubicBezTo>
                    <a:lnTo>
                      <a:pt x="0" y="108100"/>
                    </a:lnTo>
                    <a:cubicBezTo>
                      <a:pt x="0" y="48398"/>
                      <a:pt x="48398" y="0"/>
                      <a:pt x="108100" y="0"/>
                    </a:cubicBezTo>
                    <a:close/>
                  </a:path>
                </a:pathLst>
              </a:custGeom>
              <a:solidFill>
                <a:srgbClr val="FF596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3" name="Google Shape;323;p8"/>
            <p:cNvSpPr/>
            <p:nvPr/>
          </p:nvSpPr>
          <p:spPr>
            <a:xfrm>
              <a:off x="7336467" y="1041991"/>
              <a:ext cx="180751" cy="797442"/>
            </a:xfrm>
            <a:custGeom>
              <a:rect b="b" l="l" r="r" t="t"/>
              <a:pathLst>
                <a:path extrusionOk="0" h="797442" w="154170">
                  <a:moveTo>
                    <a:pt x="0" y="0"/>
                  </a:moveTo>
                  <a:lnTo>
                    <a:pt x="21260" y="0"/>
                  </a:lnTo>
                  <a:cubicBezTo>
                    <a:pt x="94664" y="0"/>
                    <a:pt x="154170" y="59506"/>
                    <a:pt x="154170" y="132910"/>
                  </a:cubicBezTo>
                  <a:lnTo>
                    <a:pt x="154170" y="664532"/>
                  </a:lnTo>
                  <a:cubicBezTo>
                    <a:pt x="154170" y="737936"/>
                    <a:pt x="94664" y="797442"/>
                    <a:pt x="21260" y="797442"/>
                  </a:cubicBezTo>
                  <a:lnTo>
                    <a:pt x="0" y="79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4" name="Google Shape;324;p8"/>
          <p:cNvSpPr/>
          <p:nvPr/>
        </p:nvSpPr>
        <p:spPr>
          <a:xfrm>
            <a:off x="1791600" y="1622129"/>
            <a:ext cx="726996" cy="572829"/>
          </a:xfrm>
          <a:prstGeom prst="homePlate">
            <a:avLst>
              <a:gd fmla="val 50000" name="adj"/>
            </a:avLst>
          </a:pr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2526563" y="1622130"/>
            <a:ext cx="4561367" cy="572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Be able to develop a model by identifying the missing links and using the existing work's knowledge. </a:t>
            </a:r>
            <a:endParaRPr/>
          </a:p>
        </p:txBody>
      </p:sp>
      <p:grpSp>
        <p:nvGrpSpPr>
          <p:cNvPr id="326" name="Google Shape;326;p8"/>
          <p:cNvGrpSpPr/>
          <p:nvPr/>
        </p:nvGrpSpPr>
        <p:grpSpPr>
          <a:xfrm>
            <a:off x="1629446" y="2948762"/>
            <a:ext cx="5885107" cy="786810"/>
            <a:chOff x="1626781" y="1041991"/>
            <a:chExt cx="5890437" cy="797442"/>
          </a:xfrm>
        </p:grpSpPr>
        <p:grpSp>
          <p:nvGrpSpPr>
            <p:cNvPr id="327" name="Google Shape;327;p8"/>
            <p:cNvGrpSpPr/>
            <p:nvPr/>
          </p:nvGrpSpPr>
          <p:grpSpPr>
            <a:xfrm>
              <a:off x="1626781" y="1041991"/>
              <a:ext cx="5874488" cy="797442"/>
              <a:chOff x="1626781" y="1041991"/>
              <a:chExt cx="5874488" cy="648586"/>
            </a:xfrm>
          </p:grpSpPr>
          <p:sp>
            <p:nvSpPr>
              <p:cNvPr id="328" name="Google Shape;328;p8"/>
              <p:cNvSpPr/>
              <p:nvPr/>
            </p:nvSpPr>
            <p:spPr>
              <a:xfrm>
                <a:off x="1642730" y="1041991"/>
                <a:ext cx="5858539" cy="648586"/>
              </a:xfrm>
              <a:prstGeom prst="roundRect">
                <a:avLst>
                  <a:gd fmla="val 16667" name="adj"/>
                </a:avLst>
              </a:prstGeom>
              <a:solidFill>
                <a:srgbClr val="E5F3E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1626781" y="1041991"/>
                <a:ext cx="170121" cy="648586"/>
              </a:xfrm>
              <a:custGeom>
                <a:rect b="b" l="l" r="r" t="t"/>
                <a:pathLst>
                  <a:path extrusionOk="0" h="648586" w="170121">
                    <a:moveTo>
                      <a:pt x="108100" y="0"/>
                    </a:moveTo>
                    <a:lnTo>
                      <a:pt x="170121" y="0"/>
                    </a:lnTo>
                    <a:lnTo>
                      <a:pt x="170121" y="648586"/>
                    </a:lnTo>
                    <a:lnTo>
                      <a:pt x="108100" y="648586"/>
                    </a:lnTo>
                    <a:cubicBezTo>
                      <a:pt x="48398" y="648586"/>
                      <a:pt x="0" y="600188"/>
                      <a:pt x="0" y="540486"/>
                    </a:cubicBezTo>
                    <a:lnTo>
                      <a:pt x="0" y="108100"/>
                    </a:lnTo>
                    <a:cubicBezTo>
                      <a:pt x="0" y="48398"/>
                      <a:pt x="48398" y="0"/>
                      <a:pt x="108100" y="0"/>
                    </a:cubicBezTo>
                    <a:close/>
                  </a:path>
                </a:pathLst>
              </a:custGeom>
              <a:solidFill>
                <a:srgbClr val="66FF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0" name="Google Shape;330;p8"/>
            <p:cNvSpPr/>
            <p:nvPr/>
          </p:nvSpPr>
          <p:spPr>
            <a:xfrm>
              <a:off x="7336467" y="1041991"/>
              <a:ext cx="180751" cy="797442"/>
            </a:xfrm>
            <a:custGeom>
              <a:rect b="b" l="l" r="r" t="t"/>
              <a:pathLst>
                <a:path extrusionOk="0" h="797442" w="154170">
                  <a:moveTo>
                    <a:pt x="0" y="0"/>
                  </a:moveTo>
                  <a:lnTo>
                    <a:pt x="21260" y="0"/>
                  </a:lnTo>
                  <a:cubicBezTo>
                    <a:pt x="94664" y="0"/>
                    <a:pt x="154170" y="59506"/>
                    <a:pt x="154170" y="132910"/>
                  </a:cubicBezTo>
                  <a:lnTo>
                    <a:pt x="154170" y="664532"/>
                  </a:lnTo>
                  <a:cubicBezTo>
                    <a:pt x="154170" y="737936"/>
                    <a:pt x="94664" y="797442"/>
                    <a:pt x="21260" y="797442"/>
                  </a:cubicBezTo>
                  <a:lnTo>
                    <a:pt x="0" y="797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" name="Google Shape;331;p8"/>
          <p:cNvSpPr/>
          <p:nvPr/>
        </p:nvSpPr>
        <p:spPr>
          <a:xfrm>
            <a:off x="1791600" y="3050436"/>
            <a:ext cx="726996" cy="572829"/>
          </a:xfrm>
          <a:prstGeom prst="homePlate">
            <a:avLst>
              <a:gd fmla="val 50000" name="adj"/>
            </a:avLst>
          </a:prstGeom>
          <a:solidFill>
            <a:srgbClr val="66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2526563" y="3050436"/>
            <a:ext cx="4561367" cy="5728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rPr>
              <a:t>In the future, those features can be included which weren't available at that time.</a:t>
            </a:r>
            <a:endParaRPr/>
          </a:p>
        </p:txBody>
      </p:sp>
      <p:sp>
        <p:nvSpPr>
          <p:cNvPr id="333" name="Google Shape;333;p8"/>
          <p:cNvSpPr txBox="1"/>
          <p:nvPr/>
        </p:nvSpPr>
        <p:spPr>
          <a:xfrm>
            <a:off x="2737716" y="454952"/>
            <a:ext cx="32499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Future Work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"/>
          <p:cNvSpPr txBox="1"/>
          <p:nvPr/>
        </p:nvSpPr>
        <p:spPr>
          <a:xfrm>
            <a:off x="3152500" y="147998"/>
            <a:ext cx="31308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4848238" y="1106375"/>
            <a:ext cx="97800" cy="3825300"/>
          </a:xfrm>
          <a:prstGeom prst="rect">
            <a:avLst/>
          </a:prstGeom>
          <a:solidFill>
            <a:srgbClr val="E1E8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0" name="Google Shape;340;p9"/>
          <p:cNvGrpSpPr/>
          <p:nvPr/>
        </p:nvGrpSpPr>
        <p:grpSpPr>
          <a:xfrm>
            <a:off x="4558879" y="1671832"/>
            <a:ext cx="443766" cy="235721"/>
            <a:chOff x="4180901" y="900528"/>
            <a:chExt cx="460673" cy="272289"/>
          </a:xfrm>
        </p:grpSpPr>
        <p:grpSp>
          <p:nvGrpSpPr>
            <p:cNvPr id="341" name="Google Shape;341;p9"/>
            <p:cNvGrpSpPr/>
            <p:nvPr/>
          </p:nvGrpSpPr>
          <p:grpSpPr>
            <a:xfrm>
              <a:off x="4407369" y="900528"/>
              <a:ext cx="234205" cy="272289"/>
              <a:chOff x="4393019" y="940979"/>
              <a:chExt cx="349102" cy="304802"/>
            </a:xfrm>
          </p:grpSpPr>
          <p:sp>
            <p:nvSpPr>
              <p:cNvPr id="342" name="Google Shape;342;p9"/>
              <p:cNvSpPr/>
              <p:nvPr/>
            </p:nvSpPr>
            <p:spPr>
              <a:xfrm>
                <a:off x="4393019" y="940979"/>
                <a:ext cx="349102" cy="304802"/>
              </a:xfrm>
              <a:prstGeom prst="ellipse">
                <a:avLst/>
              </a:prstGeom>
              <a:solidFill>
                <a:srgbClr val="FFCC6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9"/>
              <p:cNvSpPr/>
              <p:nvPr/>
            </p:nvSpPr>
            <p:spPr>
              <a:xfrm>
                <a:off x="4461695" y="993255"/>
                <a:ext cx="223283" cy="20025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4" name="Google Shape;344;p9"/>
            <p:cNvSpPr/>
            <p:nvPr/>
          </p:nvSpPr>
          <p:spPr>
            <a:xfrm>
              <a:off x="4180901" y="1013812"/>
              <a:ext cx="234205" cy="45719"/>
            </a:xfrm>
            <a:prstGeom prst="flowChartProcess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5" name="Google Shape;345;p9"/>
          <p:cNvSpPr/>
          <p:nvPr/>
        </p:nvSpPr>
        <p:spPr>
          <a:xfrm>
            <a:off x="3681102" y="1453756"/>
            <a:ext cx="890400" cy="672000"/>
          </a:xfrm>
          <a:prstGeom prst="roundRect">
            <a:avLst>
              <a:gd fmla="val 16667" name="adj"/>
            </a:avLst>
          </a:prstGeom>
          <a:solidFill>
            <a:srgbClr val="FFCC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9"/>
          <p:cNvSpPr/>
          <p:nvPr/>
        </p:nvSpPr>
        <p:spPr>
          <a:xfrm flipH="1">
            <a:off x="3681177" y="1452455"/>
            <a:ext cx="364330" cy="318049"/>
          </a:xfrm>
          <a:custGeom>
            <a:rect b="b" l="l" r="r" t="t"/>
            <a:pathLst>
              <a:path extrusionOk="0" h="396323" w="428624">
                <a:moveTo>
                  <a:pt x="324261" y="0"/>
                </a:moveTo>
                <a:lnTo>
                  <a:pt x="0" y="0"/>
                </a:lnTo>
                <a:lnTo>
                  <a:pt x="0" y="396323"/>
                </a:lnTo>
                <a:lnTo>
                  <a:pt x="428624" y="396323"/>
                </a:lnTo>
                <a:lnTo>
                  <a:pt x="428624" y="104363"/>
                </a:lnTo>
                <a:cubicBezTo>
                  <a:pt x="428624" y="46725"/>
                  <a:pt x="381899" y="0"/>
                  <a:pt x="324261" y="0"/>
                </a:cubicBezTo>
                <a:close/>
              </a:path>
            </a:pathLst>
          </a:custGeom>
          <a:solidFill>
            <a:srgbClr val="4CAA7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grpSp>
        <p:nvGrpSpPr>
          <p:cNvPr id="347" name="Google Shape;347;p9"/>
          <p:cNvGrpSpPr/>
          <p:nvPr/>
        </p:nvGrpSpPr>
        <p:grpSpPr>
          <a:xfrm flipH="1">
            <a:off x="4787290" y="2492558"/>
            <a:ext cx="438054" cy="235721"/>
            <a:chOff x="4180901" y="900528"/>
            <a:chExt cx="460673" cy="272289"/>
          </a:xfrm>
        </p:grpSpPr>
        <p:grpSp>
          <p:nvGrpSpPr>
            <p:cNvPr id="348" name="Google Shape;348;p9"/>
            <p:cNvGrpSpPr/>
            <p:nvPr/>
          </p:nvGrpSpPr>
          <p:grpSpPr>
            <a:xfrm>
              <a:off x="4407369" y="900528"/>
              <a:ext cx="234205" cy="272289"/>
              <a:chOff x="4393019" y="940979"/>
              <a:chExt cx="349102" cy="304802"/>
            </a:xfrm>
          </p:grpSpPr>
          <p:sp>
            <p:nvSpPr>
              <p:cNvPr id="349" name="Google Shape;349;p9"/>
              <p:cNvSpPr/>
              <p:nvPr/>
            </p:nvSpPr>
            <p:spPr>
              <a:xfrm>
                <a:off x="4393019" y="940979"/>
                <a:ext cx="349102" cy="304802"/>
              </a:xfrm>
              <a:prstGeom prst="ellipse">
                <a:avLst/>
              </a:prstGeom>
              <a:solidFill>
                <a:srgbClr val="FFCC6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9"/>
              <p:cNvSpPr/>
              <p:nvPr/>
            </p:nvSpPr>
            <p:spPr>
              <a:xfrm>
                <a:off x="4461695" y="993255"/>
                <a:ext cx="223283" cy="20025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1" name="Google Shape;351;p9"/>
            <p:cNvSpPr/>
            <p:nvPr/>
          </p:nvSpPr>
          <p:spPr>
            <a:xfrm>
              <a:off x="4180901" y="1013812"/>
              <a:ext cx="234205" cy="45719"/>
            </a:xfrm>
            <a:prstGeom prst="flowChartProcess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2" name="Google Shape;352;p9"/>
          <p:cNvSpPr/>
          <p:nvPr/>
        </p:nvSpPr>
        <p:spPr>
          <a:xfrm flipH="1">
            <a:off x="5212713" y="2274482"/>
            <a:ext cx="879000" cy="672000"/>
          </a:xfrm>
          <a:prstGeom prst="roundRect">
            <a:avLst>
              <a:gd fmla="val 16667" name="adj"/>
            </a:avLst>
          </a:prstGeom>
          <a:solidFill>
            <a:srgbClr val="FFCC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5711211" y="2273181"/>
            <a:ext cx="381475" cy="318049"/>
          </a:xfrm>
          <a:custGeom>
            <a:rect b="b" l="l" r="r" t="t"/>
            <a:pathLst>
              <a:path extrusionOk="0" h="396323" w="428624">
                <a:moveTo>
                  <a:pt x="324261" y="0"/>
                </a:moveTo>
                <a:lnTo>
                  <a:pt x="0" y="0"/>
                </a:lnTo>
                <a:lnTo>
                  <a:pt x="0" y="396323"/>
                </a:lnTo>
                <a:lnTo>
                  <a:pt x="428624" y="396323"/>
                </a:lnTo>
                <a:lnTo>
                  <a:pt x="428624" y="104363"/>
                </a:lnTo>
                <a:cubicBezTo>
                  <a:pt x="428624" y="46725"/>
                  <a:pt x="381899" y="0"/>
                  <a:pt x="324261" y="0"/>
                </a:cubicBezTo>
                <a:close/>
              </a:path>
            </a:pathLst>
          </a:custGeom>
          <a:solidFill>
            <a:srgbClr val="4451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grpSp>
        <p:nvGrpSpPr>
          <p:cNvPr id="354" name="Google Shape;354;p9"/>
          <p:cNvGrpSpPr/>
          <p:nvPr/>
        </p:nvGrpSpPr>
        <p:grpSpPr>
          <a:xfrm>
            <a:off x="4558879" y="3292948"/>
            <a:ext cx="443766" cy="235721"/>
            <a:chOff x="4180901" y="900528"/>
            <a:chExt cx="460673" cy="272289"/>
          </a:xfrm>
        </p:grpSpPr>
        <p:grpSp>
          <p:nvGrpSpPr>
            <p:cNvPr id="355" name="Google Shape;355;p9"/>
            <p:cNvGrpSpPr/>
            <p:nvPr/>
          </p:nvGrpSpPr>
          <p:grpSpPr>
            <a:xfrm>
              <a:off x="4407369" y="900528"/>
              <a:ext cx="234205" cy="272289"/>
              <a:chOff x="4393019" y="940979"/>
              <a:chExt cx="349102" cy="304802"/>
            </a:xfrm>
          </p:grpSpPr>
          <p:sp>
            <p:nvSpPr>
              <p:cNvPr id="356" name="Google Shape;356;p9"/>
              <p:cNvSpPr/>
              <p:nvPr/>
            </p:nvSpPr>
            <p:spPr>
              <a:xfrm>
                <a:off x="4393019" y="940979"/>
                <a:ext cx="349102" cy="304802"/>
              </a:xfrm>
              <a:prstGeom prst="ellipse">
                <a:avLst/>
              </a:prstGeom>
              <a:solidFill>
                <a:srgbClr val="FFCC6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>
                <a:off x="4461695" y="993255"/>
                <a:ext cx="223283" cy="20025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8" name="Google Shape;358;p9"/>
            <p:cNvSpPr/>
            <p:nvPr/>
          </p:nvSpPr>
          <p:spPr>
            <a:xfrm>
              <a:off x="4180901" y="1013812"/>
              <a:ext cx="234205" cy="45719"/>
            </a:xfrm>
            <a:prstGeom prst="flowChartProcess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9" name="Google Shape;359;p9"/>
          <p:cNvSpPr/>
          <p:nvPr/>
        </p:nvSpPr>
        <p:spPr>
          <a:xfrm>
            <a:off x="3670921" y="3075491"/>
            <a:ext cx="890400" cy="672000"/>
          </a:xfrm>
          <a:prstGeom prst="roundRect">
            <a:avLst>
              <a:gd fmla="val 16667" name="adj"/>
            </a:avLst>
          </a:prstGeom>
          <a:solidFill>
            <a:srgbClr val="FFCC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9"/>
          <p:cNvSpPr/>
          <p:nvPr/>
        </p:nvSpPr>
        <p:spPr>
          <a:xfrm flipH="1">
            <a:off x="3671984" y="3075491"/>
            <a:ext cx="375046" cy="318049"/>
          </a:xfrm>
          <a:custGeom>
            <a:rect b="b" l="l" r="r" t="t"/>
            <a:pathLst>
              <a:path extrusionOk="0" h="396323" w="428624">
                <a:moveTo>
                  <a:pt x="324261" y="0"/>
                </a:moveTo>
                <a:lnTo>
                  <a:pt x="0" y="0"/>
                </a:lnTo>
                <a:lnTo>
                  <a:pt x="0" y="396323"/>
                </a:lnTo>
                <a:lnTo>
                  <a:pt x="428624" y="396323"/>
                </a:lnTo>
                <a:lnTo>
                  <a:pt x="428624" y="104363"/>
                </a:lnTo>
                <a:cubicBezTo>
                  <a:pt x="428624" y="46725"/>
                  <a:pt x="381899" y="0"/>
                  <a:pt x="324261" y="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grpSp>
        <p:nvGrpSpPr>
          <p:cNvPr id="361" name="Google Shape;361;p9"/>
          <p:cNvGrpSpPr/>
          <p:nvPr/>
        </p:nvGrpSpPr>
        <p:grpSpPr>
          <a:xfrm flipH="1">
            <a:off x="4774007" y="4062752"/>
            <a:ext cx="438054" cy="235721"/>
            <a:chOff x="4180901" y="900528"/>
            <a:chExt cx="460673" cy="272289"/>
          </a:xfrm>
        </p:grpSpPr>
        <p:grpSp>
          <p:nvGrpSpPr>
            <p:cNvPr id="362" name="Google Shape;362;p9"/>
            <p:cNvGrpSpPr/>
            <p:nvPr/>
          </p:nvGrpSpPr>
          <p:grpSpPr>
            <a:xfrm>
              <a:off x="4407369" y="900528"/>
              <a:ext cx="234205" cy="272289"/>
              <a:chOff x="4393019" y="940979"/>
              <a:chExt cx="349102" cy="304802"/>
            </a:xfrm>
          </p:grpSpPr>
          <p:sp>
            <p:nvSpPr>
              <p:cNvPr id="363" name="Google Shape;363;p9"/>
              <p:cNvSpPr/>
              <p:nvPr/>
            </p:nvSpPr>
            <p:spPr>
              <a:xfrm>
                <a:off x="4393019" y="940979"/>
                <a:ext cx="349102" cy="304802"/>
              </a:xfrm>
              <a:prstGeom prst="ellipse">
                <a:avLst/>
              </a:prstGeom>
              <a:solidFill>
                <a:srgbClr val="FFCC6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4461695" y="993255"/>
                <a:ext cx="223283" cy="20025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5" name="Google Shape;365;p9"/>
            <p:cNvSpPr/>
            <p:nvPr/>
          </p:nvSpPr>
          <p:spPr>
            <a:xfrm>
              <a:off x="4180901" y="1013812"/>
              <a:ext cx="234205" cy="45719"/>
            </a:xfrm>
            <a:prstGeom prst="flowChartProcess">
              <a:avLst/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6" name="Google Shape;366;p9"/>
          <p:cNvSpPr/>
          <p:nvPr/>
        </p:nvSpPr>
        <p:spPr>
          <a:xfrm flipH="1">
            <a:off x="5209448" y="3844676"/>
            <a:ext cx="879000" cy="672000"/>
          </a:xfrm>
          <a:prstGeom prst="roundRect">
            <a:avLst>
              <a:gd fmla="val 16667" name="adj"/>
            </a:avLst>
          </a:prstGeom>
          <a:solidFill>
            <a:srgbClr val="FFCC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5711211" y="3843374"/>
            <a:ext cx="377189" cy="318049"/>
          </a:xfrm>
          <a:custGeom>
            <a:rect b="b" l="l" r="r" t="t"/>
            <a:pathLst>
              <a:path extrusionOk="0" h="396323" w="428624">
                <a:moveTo>
                  <a:pt x="324261" y="0"/>
                </a:moveTo>
                <a:lnTo>
                  <a:pt x="0" y="0"/>
                </a:lnTo>
                <a:lnTo>
                  <a:pt x="0" y="396323"/>
                </a:lnTo>
                <a:lnTo>
                  <a:pt x="428624" y="396323"/>
                </a:lnTo>
                <a:lnTo>
                  <a:pt x="428624" y="104363"/>
                </a:lnTo>
                <a:cubicBezTo>
                  <a:pt x="428624" y="46725"/>
                  <a:pt x="381899" y="0"/>
                  <a:pt x="324261" y="0"/>
                </a:cubicBezTo>
                <a:close/>
              </a:path>
            </a:pathLst>
          </a:custGeom>
          <a:solidFill>
            <a:srgbClr val="FF59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999809" y="1484528"/>
            <a:ext cx="24264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Neural networks can also be applied for prediction</a:t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6283307" y="2305253"/>
            <a:ext cx="24264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The results indicate that the data set was not linearly separable</a:t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1127259" y="3118076"/>
            <a:ext cx="24264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The model had good accuracy as compared to other algorithms</a:t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6283307" y="3916070"/>
            <a:ext cx="24264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The framework does not imply a higher-level of ‘accuracy’ in player selection</a:t>
            </a:r>
            <a:endParaRPr/>
          </a:p>
        </p:txBody>
      </p:sp>
      <p:pic>
        <p:nvPicPr>
          <p:cNvPr id="372" name="Google Shape;3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9629" y="1708472"/>
            <a:ext cx="409448" cy="36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42845" y="2578337"/>
            <a:ext cx="425684" cy="341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26586" y="3310925"/>
            <a:ext cx="420552" cy="377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94313" y="4161894"/>
            <a:ext cx="353252" cy="317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ga0b446378c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75" y="1200550"/>
            <a:ext cx="6930276" cy="235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Sadia</dc:creator>
</cp:coreProperties>
</file>