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9"/>
  </p:notesMasterIdLst>
  <p:sldIdLst>
    <p:sldId id="279" r:id="rId2"/>
    <p:sldId id="281" r:id="rId3"/>
    <p:sldId id="283" r:id="rId4"/>
    <p:sldId id="280" r:id="rId5"/>
    <p:sldId id="284" r:id="rId6"/>
    <p:sldId id="285" r:id="rId7"/>
    <p:sldId id="286" r:id="rId8"/>
    <p:sldId id="287" r:id="rId9"/>
    <p:sldId id="288" r:id="rId10"/>
    <p:sldId id="267" r:id="rId11"/>
    <p:sldId id="289" r:id="rId12"/>
    <p:sldId id="270" r:id="rId13"/>
    <p:sldId id="271" r:id="rId14"/>
    <p:sldId id="278" r:id="rId15"/>
    <p:sldId id="277" r:id="rId16"/>
    <p:sldId id="290" r:id="rId17"/>
    <p:sldId id="29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>
      <p:cViewPr>
        <p:scale>
          <a:sx n="76" d="100"/>
          <a:sy n="76" d="100"/>
        </p:scale>
        <p:origin x="-118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2E52CE-ED9B-4E56-9008-7D5953C84414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726EF-6CE9-43FD-BC1C-6CA2505F3C3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372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726EF-6CE9-43FD-BC1C-6CA2505F3C36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685800"/>
            <a:ext cx="600075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3843868"/>
            <a:ext cx="48006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3B09-1990-4575-BDC0-05DE1BB359E5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ACB01-AB53-4FCE-BD57-93C735C4095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8467"/>
            <a:ext cx="28575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91546"/>
            <a:ext cx="4560491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228600"/>
            <a:ext cx="371475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32279"/>
            <a:ext cx="3639742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609602"/>
            <a:ext cx="325754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3B09-1990-4575-BDC0-05DE1BB359E5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ACB01-AB53-4FCE-BD57-93C735C409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006600"/>
            <a:ext cx="64008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4495800"/>
            <a:ext cx="64008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3B09-1990-4575-BDC0-05DE1BB359E5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ACB01-AB53-4FCE-BD57-93C735C409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685801"/>
            <a:ext cx="3703241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685801"/>
            <a:ext cx="370085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3B09-1990-4575-BDC0-05DE1BB359E5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ACB01-AB53-4FCE-BD57-93C735C409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685800"/>
            <a:ext cx="348734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1270529"/>
            <a:ext cx="3703241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685800"/>
            <a:ext cx="349885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1262062"/>
            <a:ext cx="3696891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3B09-1990-4575-BDC0-05DE1BB359E5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ACB01-AB53-4FCE-BD57-93C735C409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3B09-1990-4575-BDC0-05DE1BB359E5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ACB01-AB53-4FCE-BD57-93C735C409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3B09-1990-4575-BDC0-05DE1BB359E5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ACB01-AB53-4FCE-BD57-93C735C409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685800"/>
            <a:ext cx="27432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685800"/>
            <a:ext cx="44577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2209800"/>
            <a:ext cx="27432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3B09-1990-4575-BDC0-05DE1BB359E5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ACB01-AB53-4FCE-BD57-93C735C409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447800"/>
            <a:ext cx="451485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914400"/>
            <a:ext cx="2460731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777067"/>
            <a:ext cx="4516041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3B09-1990-4575-BDC0-05DE1BB359E5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ACB01-AB53-4FCE-BD57-93C735C409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533400"/>
            <a:ext cx="8114109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3843867"/>
            <a:ext cx="6228158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3B09-1990-4575-BDC0-05DE1BB359E5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ACB01-AB53-4FCE-BD57-93C735C409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685800"/>
            <a:ext cx="75438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4114800"/>
            <a:ext cx="6401991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3B09-1990-4575-BDC0-05DE1BB359E5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ACB01-AB53-4FCE-BD57-93C735C409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85800"/>
            <a:ext cx="6858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3429000"/>
            <a:ext cx="64008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4301068"/>
            <a:ext cx="64008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3B09-1990-4575-BDC0-05DE1BB359E5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ACB01-AB53-4FCE-BD57-93C735C409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98859" y="81222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768601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3429000"/>
            <a:ext cx="64008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5132981"/>
            <a:ext cx="6401993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3B09-1990-4575-BDC0-05DE1BB359E5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ACB01-AB53-4FCE-BD57-93C735C409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685800"/>
            <a:ext cx="6858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3928534"/>
            <a:ext cx="64008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4978400"/>
            <a:ext cx="64008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3B09-1990-4575-BDC0-05DE1BB359E5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ACB01-AB53-4FCE-BD57-93C735C409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98859" y="81222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768601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685800"/>
            <a:ext cx="75438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3928534"/>
            <a:ext cx="64008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4766733"/>
            <a:ext cx="64008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3B09-1990-4575-BDC0-05DE1BB359E5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ACB01-AB53-4FCE-BD57-93C735C409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3B09-1990-4575-BDC0-05DE1BB359E5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ACB01-AB53-4FCE-BD57-93C735C409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685800"/>
            <a:ext cx="154305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685800"/>
            <a:ext cx="5867400" cy="5308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E3B09-1990-4575-BDC0-05DE1BB359E5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ACB01-AB53-4FCE-BD57-93C735C4095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963334"/>
            <a:ext cx="2236394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4487333"/>
            <a:ext cx="64008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685801"/>
            <a:ext cx="64008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6172201"/>
            <a:ext cx="120015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D8E3B09-1990-4575-BDC0-05DE1BB359E5}" type="datetimeFigureOut">
              <a:rPr lang="en-US" smtClean="0"/>
              <a:pPr/>
              <a:t>17-Sep-17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6172201"/>
            <a:ext cx="565785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5578476"/>
            <a:ext cx="856684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B4ACB01-AB53-4FCE-BD57-93C735C4095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blr_static_3ewfz6a5j82ss0wog8888w4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5400" y="1752600"/>
            <a:ext cx="6712095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 smtClean="0">
                <a:solidFill>
                  <a:srgbClr val="FFC000"/>
                </a:solidFill>
                <a:latin typeface="Algerian" pitchFamily="82" charset="0"/>
              </a:rPr>
              <a:t>Welcome </a:t>
            </a:r>
          </a:p>
          <a:p>
            <a:pPr algn="ctr"/>
            <a:r>
              <a:rPr lang="en-US" sz="7200" dirty="0" smtClean="0">
                <a:solidFill>
                  <a:srgbClr val="FFC000"/>
                </a:solidFill>
                <a:latin typeface="Algerian" pitchFamily="82" charset="0"/>
              </a:rPr>
              <a:t>To </a:t>
            </a:r>
          </a:p>
          <a:p>
            <a:pPr algn="ctr"/>
            <a:r>
              <a:rPr lang="en-US" sz="72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lgerian" pitchFamily="82" charset="0"/>
              </a:rPr>
              <a:t>presentation</a:t>
            </a:r>
            <a:endParaRPr lang="en-US" sz="7200" dirty="0" smtClean="0"/>
          </a:p>
          <a:p>
            <a:endParaRPr lang="en-US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blr_static_3ewfz6a5j82ss0wog8888w4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ind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762000"/>
            <a:ext cx="1143000" cy="133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78405" y="2286000"/>
            <a:ext cx="5367175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dirty="0" smtClean="0">
                <a:solidFill>
                  <a:srgbClr val="FFC000"/>
                </a:solidFill>
                <a:latin typeface="Algerian" pitchFamily="82" charset="0"/>
              </a:rPr>
              <a:t>Presented By….</a:t>
            </a:r>
          </a:p>
          <a:p>
            <a:pPr algn="ctr"/>
            <a:r>
              <a:rPr lang="en-US" sz="4000" dirty="0" smtClean="0">
                <a:solidFill>
                  <a:srgbClr val="FFC000"/>
                </a:solidFill>
                <a:latin typeface="Algerian" pitchFamily="82" charset="0"/>
              </a:rPr>
              <a:t>Youth challengers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115962"/>
              </p:ext>
            </p:extLst>
          </p:nvPr>
        </p:nvGraphicFramePr>
        <p:xfrm>
          <a:off x="1600200" y="4038600"/>
          <a:ext cx="59436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2895600"/>
              </a:tblGrid>
              <a:tr h="294640"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/>
                        <a:t>Name</a:t>
                      </a:r>
                      <a:endParaRPr lang="en-US" i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/>
                        <a:t>Roll</a:t>
                      </a:r>
                      <a:endParaRPr lang="en-US" i="1" dirty="0"/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err="1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Kawsher</a:t>
                      </a:r>
                      <a:r>
                        <a:rPr lang="en-US" sz="1800" i="1" dirty="0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 </a:t>
                      </a:r>
                      <a:r>
                        <a:rPr lang="en-US" sz="1800" i="1" dirty="0" err="1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mahbub</a:t>
                      </a:r>
                      <a:endParaRPr lang="en-US" sz="1800" i="1" dirty="0">
                        <a:solidFill>
                          <a:schemeClr val="tx1"/>
                        </a:solidFill>
                        <a:latin typeface="Algerian" pitchFamily="82" charset="0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282</a:t>
                      </a:r>
                      <a:endParaRPr lang="en-US" i="1" dirty="0">
                        <a:solidFill>
                          <a:schemeClr val="tx1"/>
                        </a:solidFill>
                        <a:latin typeface="Algerian" pitchFamily="82" charset="0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err="1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Sajjad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 </a:t>
                      </a:r>
                      <a:r>
                        <a:rPr lang="en-US" i="1" dirty="0" err="1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hossain</a:t>
                      </a:r>
                      <a:endParaRPr lang="en-US" i="1" dirty="0" smtClean="0">
                        <a:solidFill>
                          <a:schemeClr val="tx1"/>
                        </a:solidFill>
                        <a:latin typeface="Algerian" pitchFamily="82" charset="0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294</a:t>
                      </a:r>
                      <a:endParaRPr lang="en-US" i="1" dirty="0">
                        <a:solidFill>
                          <a:schemeClr val="tx1"/>
                        </a:solidFill>
                        <a:latin typeface="Algerian" pitchFamily="82" charset="0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Al </a:t>
                      </a:r>
                      <a:r>
                        <a:rPr lang="en-US" i="1" dirty="0" err="1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amin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 </a:t>
                      </a:r>
                      <a:r>
                        <a:rPr lang="en-US" i="1" dirty="0" err="1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Hossain</a:t>
                      </a:r>
                      <a:endParaRPr lang="en-US" i="1" dirty="0" smtClean="0">
                        <a:solidFill>
                          <a:schemeClr val="tx1"/>
                        </a:solidFill>
                        <a:latin typeface="Algerian" pitchFamily="82" charset="0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315</a:t>
                      </a:r>
                      <a:endParaRPr lang="en-US" i="1" dirty="0">
                        <a:solidFill>
                          <a:schemeClr val="tx1"/>
                        </a:solidFill>
                        <a:latin typeface="Algerian" pitchFamily="82" charset="0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i="1" dirty="0" err="1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Arindom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 </a:t>
                      </a:r>
                      <a:r>
                        <a:rPr lang="en-US" i="1" dirty="0" err="1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kisor</a:t>
                      </a:r>
                      <a:r>
                        <a:rPr lang="en-US" i="1" dirty="0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 </a:t>
                      </a:r>
                      <a:r>
                        <a:rPr lang="en-US" i="1" dirty="0" err="1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biswas</a:t>
                      </a:r>
                      <a:endParaRPr lang="en-US" i="1" dirty="0">
                        <a:solidFill>
                          <a:schemeClr val="tx1"/>
                        </a:solidFill>
                        <a:latin typeface="Algerian" pitchFamily="82" charset="0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 smtClean="0">
                          <a:solidFill>
                            <a:schemeClr val="tx1"/>
                          </a:solidFill>
                          <a:latin typeface="Algerian" pitchFamily="82" charset="0"/>
                        </a:rPr>
                        <a:t>311</a:t>
                      </a:r>
                      <a:endParaRPr lang="en-US" i="1" dirty="0">
                        <a:solidFill>
                          <a:schemeClr val="tx1"/>
                        </a:solidFill>
                        <a:latin typeface="Algerian" pitchFamily="82" charset="0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blr_static_3ewfz6a5j82ss0wog8888w4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0" y="457200"/>
            <a:ext cx="6567825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8000" dirty="0" smtClean="0">
                <a:latin typeface="Algerian" pitchFamily="82" charset="0"/>
                <a:cs typeface="Aharoni" pitchFamily="2" charset="-79"/>
              </a:rPr>
              <a:t>Our subject</a:t>
            </a:r>
            <a:endParaRPr lang="en-US" sz="8000" dirty="0">
              <a:latin typeface="Algerian" pitchFamily="8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62200" y="2133600"/>
            <a:ext cx="4572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4800" dirty="0" smtClean="0">
                <a:solidFill>
                  <a:schemeClr val="bg1"/>
                </a:solidFill>
                <a:latin typeface="Algerian" pitchFamily="82" charset="0"/>
              </a:rPr>
              <a:t>Scientific advancement in the  last decade</a:t>
            </a:r>
            <a:endParaRPr lang="en-US" sz="4800" dirty="0">
              <a:solidFill>
                <a:schemeClr val="bg1"/>
              </a:solidFill>
              <a:latin typeface="Algerian" pitchFamily="82" charset="0"/>
            </a:endParaRPr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umb-2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838200"/>
            <a:ext cx="4911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 smtClean="0">
                <a:latin typeface="Algerian" pitchFamily="82" charset="0"/>
              </a:rPr>
              <a:t>What is science?...</a:t>
            </a:r>
            <a:endParaRPr lang="en-US" sz="4000" dirty="0">
              <a:latin typeface="Algerian" pitchFamily="8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90800" y="4876800"/>
            <a:ext cx="389241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i="1" dirty="0" smtClean="0">
                <a:solidFill>
                  <a:srgbClr val="FFC000"/>
                </a:solidFill>
                <a:latin typeface="Algerian" pitchFamily="82" charset="0"/>
                <a:cs typeface="Aharoni" pitchFamily="2" charset="-79"/>
              </a:rPr>
              <a:t>Science</a:t>
            </a:r>
            <a:r>
              <a:rPr lang="en-US" sz="3200" b="1" i="1" dirty="0" smtClean="0">
                <a:solidFill>
                  <a:srgbClr val="FFC000"/>
                </a:solidFill>
                <a:latin typeface="Algerian" pitchFamily="82" charset="0"/>
                <a:cs typeface="Aharoni" pitchFamily="2" charset="-79"/>
              </a:rPr>
              <a:t> is new</a:t>
            </a:r>
          </a:p>
          <a:p>
            <a:pPr algn="ctr"/>
            <a:r>
              <a:rPr lang="en-US" sz="3200" b="1" i="1" dirty="0" smtClean="0">
                <a:solidFill>
                  <a:srgbClr val="FFC000"/>
                </a:solidFill>
                <a:latin typeface="Algerian" pitchFamily="82" charset="0"/>
                <a:cs typeface="Aharoni" pitchFamily="2" charset="-79"/>
              </a:rPr>
              <a:t> inventing things.</a:t>
            </a:r>
            <a:endParaRPr lang="en-US" sz="3200" b="1" i="1" dirty="0">
              <a:solidFill>
                <a:srgbClr val="FFC000"/>
              </a:solidFill>
              <a:latin typeface="Algerian" pitchFamily="82" charset="0"/>
              <a:cs typeface="Aharoni" pitchFamily="2" charset="-79"/>
            </a:endParaRPr>
          </a:p>
        </p:txBody>
      </p:sp>
      <p:pic>
        <p:nvPicPr>
          <p:cNvPr id="5" name="Picture 4" descr="1 (2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19400"/>
            <a:ext cx="3124200" cy="2057400"/>
          </a:xfrm>
          <a:prstGeom prst="rect">
            <a:avLst/>
          </a:prstGeom>
        </p:spPr>
      </p:pic>
      <p:pic>
        <p:nvPicPr>
          <p:cNvPr id="6" name="Picture 5" descr="daeVXY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96000" y="2667000"/>
            <a:ext cx="3048000" cy="2286000"/>
          </a:xfrm>
          <a:prstGeom prst="rect">
            <a:avLst/>
          </a:prstGeom>
        </p:spPr>
      </p:pic>
    </p:spTree>
  </p:cSld>
  <p:clrMapOvr>
    <a:masterClrMapping/>
  </p:clrMapOvr>
  <p:transition>
    <p:plus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blr_static_3ewfz6a5j82ss0wog8888w4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1295400"/>
            <a:ext cx="80233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 smtClean="0">
                <a:solidFill>
                  <a:srgbClr val="FFC000"/>
                </a:solidFill>
                <a:latin typeface="Algerian" pitchFamily="82" charset="0"/>
              </a:rPr>
              <a:t>So let’s go to see some thing about…</a:t>
            </a:r>
            <a:endParaRPr lang="en-US" sz="3200" dirty="0">
              <a:solidFill>
                <a:srgbClr val="FFC000"/>
              </a:solidFill>
              <a:latin typeface="Algerian" pitchFamily="8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33600" y="2362200"/>
            <a:ext cx="4572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4000" dirty="0" smtClean="0">
                <a:latin typeface="Algerian" pitchFamily="82" charset="0"/>
              </a:rPr>
              <a:t>Scientific</a:t>
            </a:r>
          </a:p>
          <a:p>
            <a:pPr algn="ctr"/>
            <a:r>
              <a:rPr lang="en-US" sz="4000" dirty="0" smtClean="0">
                <a:latin typeface="Algerian" pitchFamily="82" charset="0"/>
              </a:rPr>
              <a:t> advancement by </a:t>
            </a:r>
          </a:p>
          <a:p>
            <a:pPr algn="ctr"/>
            <a:r>
              <a:rPr lang="en-US" sz="4000" dirty="0" smtClean="0">
                <a:latin typeface="Algerian" pitchFamily="82" charset="0"/>
              </a:rPr>
              <a:t>invention</a:t>
            </a:r>
            <a:endParaRPr lang="en-US" sz="4000" dirty="0">
              <a:latin typeface="Algerian" pitchFamily="82" charset="0"/>
            </a:endParaRPr>
          </a:p>
        </p:txBody>
      </p:sp>
    </p:spTree>
  </p:cSld>
  <p:clrMapOvr>
    <a:masterClrMapping/>
  </p:clrMapOvr>
  <p:transition>
    <p:wheel spokes="3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blr_static_3ewfz6a5j82ss0wog8888w4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1066800"/>
            <a:ext cx="822052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dirty="0" smtClean="0">
                <a:latin typeface="Algerian" pitchFamily="82" charset="0"/>
              </a:rPr>
              <a:t>At first we should  to know…..</a:t>
            </a:r>
            <a:endParaRPr lang="en-US" sz="4000" dirty="0">
              <a:latin typeface="Algerian" pitchFamily="8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2362200"/>
            <a:ext cx="7239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b="1" dirty="0" smtClean="0">
                <a:solidFill>
                  <a:schemeClr val="bg1"/>
                </a:solidFill>
                <a:latin typeface="Footlight MT Light" pitchFamily="18" charset="0"/>
              </a:rPr>
              <a:t>what type of</a:t>
            </a:r>
          </a:p>
          <a:p>
            <a:pPr algn="ctr"/>
            <a:r>
              <a:rPr lang="en-US" sz="5400" b="1" dirty="0" smtClean="0">
                <a:solidFill>
                  <a:schemeClr val="bg1"/>
                </a:solidFill>
                <a:latin typeface="Footlight MT Light" pitchFamily="18" charset="0"/>
              </a:rPr>
              <a:t> invention was </a:t>
            </a:r>
          </a:p>
          <a:p>
            <a:pPr algn="ctr"/>
            <a:r>
              <a:rPr lang="en-US" sz="5400" b="1" dirty="0" smtClean="0">
                <a:solidFill>
                  <a:schemeClr val="bg1"/>
                </a:solidFill>
                <a:latin typeface="Footlight MT Light" pitchFamily="18" charset="0"/>
              </a:rPr>
              <a:t>changed the world?..</a:t>
            </a:r>
            <a:endParaRPr lang="en-US" sz="5400" b="1" dirty="0">
              <a:solidFill>
                <a:schemeClr val="bg1"/>
              </a:solidFill>
              <a:latin typeface="Footlight MT Light" pitchFamily="18" charset="0"/>
            </a:endParaRPr>
          </a:p>
        </p:txBody>
      </p:sp>
    </p:spTree>
  </p:cSld>
  <p:clrMapOvr>
    <a:masterClrMapping/>
  </p:clrMapOvr>
  <p:transition>
    <p:circl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blr_static_3ewfz6a5j82ss0wog8888w4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7200" i="1" dirty="0" smtClean="0">
                <a:solidFill>
                  <a:srgbClr val="FF0000"/>
                </a:solidFill>
                <a:latin typeface="Algerian" pitchFamily="82" charset="0"/>
              </a:rPr>
              <a:t>We know that…..</a:t>
            </a:r>
            <a:endParaRPr lang="en-US" sz="7200" i="1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81200" y="1143000"/>
            <a:ext cx="53340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3200" dirty="0" smtClean="0">
                <a:solidFill>
                  <a:srgbClr val="FFC000"/>
                </a:solidFill>
                <a:latin typeface="Algerian" pitchFamily="82" charset="0"/>
              </a:rPr>
              <a:t>Computer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>
                <a:solidFill>
                  <a:srgbClr val="FFC000"/>
                </a:solidFill>
                <a:latin typeface="Algerian" pitchFamily="82" charset="0"/>
              </a:rPr>
              <a:t>Mobile Phone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>
                <a:solidFill>
                  <a:srgbClr val="FFC000"/>
                </a:solidFill>
                <a:latin typeface="Algerian" pitchFamily="82" charset="0"/>
              </a:rPr>
              <a:t>Radio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>
                <a:solidFill>
                  <a:srgbClr val="FFC000"/>
                </a:solidFill>
                <a:latin typeface="Algerian" pitchFamily="82" charset="0"/>
              </a:rPr>
              <a:t>Television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>
                <a:solidFill>
                  <a:srgbClr val="FFC000"/>
                </a:solidFill>
                <a:latin typeface="Algerian" pitchFamily="82" charset="0"/>
              </a:rPr>
              <a:t>Electric light bulb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>
                <a:solidFill>
                  <a:srgbClr val="FFC000"/>
                </a:solidFill>
                <a:latin typeface="Algerian" pitchFamily="82" charset="0"/>
              </a:rPr>
              <a:t>Rocketry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>
                <a:solidFill>
                  <a:srgbClr val="FFC000"/>
                </a:solidFill>
                <a:latin typeface="Algerian" pitchFamily="82" charset="0"/>
              </a:rPr>
              <a:t>The  Automobile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>
                <a:solidFill>
                  <a:srgbClr val="FFC000"/>
                </a:solidFill>
                <a:latin typeface="Algerian" pitchFamily="82" charset="0"/>
              </a:rPr>
              <a:t>Airplane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>
                <a:solidFill>
                  <a:srgbClr val="FFC000"/>
                </a:solidFill>
                <a:latin typeface="Algerian" pitchFamily="82" charset="0"/>
              </a:rPr>
              <a:t>Nuclear Power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>
                <a:solidFill>
                  <a:srgbClr val="FFC000"/>
                </a:solidFill>
                <a:latin typeface="Algerian" pitchFamily="82" charset="0"/>
              </a:rPr>
              <a:t>Calculator </a:t>
            </a:r>
          </a:p>
          <a:p>
            <a:pPr>
              <a:buFont typeface="Wingdings" pitchFamily="2" charset="2"/>
              <a:buChar char="v"/>
            </a:pPr>
            <a:r>
              <a:rPr lang="en-US" sz="3200" dirty="0" smtClean="0">
                <a:solidFill>
                  <a:srgbClr val="FFC000"/>
                </a:solidFill>
                <a:latin typeface="Algerian" pitchFamily="82" charset="0"/>
              </a:rPr>
              <a:t>refrigerator</a:t>
            </a:r>
            <a:endParaRPr lang="en-US" sz="3200" dirty="0">
              <a:solidFill>
                <a:srgbClr val="FFC000"/>
              </a:solidFill>
              <a:latin typeface="Algerian" pitchFamily="82" charset="0"/>
            </a:endParaRPr>
          </a:p>
        </p:txBody>
      </p:sp>
    </p:spTree>
  </p:cSld>
  <p:clrMapOvr>
    <a:masterClrMapping/>
  </p:clrMapOvr>
  <p:transition>
    <p:wheel spokes="8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blr_static_3ewfz6a5j82ss0wog8888w4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2096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05000" y="152400"/>
            <a:ext cx="5105400" cy="287198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667000" y="914400"/>
            <a:ext cx="22252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 smtClean="0">
                <a:solidFill>
                  <a:srgbClr val="FF0000"/>
                </a:solidFill>
                <a:latin typeface="Algerian" pitchFamily="82" charset="0"/>
              </a:rPr>
              <a:t>computer</a:t>
            </a:r>
            <a:endParaRPr lang="en-US" sz="3200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90800" y="3124200"/>
            <a:ext cx="36086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Font typeface="Arial" pitchFamily="34" charset="0"/>
              <a:buChar char="•"/>
            </a:pPr>
            <a:r>
              <a:rPr lang="en-US" sz="2000" b="1" dirty="0" smtClean="0">
                <a:solidFill>
                  <a:schemeClr val="bg1"/>
                </a:solidFill>
              </a:rPr>
              <a:t>The first personal computer</a:t>
            </a:r>
          </a:p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 named the programmer</a:t>
            </a:r>
          </a:p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101 was launched in 1964.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0200" y="4267200"/>
            <a:ext cx="58609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Font typeface="Arial" pitchFamily="34" charset="0"/>
              <a:buChar char="•"/>
            </a:pPr>
            <a:r>
              <a:rPr lang="en-US" sz="2000" b="1" dirty="0" smtClean="0">
                <a:solidFill>
                  <a:schemeClr val="bg1"/>
                </a:solidFill>
              </a:rPr>
              <a:t>The SCAMP IBM computer was the beginning </a:t>
            </a:r>
          </a:p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of the modern personal computer.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" y="5105400"/>
            <a:ext cx="54505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Font typeface="Arial" pitchFamily="34" charset="0"/>
              <a:buChar char="•"/>
            </a:pPr>
            <a:r>
              <a:rPr lang="en-US" sz="2000" b="1" dirty="0" smtClean="0">
                <a:solidFill>
                  <a:schemeClr val="bg1"/>
                </a:solidFill>
              </a:rPr>
              <a:t>Today,  everyone owns  a device that has</a:t>
            </a:r>
          </a:p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 its roots in the personal computer.</a:t>
            </a:r>
          </a:p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From tablets to cell phones.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blr_static_3ewfz6a5j82ss0wog8888w4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cell-phone-history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810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0" y="685800"/>
            <a:ext cx="436690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smtClean="0">
                <a:solidFill>
                  <a:schemeClr val="bg2">
                    <a:lumMod val="50000"/>
                  </a:schemeClr>
                </a:solidFill>
                <a:latin typeface="Algerian" pitchFamily="82" charset="0"/>
              </a:rPr>
              <a:t>Mobile phone</a:t>
            </a:r>
            <a:endParaRPr lang="en-US" sz="4800" dirty="0">
              <a:solidFill>
                <a:schemeClr val="bg2">
                  <a:lumMod val="50000"/>
                </a:schemeClr>
              </a:solidFill>
              <a:latin typeface="Algerian" pitchFamily="8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4038600"/>
            <a:ext cx="59650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C000"/>
                </a:solidFill>
              </a:rPr>
              <a:t>Martin cooper is an American pioneer and </a:t>
            </a:r>
          </a:p>
          <a:p>
            <a:r>
              <a:rPr lang="en-US" sz="2000" b="1" dirty="0" smtClean="0">
                <a:solidFill>
                  <a:srgbClr val="FFC000"/>
                </a:solidFill>
              </a:rPr>
              <a:t> he conceived the first handler mobile in 1970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04800" y="4953000"/>
            <a:ext cx="55210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C000"/>
                </a:solidFill>
              </a:rPr>
              <a:t>Nothing more than a Mobile Phone comes</a:t>
            </a:r>
          </a:p>
          <a:p>
            <a:r>
              <a:rPr lang="en-US" sz="2000" b="1" dirty="0" smtClean="0">
                <a:solidFill>
                  <a:srgbClr val="FFC000"/>
                </a:solidFill>
              </a:rPr>
              <a:t> to great help in emergency.</a:t>
            </a:r>
            <a:endParaRPr lang="en-US" sz="2000" b="1" dirty="0">
              <a:solidFill>
                <a:srgbClr val="FFC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4800" y="5867400"/>
            <a:ext cx="84529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C000"/>
                </a:solidFill>
              </a:rPr>
              <a:t>Companies find it yet another medium to advertise their products; </a:t>
            </a:r>
          </a:p>
          <a:p>
            <a:r>
              <a:rPr lang="en-US" sz="2000" b="1" dirty="0" smtClean="0">
                <a:solidFill>
                  <a:srgbClr val="FFC000"/>
                </a:solidFill>
              </a:rPr>
              <a:t> so another medium to reach the consumers.</a:t>
            </a:r>
            <a:endParaRPr lang="en-US" sz="20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>
    <p:split orient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etro-radio-wood-table-blue-wallpaper-243394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62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71800" y="0"/>
            <a:ext cx="243688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000" dirty="0" smtClean="0">
                <a:solidFill>
                  <a:srgbClr val="FF0000"/>
                </a:solidFill>
                <a:latin typeface="Algerian" pitchFamily="82" charset="0"/>
              </a:rPr>
              <a:t>Radio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95800" y="1905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2209800"/>
            <a:ext cx="44149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C000"/>
                </a:solidFill>
              </a:rPr>
              <a:t>Early developments in radio were</a:t>
            </a:r>
          </a:p>
          <a:p>
            <a:r>
              <a:rPr lang="en-US" sz="2000" b="1" dirty="0" smtClean="0">
                <a:solidFill>
                  <a:srgbClr val="FFC000"/>
                </a:solidFill>
              </a:rPr>
              <a:t>called ‘wireless telegraphy’,</a:t>
            </a:r>
          </a:p>
          <a:p>
            <a:r>
              <a:rPr lang="en-US" sz="2000" b="1" dirty="0" smtClean="0">
                <a:solidFill>
                  <a:srgbClr val="FFC000"/>
                </a:solidFill>
              </a:rPr>
              <a:t>which is why the radio</a:t>
            </a:r>
          </a:p>
          <a:p>
            <a:r>
              <a:rPr lang="en-US" sz="2000" b="1" dirty="0" smtClean="0">
                <a:solidFill>
                  <a:srgbClr val="FFC000"/>
                </a:solidFill>
              </a:rPr>
              <a:t>used to be called the wireless.</a:t>
            </a:r>
            <a:endParaRPr lang="en-US" sz="2000" b="1" dirty="0">
              <a:solidFill>
                <a:srgbClr val="FFC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0" y="990600"/>
            <a:ext cx="44614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rgbClr val="FFC000"/>
                </a:solidFill>
              </a:rPr>
              <a:t>Marconi made the first successful</a:t>
            </a:r>
          </a:p>
          <a:p>
            <a:r>
              <a:rPr lang="en-US" sz="2000" b="1" dirty="0" smtClean="0">
                <a:solidFill>
                  <a:srgbClr val="FFC000"/>
                </a:solidFill>
              </a:rPr>
              <a:t>transatlantic transmissions of</a:t>
            </a:r>
          </a:p>
          <a:p>
            <a:r>
              <a:rPr lang="en-US" sz="2000" b="1" dirty="0" smtClean="0">
                <a:solidFill>
                  <a:srgbClr val="FFC000"/>
                </a:solidFill>
              </a:rPr>
              <a:t>radio waves in 1901 and 1902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0" y="3733800"/>
            <a:ext cx="48429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.</a:t>
            </a:r>
            <a:r>
              <a:rPr lang="en-US" sz="2000" b="1" dirty="0" smtClean="0">
                <a:solidFill>
                  <a:srgbClr val="FFC000"/>
                </a:solidFill>
              </a:rPr>
              <a:t>Radios are being combined with</a:t>
            </a:r>
          </a:p>
          <a:p>
            <a:r>
              <a:rPr lang="en-US" sz="2000" b="1" dirty="0" smtClean="0">
                <a:solidFill>
                  <a:srgbClr val="FFC000"/>
                </a:solidFill>
              </a:rPr>
              <a:t>computers to connect the computer</a:t>
            </a:r>
          </a:p>
          <a:p>
            <a:r>
              <a:rPr lang="en-US" sz="2000" b="1" dirty="0" smtClean="0">
                <a:solidFill>
                  <a:srgbClr val="FFC000"/>
                </a:solidFill>
              </a:rPr>
              <a:t> to the Internet via satellites.</a:t>
            </a:r>
            <a:endParaRPr lang="en-US" sz="20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blr_static_3ewfz6a5j82ss0wog8888w4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sajj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19600" cy="325331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1219200"/>
            <a:ext cx="432362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000" dirty="0" smtClean="0">
                <a:latin typeface="Algerian" pitchFamily="82" charset="0"/>
              </a:rPr>
              <a:t>television</a:t>
            </a:r>
            <a:endParaRPr lang="en-US" sz="6000" dirty="0">
              <a:latin typeface="Algerian" pitchFamily="8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3733800"/>
            <a:ext cx="74975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chemeClr val="bg1"/>
                </a:solidFill>
              </a:rPr>
              <a:t>John  </a:t>
            </a:r>
            <a:r>
              <a:rPr lang="en-US" sz="2000" b="1" dirty="0" err="1" smtClean="0">
                <a:solidFill>
                  <a:schemeClr val="bg1"/>
                </a:solidFill>
              </a:rPr>
              <a:t>logie</a:t>
            </a:r>
            <a:r>
              <a:rPr lang="en-US" sz="2000" b="1" dirty="0" smtClean="0">
                <a:solidFill>
                  <a:schemeClr val="bg1"/>
                </a:solidFill>
              </a:rPr>
              <a:t> was the first person in the world to demonstrate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 a working television system in january 1926.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4648200"/>
            <a:ext cx="49872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chemeClr val="bg1"/>
                </a:solidFill>
              </a:rPr>
              <a:t>It is society’s baby-sitter, news source,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 teacher, entertainer, and story-teller.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5638800"/>
            <a:ext cx="56765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000" b="1" dirty="0" smtClean="0">
                <a:solidFill>
                  <a:schemeClr val="bg1"/>
                </a:solidFill>
              </a:rPr>
              <a:t> it fills our days with vapidity and all manner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 of inane and obnoxious commercials.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ulb_backgrounds_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95600" y="609600"/>
            <a:ext cx="59266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solidFill>
                  <a:srgbClr val="FF0000"/>
                </a:solidFill>
                <a:latin typeface="Algerian" pitchFamily="82" charset="0"/>
              </a:rPr>
              <a:t>Electric light bulb</a:t>
            </a:r>
            <a:endParaRPr lang="en-US" sz="4400" dirty="0">
              <a:solidFill>
                <a:srgbClr val="FF0000"/>
              </a:solidFill>
              <a:latin typeface="Algerian" pitchFamily="8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12568" y="1600200"/>
            <a:ext cx="593143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800" dirty="0" smtClean="0">
                <a:latin typeface="Algerian" pitchFamily="82" charset="0"/>
              </a:rPr>
              <a:t>Thomas Edison first invented</a:t>
            </a:r>
          </a:p>
          <a:p>
            <a:r>
              <a:rPr lang="en-US" sz="2800" dirty="0" smtClean="0">
                <a:latin typeface="Algerian" pitchFamily="82" charset="0"/>
              </a:rPr>
              <a:t> electric light bulb.</a:t>
            </a:r>
            <a:endParaRPr lang="en-US" sz="2800" dirty="0">
              <a:latin typeface="Algerian" pitchFamily="8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76600" y="2743200"/>
            <a:ext cx="42851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Algerian" pitchFamily="82" charset="0"/>
              </a:rPr>
              <a:t>One of the invention </a:t>
            </a:r>
          </a:p>
          <a:p>
            <a:r>
              <a:rPr lang="en-US" sz="2400" dirty="0" smtClean="0">
                <a:latin typeface="Algerian" pitchFamily="82" charset="0"/>
              </a:rPr>
              <a:t>that brightness millions </a:t>
            </a:r>
          </a:p>
          <a:p>
            <a:r>
              <a:rPr lang="en-US" sz="2400" dirty="0" smtClean="0">
                <a:latin typeface="Algerian" pitchFamily="82" charset="0"/>
              </a:rPr>
              <a:t>of houses and buildings.</a:t>
            </a:r>
            <a:endParaRPr lang="en-US" sz="2400" dirty="0">
              <a:latin typeface="Algerian" pitchFamily="8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95600" y="4180344"/>
            <a:ext cx="6248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 smtClean="0">
                <a:latin typeface="Algerian" pitchFamily="82" charset="0"/>
              </a:rPr>
              <a:t>The bulb itself works by  transmitting </a:t>
            </a:r>
          </a:p>
          <a:p>
            <a:r>
              <a:rPr lang="en-US" sz="2400" dirty="0" smtClean="0">
                <a:latin typeface="Algerian" pitchFamily="82" charset="0"/>
              </a:rPr>
              <a:t>electricity through a wire with high resistance Known as a filament .The    waste energy created by the resistance is expelled as heat and light</a:t>
            </a:r>
            <a:endParaRPr lang="en-US" sz="2400" dirty="0">
              <a:latin typeface="Algerian" pitchFamily="82" charset="0"/>
            </a:endParaRPr>
          </a:p>
        </p:txBody>
      </p:sp>
    </p:spTree>
  </p:cSld>
  <p:clrMapOvr>
    <a:masterClrMapping/>
  </p:clrMapOvr>
  <p:transition>
    <p:strips dir="l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161016_0103_zing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21173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5400" y="838200"/>
            <a:ext cx="441018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Algerian" pitchFamily="82" charset="0"/>
              </a:rPr>
              <a:t>rocketry</a:t>
            </a:r>
            <a:endParaRPr lang="en-US" sz="6600" dirty="0">
              <a:solidFill>
                <a:schemeClr val="bg1">
                  <a:lumMod val="95000"/>
                  <a:lumOff val="5000"/>
                </a:schemeClr>
              </a:solidFill>
              <a:latin typeface="Algerian" pitchFamily="8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0600" y="2438400"/>
            <a:ext cx="487505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400" b="1" dirty="0" smtClean="0">
                <a:solidFill>
                  <a:schemeClr val="bg1"/>
                </a:solidFill>
              </a:rPr>
              <a:t>The first modern rocket was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created in 1926 by Robert 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Godard.</a:t>
            </a:r>
          </a:p>
          <a:p>
            <a:endParaRPr lang="en-US" sz="2400" b="1" dirty="0" smtClean="0">
              <a:solidFill>
                <a:schemeClr val="bg1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400" b="1" dirty="0" smtClean="0">
                <a:solidFill>
                  <a:schemeClr val="bg1"/>
                </a:solidFill>
              </a:rPr>
              <a:t>The Germany Army used a V-2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  rocket during world war-2. At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The time the most advanced 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rocket ever made.</a:t>
            </a:r>
          </a:p>
          <a:p>
            <a:endParaRPr lang="en-US" sz="2400" b="1" dirty="0" smtClean="0">
              <a:solidFill>
                <a:schemeClr val="bg1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sz="2400" b="1" dirty="0" smtClean="0">
                <a:solidFill>
                  <a:schemeClr val="bg1"/>
                </a:solidFill>
              </a:rPr>
              <a:t>Today are the basis for space 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  exploration.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blr_static_3ewfz6a5j82ss0wog8888w4k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dc56d8c248e41e8e5122c83395f2d3e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304800"/>
            <a:ext cx="2514600" cy="2514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86200" y="990600"/>
            <a:ext cx="44871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latin typeface="Algerian" pitchFamily="82" charset="0"/>
              </a:rPr>
              <a:t>calculator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37770" y="3200400"/>
            <a:ext cx="8706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3200" dirty="0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1960’</a:t>
            </a:r>
            <a:r>
              <a:rPr lang="en-US" sz="2800" dirty="0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s  is the first start of the electronic calculator </a:t>
            </a:r>
            <a:endParaRPr lang="en-US" sz="2800" dirty="0">
              <a:solidFill>
                <a:schemeClr val="bg1"/>
              </a:solidFill>
              <a:latin typeface="Aharoni" pitchFamily="2" charset="-79"/>
              <a:cs typeface="Aharoni" pitchFamily="2" charset="-79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1259" y="3962400"/>
            <a:ext cx="73773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800" dirty="0" smtClean="0">
                <a:solidFill>
                  <a:schemeClr val="bg1"/>
                </a:solidFill>
                <a:latin typeface="Aharoni" pitchFamily="2" charset="-79"/>
                <a:cs typeface="Aharoni" pitchFamily="2" charset="-79"/>
              </a:rPr>
              <a:t>They make it easier to do math problems.</a:t>
            </a:r>
            <a:endParaRPr lang="en-US" sz="2800" dirty="0">
              <a:solidFill>
                <a:schemeClr val="bg1"/>
              </a:solidFill>
              <a:latin typeface="Aharoni" pitchFamily="2" charset="-79"/>
              <a:cs typeface="Aharoni" pitchFamily="2" charset="-79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mblr_static_3ewfz6a5j82ss0wog8888w4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20151113163848_3218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600"/>
            <a:ext cx="3783931" cy="449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47800" y="0"/>
            <a:ext cx="52261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latin typeface="Algerian" pitchFamily="82" charset="0"/>
              </a:rPr>
              <a:t>refrigerator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62400" y="1447800"/>
            <a:ext cx="518443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C000"/>
                </a:solidFill>
              </a:rPr>
              <a:t>Developed for home use in 1913.</a:t>
            </a:r>
          </a:p>
          <a:p>
            <a:pPr>
              <a:buFont typeface="Arial" pitchFamily="34" charset="0"/>
              <a:buChar char="•"/>
            </a:pPr>
            <a:endParaRPr lang="en-US" sz="2400" b="1" dirty="0" smtClean="0">
              <a:solidFill>
                <a:srgbClr val="FFC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C000"/>
                </a:solidFill>
              </a:rPr>
              <a:t>The very first ones had to be put </a:t>
            </a:r>
          </a:p>
          <a:p>
            <a:r>
              <a:rPr lang="en-US" sz="2400" b="1" dirty="0" smtClean="0">
                <a:solidFill>
                  <a:srgbClr val="FFC000"/>
                </a:solidFill>
              </a:rPr>
              <a:t>  together by the customer.</a:t>
            </a:r>
          </a:p>
          <a:p>
            <a:pPr>
              <a:buFont typeface="Arial" pitchFamily="34" charset="0"/>
              <a:buChar char="•"/>
            </a:pPr>
            <a:endParaRPr lang="en-US" sz="2400" b="1" dirty="0" smtClean="0">
              <a:solidFill>
                <a:srgbClr val="FFC0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2400" b="1" dirty="0" smtClean="0">
                <a:solidFill>
                  <a:srgbClr val="FFC000"/>
                </a:solidFill>
              </a:rPr>
              <a:t>Refrigerator  today are in almost</a:t>
            </a:r>
          </a:p>
          <a:p>
            <a:r>
              <a:rPr lang="en-US" sz="2400" b="1" dirty="0" smtClean="0">
                <a:solidFill>
                  <a:srgbClr val="FFC000"/>
                </a:solidFill>
              </a:rPr>
              <a:t>  every household in the United </a:t>
            </a:r>
          </a:p>
          <a:p>
            <a:r>
              <a:rPr lang="en-US" sz="2400" b="1" dirty="0" smtClean="0">
                <a:solidFill>
                  <a:srgbClr val="FFC000"/>
                </a:solidFill>
              </a:rPr>
              <a:t>  States</a:t>
            </a:r>
            <a:endParaRPr lang="en-US" sz="24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pace-analysis-scientific-wallpaper-wallpap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19400" y="762000"/>
            <a:ext cx="24961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solidFill>
                  <a:srgbClr val="C00000"/>
                </a:solidFill>
                <a:latin typeface="Algerian" pitchFamily="82" charset="0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828800"/>
            <a:ext cx="7867859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 smtClean="0">
                <a:solidFill>
                  <a:srgbClr val="FFFF00"/>
                </a:solidFill>
                <a:latin typeface="Algerian" pitchFamily="82" charset="0"/>
              </a:rPr>
              <a:t>After all , we can say that science</a:t>
            </a:r>
          </a:p>
          <a:p>
            <a:pPr algn="ctr"/>
            <a:r>
              <a:rPr lang="en-US" sz="3200" dirty="0" smtClean="0">
                <a:solidFill>
                  <a:srgbClr val="FFFF00"/>
                </a:solidFill>
                <a:latin typeface="Algerian" pitchFamily="82" charset="0"/>
              </a:rPr>
              <a:t> is the most wonderful thing</a:t>
            </a:r>
          </a:p>
          <a:p>
            <a:pPr algn="ctr"/>
            <a:r>
              <a:rPr lang="en-US" sz="3200" dirty="0" smtClean="0">
                <a:solidFill>
                  <a:srgbClr val="FFFF00"/>
                </a:solidFill>
                <a:latin typeface="Algerian" pitchFamily="82" charset="0"/>
              </a:rPr>
              <a:t>Of modern era. It makes our</a:t>
            </a:r>
          </a:p>
          <a:p>
            <a:pPr algn="ctr"/>
            <a:r>
              <a:rPr lang="en-US" sz="3200" dirty="0" smtClean="0">
                <a:solidFill>
                  <a:srgbClr val="FFFF00"/>
                </a:solidFill>
                <a:latin typeface="Algerian" pitchFamily="82" charset="0"/>
              </a:rPr>
              <a:t> life easy and developed.</a:t>
            </a:r>
          </a:p>
          <a:p>
            <a:pPr algn="ctr"/>
            <a:r>
              <a:rPr lang="en-US" sz="3200" dirty="0" smtClean="0">
                <a:solidFill>
                  <a:srgbClr val="FFFF00"/>
                </a:solidFill>
                <a:latin typeface="Algerian" pitchFamily="82" charset="0"/>
              </a:rPr>
              <a:t>Without science we can’t</a:t>
            </a:r>
          </a:p>
          <a:p>
            <a:pPr algn="ctr"/>
            <a:r>
              <a:rPr lang="en-US" sz="3200" dirty="0" smtClean="0">
                <a:solidFill>
                  <a:srgbClr val="FFFF00"/>
                </a:solidFill>
                <a:latin typeface="Algerian" pitchFamily="82" charset="0"/>
              </a:rPr>
              <a:t> imagine our modern civilization.  </a:t>
            </a:r>
            <a:endParaRPr lang="en-US" sz="3200" dirty="0">
              <a:solidFill>
                <a:srgbClr val="FFFF00"/>
              </a:solidFill>
              <a:latin typeface="Algerian" pitchFamily="82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8" y="762001"/>
            <a:ext cx="7945041" cy="5232400"/>
          </a:xfrm>
          <a:scene3d>
            <a:camera prst="isometricOffAxis1Right"/>
            <a:lightRig rig="threePt" dir="t"/>
          </a:scene3d>
        </p:spPr>
        <p:txBody>
          <a:bodyPr/>
          <a:lstStyle/>
          <a:p>
            <a:r>
              <a:rPr lang="en-US" dirty="0" smtClean="0">
                <a:solidFill>
                  <a:srgbClr val="FFFF00"/>
                </a:solidFill>
              </a:rPr>
              <a:t>         </a:t>
            </a:r>
            <a:r>
              <a:rPr lang="en-US" sz="8000" dirty="0" smtClean="0">
                <a:solidFill>
                  <a:srgbClr val="FFFF00"/>
                </a:solidFill>
                <a:latin typeface="Algerian" pitchFamily="82" charset="0"/>
              </a:rPr>
              <a:t>Thank you</a:t>
            </a:r>
            <a:endParaRPr lang="en-US" sz="8000" dirty="0">
              <a:solidFill>
                <a:srgbClr val="FFFF00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76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760</TotalTime>
  <Words>484</Words>
  <Application>Microsoft Office PowerPoint</Application>
  <PresentationFormat>On-screen Show (4:3)</PresentationFormat>
  <Paragraphs>115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Sajib Paul</dc:creator>
  <cp:lastModifiedBy>Saidujjaman</cp:lastModifiedBy>
  <cp:revision>79</cp:revision>
  <dcterms:created xsi:type="dcterms:W3CDTF">2017-04-14T06:02:32Z</dcterms:created>
  <dcterms:modified xsi:type="dcterms:W3CDTF">2017-09-17T17:18:39Z</dcterms:modified>
</cp:coreProperties>
</file>